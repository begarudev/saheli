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724"/>
        </a:solidFill>
        <a:effectLst/>
      </p:bgPr>
    </p:bg>
    <p:spTree>
      <p:nvGrpSpPr>
        <p:cNvPr id="1" name=""/>
        <p:cNvGrpSpPr/>
        <p:nvPr/>
      </p:nvGrpSpPr>
      <p:grpSpPr/>
      <p:pic>
        <p:nvPicPr>
          <p:cNvPr id="2" name="Picture 1" descr="r_warli_jivya.jpg"/>
          <p:cNvPicPr>
            <a:picLocks noChangeAspect="1"/>
          </p:cNvPicPr>
          <p:nvPr/>
        </p:nvPicPr>
        <p:blipFill>
          <a:blip r:embed="rId2"/>
          <a:stretch>
            <a:fillRect/>
          </a:stretch>
        </p:blipFill>
        <p:spPr>
          <a:xfrm>
            <a:off x="6217920" y="0"/>
            <a:ext cx="5971032" cy="6858000"/>
          </a:xfrm>
          <a:prstGeom prst="rect">
            <a:avLst/>
          </a:prstGeom>
        </p:spPr>
      </p:pic>
      <p:sp>
        <p:nvSpPr>
          <p:cNvPr id="3" name="Oval 2"/>
          <p:cNvSpPr/>
          <p:nvPr/>
        </p:nvSpPr>
        <p:spPr>
          <a:xfrm>
            <a:off x="5943600" y="-1645920"/>
            <a:ext cx="7772400" cy="10058400"/>
          </a:xfrm>
          <a:prstGeom prst="ellipse">
            <a:avLst/>
          </a:prstGeom>
          <a:noFill/>
          <a:ln w="19050">
            <a:solidFill>
              <a:srgbClr val="1A0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858000" y="-457200"/>
            <a:ext cx="5943600" cy="7772400"/>
          </a:xfrm>
          <a:prstGeom prst="ellipse">
            <a:avLst/>
          </a:prstGeom>
          <a:noFill/>
          <a:ln w="12700">
            <a:solidFill>
              <a:srgbClr val="5C0F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09728" cy="6858000"/>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 y="0"/>
            <a:ext cx="54864" cy="6858000"/>
          </a:xfrm>
          <a:prstGeom prst="rect">
            <a:avLst/>
          </a:prstGeom>
          <a:solidFill>
            <a:srgbClr val="5C0F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583" y="6345936"/>
            <a:ext cx="566928" cy="566928"/>
          </a:xfrm>
          <a:prstGeom prst="ellipse">
            <a:avLst/>
          </a:prstGeom>
          <a:noFill/>
          <a:ln w="10160">
            <a:solidFill>
              <a:srgbClr val="C98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95072" y="6440424"/>
            <a:ext cx="377952" cy="377952"/>
          </a:xfrm>
          <a:prstGeom prst="ellipse">
            <a:avLst/>
          </a:prstGeom>
          <a:noFill/>
          <a:ln w="1905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89560" y="6534912"/>
            <a:ext cx="188976" cy="188976"/>
          </a:xfrm>
          <a:prstGeom prst="ellipse">
            <a:avLst/>
          </a:prstGeom>
          <a:noFill/>
          <a:ln w="1905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20040" y="6565392"/>
            <a:ext cx="128016" cy="128016"/>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835640" y="5486400"/>
            <a:ext cx="1188720" cy="1188720"/>
          </a:xfrm>
          <a:prstGeom prst="ellipse">
            <a:avLst/>
          </a:prstGeom>
          <a:noFill/>
          <a:ln w="1016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954512" y="5605272"/>
            <a:ext cx="950976" cy="950976"/>
          </a:xfrm>
          <a:prstGeom prst="ellipse">
            <a:avLst/>
          </a:prstGeom>
          <a:noFill/>
          <a:ln w="19050">
            <a:solidFill>
              <a:srgbClr val="1A0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73384" y="5724144"/>
            <a:ext cx="713232" cy="713232"/>
          </a:xfrm>
          <a:prstGeom prst="ellipse">
            <a:avLst/>
          </a:prstGeom>
          <a:noFill/>
          <a:ln w="19050">
            <a:solidFill>
              <a:srgbClr val="C98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192256" y="5843016"/>
            <a:ext cx="475488" cy="475488"/>
          </a:xfrm>
          <a:prstGeom prst="ellipse">
            <a:avLst/>
          </a:prstGeom>
          <a:noFill/>
          <a:ln w="1905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311128" y="5961888"/>
            <a:ext cx="237744" cy="237744"/>
          </a:xfrm>
          <a:prstGeom prst="ellipse">
            <a:avLst/>
          </a:prstGeom>
          <a:noFill/>
          <a:ln w="1905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365992" y="6016752"/>
            <a:ext cx="128016" cy="128016"/>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0" y="91440"/>
            <a:ext cx="3200400" cy="365760"/>
          </a:xfrm>
          <a:prstGeom prst="rect">
            <a:avLst/>
          </a:prstGeom>
          <a:noFill/>
        </p:spPr>
        <p:txBody>
          <a:bodyPr wrap="square">
            <a:spAutoFit/>
          </a:bodyPr>
          <a:lstStyle/>
          <a:p>
            <a:pPr algn="r"/>
            <a:r>
              <a:rPr sz="900" b="0" i="0">
                <a:solidFill>
                  <a:srgbClr val="C9836B"/>
                </a:solidFill>
              </a:rPr>
              <a:t>HopeWorks  ✦  AI4India</a:t>
            </a:r>
          </a:p>
        </p:txBody>
      </p:sp>
      <p:sp>
        <p:nvSpPr>
          <p:cNvPr id="18" name="Oval 17"/>
          <p:cNvSpPr/>
          <p:nvPr/>
        </p:nvSpPr>
        <p:spPr>
          <a:xfrm>
            <a:off x="109728" y="91440"/>
            <a:ext cx="621792" cy="621792"/>
          </a:xfrm>
          <a:prstGeom prst="ellipse">
            <a:avLst/>
          </a:prstGeom>
          <a:solidFill>
            <a:srgbClr val="5C0F26"/>
          </a:solidFill>
          <a:ln w="1905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 y="91440"/>
            <a:ext cx="621792" cy="621792"/>
          </a:xfrm>
          <a:prstGeom prst="rect">
            <a:avLst/>
          </a:prstGeom>
          <a:noFill/>
        </p:spPr>
        <p:txBody>
          <a:bodyPr wrap="square">
            <a:spAutoFit/>
          </a:bodyPr>
          <a:lstStyle/>
          <a:p>
            <a:pPr algn="ctr"/>
            <a:r>
              <a:rPr sz="1500" b="1" i="0">
                <a:solidFill>
                  <a:srgbClr val="E8920A"/>
                </a:solidFill>
              </a:rPr>
              <a:t>AI</a:t>
            </a:r>
          </a:p>
        </p:txBody>
      </p:sp>
      <p:sp>
        <p:nvSpPr>
          <p:cNvPr id="20" name="TextBox 19"/>
          <p:cNvSpPr txBox="1"/>
          <p:nvPr/>
        </p:nvSpPr>
        <p:spPr>
          <a:xfrm>
            <a:off x="914400" y="1371600"/>
            <a:ext cx="5486400" cy="548640"/>
          </a:xfrm>
          <a:prstGeom prst="rect">
            <a:avLst/>
          </a:prstGeom>
          <a:noFill/>
        </p:spPr>
        <p:txBody>
          <a:bodyPr wrap="square">
            <a:spAutoFit/>
          </a:bodyPr>
          <a:lstStyle/>
          <a:p>
            <a:pPr algn="l"/>
            <a:r>
              <a:rPr sz="2200" b="0" i="1">
                <a:solidFill>
                  <a:srgbClr val="C9836B"/>
                </a:solidFill>
              </a:rPr>
              <a:t>Proposal by</a:t>
            </a:r>
          </a:p>
        </p:txBody>
      </p:sp>
      <p:sp>
        <p:nvSpPr>
          <p:cNvPr id="21" name="TextBox 20"/>
          <p:cNvSpPr txBox="1"/>
          <p:nvPr/>
        </p:nvSpPr>
        <p:spPr>
          <a:xfrm>
            <a:off x="822960" y="1920240"/>
            <a:ext cx="8229600" cy="1737360"/>
          </a:xfrm>
          <a:prstGeom prst="rect">
            <a:avLst/>
          </a:prstGeom>
          <a:noFill/>
        </p:spPr>
        <p:txBody>
          <a:bodyPr wrap="square">
            <a:spAutoFit/>
          </a:bodyPr>
          <a:lstStyle/>
          <a:p>
            <a:pPr algn="l"/>
            <a:r>
              <a:rPr sz="10400" b="1" i="0">
                <a:solidFill>
                  <a:srgbClr val="F5F0E8"/>
                </a:solidFill>
              </a:rPr>
              <a:t>SAHELI</a:t>
            </a:r>
          </a:p>
        </p:txBody>
      </p:sp>
      <p:sp>
        <p:nvSpPr>
          <p:cNvPr id="22" name="TextBox 21"/>
          <p:cNvSpPr txBox="1"/>
          <p:nvPr/>
        </p:nvSpPr>
        <p:spPr>
          <a:xfrm>
            <a:off x="914400" y="3566160"/>
            <a:ext cx="4572000" cy="777240"/>
          </a:xfrm>
          <a:prstGeom prst="rect">
            <a:avLst/>
          </a:prstGeom>
          <a:noFill/>
        </p:spPr>
        <p:txBody>
          <a:bodyPr wrap="square">
            <a:spAutoFit/>
          </a:bodyPr>
          <a:lstStyle/>
          <a:p>
            <a:pPr algn="l"/>
            <a:r>
              <a:rPr sz="3200" b="1" i="0">
                <a:solidFill>
                  <a:srgbClr val="E8920A"/>
                </a:solidFill>
              </a:rPr>
              <a:t>सहेली</a:t>
            </a:r>
          </a:p>
        </p:txBody>
      </p:sp>
      <p:sp>
        <p:nvSpPr>
          <p:cNvPr id="23" name="Rectangle 22"/>
          <p:cNvSpPr/>
          <p:nvPr/>
        </p:nvSpPr>
        <p:spPr>
          <a:xfrm>
            <a:off x="914400" y="4434840"/>
            <a:ext cx="6858000" cy="36576"/>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572000"/>
            <a:ext cx="7772400" cy="1005840"/>
          </a:xfrm>
          <a:prstGeom prst="rect">
            <a:avLst/>
          </a:prstGeom>
          <a:noFill/>
        </p:spPr>
        <p:txBody>
          <a:bodyPr wrap="square">
            <a:spAutoFit/>
          </a:bodyPr>
          <a:lstStyle/>
          <a:p>
            <a:pPr algn="l"/>
            <a:r>
              <a:rPr sz="1600" b="0" i="1">
                <a:solidFill>
                  <a:srgbClr val="F5F0E8"/>
                </a:solidFill>
              </a:rPr>
              <a:t>India's First Voice-Native, Stealth Evidence Vault
&amp; Rights Companion for Women on Shared Phones</a:t>
            </a:r>
          </a:p>
        </p:txBody>
      </p:sp>
      <p:sp>
        <p:nvSpPr>
          <p:cNvPr id="25" name="TextBox 24"/>
          <p:cNvSpPr txBox="1"/>
          <p:nvPr/>
        </p:nvSpPr>
        <p:spPr>
          <a:xfrm>
            <a:off x="914400" y="5623560"/>
            <a:ext cx="8229600" cy="731520"/>
          </a:xfrm>
          <a:prstGeom prst="rect">
            <a:avLst/>
          </a:prstGeom>
          <a:noFill/>
        </p:spPr>
        <p:txBody>
          <a:bodyPr wrap="square">
            <a:spAutoFit/>
          </a:bodyPr>
          <a:lstStyle/>
          <a:p>
            <a:pPr algn="l"/>
            <a:r>
              <a:rPr sz="1100" b="0" i="0">
                <a:solidFill>
                  <a:srgbClr val="C9836B"/>
                </a:solidFill>
              </a:rPr>
              <a:t>WitchHunt 2026  |  HopeWorks × AI4India × Skills Café
Track: Health &amp; Well-Being   ✦   Cross-track: Smart Cities,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724"/>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5C0F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475720" y="137160"/>
            <a:ext cx="640079" cy="640079"/>
          </a:xfrm>
          <a:prstGeom prst="ellipse">
            <a:avLst/>
          </a:prstGeom>
          <a:noFill/>
          <a:ln w="10160">
            <a:solidFill>
              <a:srgbClr val="C98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82400" y="243840"/>
            <a:ext cx="426719" cy="426719"/>
          </a:xfrm>
          <a:prstGeom prst="ellipse">
            <a:avLst/>
          </a:prstGeom>
          <a:noFill/>
          <a:ln w="1905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689080" y="350520"/>
            <a:ext cx="213359" cy="213359"/>
          </a:xfrm>
          <a:prstGeom prst="ellipse">
            <a:avLst/>
          </a:prstGeom>
          <a:noFill/>
          <a:ln w="1905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731752" y="393192"/>
            <a:ext cx="128016" cy="128016"/>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 y="137160"/>
            <a:ext cx="640079" cy="640079"/>
          </a:xfrm>
          <a:prstGeom prst="ellipse">
            <a:avLst/>
          </a:prstGeom>
          <a:noFill/>
          <a:ln w="10160">
            <a:solidFill>
              <a:srgbClr val="C98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79832" y="243840"/>
            <a:ext cx="426719" cy="426719"/>
          </a:xfrm>
          <a:prstGeom prst="ellipse">
            <a:avLst/>
          </a:prstGeom>
          <a:noFill/>
          <a:ln w="1905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86512" y="350520"/>
            <a:ext cx="213359" cy="213359"/>
          </a:xfrm>
          <a:prstGeom prst="ellipse">
            <a:avLst/>
          </a:prstGeom>
          <a:noFill/>
          <a:ln w="1905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29184" y="393192"/>
            <a:ext cx="128016" cy="128016"/>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0" y="91440"/>
            <a:ext cx="3200400" cy="365760"/>
          </a:xfrm>
          <a:prstGeom prst="rect">
            <a:avLst/>
          </a:prstGeom>
          <a:noFill/>
        </p:spPr>
        <p:txBody>
          <a:bodyPr wrap="square">
            <a:spAutoFit/>
          </a:bodyPr>
          <a:lstStyle/>
          <a:p>
            <a:pPr algn="r"/>
            <a:r>
              <a:rPr sz="900" b="0" i="0">
                <a:solidFill>
                  <a:srgbClr val="C9836B"/>
                </a:solidFill>
              </a:rPr>
              <a:t>HopeWorks  ✦  AI4India</a:t>
            </a:r>
          </a:p>
        </p:txBody>
      </p:sp>
      <p:sp>
        <p:nvSpPr>
          <p:cNvPr id="12" name="Oval 11"/>
          <p:cNvSpPr/>
          <p:nvPr/>
        </p:nvSpPr>
        <p:spPr>
          <a:xfrm>
            <a:off x="109728" y="91440"/>
            <a:ext cx="621792" cy="621792"/>
          </a:xfrm>
          <a:prstGeom prst="ellipse">
            <a:avLst/>
          </a:prstGeom>
          <a:solidFill>
            <a:srgbClr val="5C0F26"/>
          </a:solidFill>
          <a:ln w="1905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 y="91440"/>
            <a:ext cx="621792" cy="621792"/>
          </a:xfrm>
          <a:prstGeom prst="rect">
            <a:avLst/>
          </a:prstGeom>
          <a:noFill/>
        </p:spPr>
        <p:txBody>
          <a:bodyPr wrap="square">
            <a:spAutoFit/>
          </a:bodyPr>
          <a:lstStyle/>
          <a:p>
            <a:pPr algn="ctr"/>
            <a:r>
              <a:rPr sz="1500" b="1" i="0">
                <a:solidFill>
                  <a:srgbClr val="E8920A"/>
                </a:solidFill>
              </a:rPr>
              <a:t>AI</a:t>
            </a:r>
          </a:p>
        </p:txBody>
      </p:sp>
      <p:sp>
        <p:nvSpPr>
          <p:cNvPr id="14" name="TextBox 13"/>
          <p:cNvSpPr txBox="1"/>
          <p:nvPr/>
        </p:nvSpPr>
        <p:spPr>
          <a:xfrm>
            <a:off x="914400" y="164592"/>
            <a:ext cx="10332720" cy="594360"/>
          </a:xfrm>
          <a:prstGeom prst="rect">
            <a:avLst/>
          </a:prstGeom>
          <a:noFill/>
        </p:spPr>
        <p:txBody>
          <a:bodyPr wrap="square">
            <a:spAutoFit/>
          </a:bodyPr>
          <a:lstStyle/>
          <a:p>
            <a:pPr algn="ctr"/>
            <a:r>
              <a:rPr sz="3200" b="1" i="0">
                <a:solidFill>
                  <a:srgbClr val="F5F0E8"/>
                </a:solidFill>
              </a:rPr>
              <a:t>CRISIS IN NUMBERS</a:t>
            </a:r>
          </a:p>
        </p:txBody>
      </p:sp>
      <p:sp>
        <p:nvSpPr>
          <p:cNvPr id="15" name="Rectangle 14"/>
          <p:cNvSpPr/>
          <p:nvPr/>
        </p:nvSpPr>
        <p:spPr>
          <a:xfrm>
            <a:off x="182880" y="1005840"/>
            <a:ext cx="2212848" cy="4160520"/>
          </a:xfrm>
          <a:prstGeom prst="rect">
            <a:avLst/>
          </a:prstGeom>
          <a:solidFill>
            <a:srgbClr val="120628"/>
          </a:solidFill>
          <a:ln w="1524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1005840"/>
            <a:ext cx="2212848" cy="201168"/>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2880" y="1389888"/>
            <a:ext cx="2212848" cy="914400"/>
          </a:xfrm>
          <a:prstGeom prst="rect">
            <a:avLst/>
          </a:prstGeom>
          <a:noFill/>
        </p:spPr>
        <p:txBody>
          <a:bodyPr wrap="square">
            <a:spAutoFit/>
          </a:bodyPr>
          <a:lstStyle/>
          <a:p>
            <a:pPr algn="ctr"/>
            <a:r>
              <a:rPr sz="5400" b="1" i="0">
                <a:solidFill>
                  <a:srgbClr val="E8920A"/>
                </a:solidFill>
              </a:rPr>
              <a:t>43%</a:t>
            </a:r>
          </a:p>
        </p:txBody>
      </p:sp>
      <p:sp>
        <p:nvSpPr>
          <p:cNvPr id="18" name="TextBox 17"/>
          <p:cNvSpPr txBox="1"/>
          <p:nvPr/>
        </p:nvSpPr>
        <p:spPr>
          <a:xfrm>
            <a:off x="292608" y="2423160"/>
            <a:ext cx="2011680" cy="1005840"/>
          </a:xfrm>
          <a:prstGeom prst="rect">
            <a:avLst/>
          </a:prstGeom>
          <a:noFill/>
        </p:spPr>
        <p:txBody>
          <a:bodyPr wrap="square">
            <a:spAutoFit/>
          </a:bodyPr>
          <a:lstStyle/>
          <a:p>
            <a:pPr algn="ctr"/>
            <a:r>
              <a:rPr sz="1200" b="0" i="0">
                <a:solidFill>
                  <a:srgbClr val="F5F0E8"/>
                </a:solidFill>
              </a:rPr>
              <a:t>of Indian women
do not own a smartphone</a:t>
            </a:r>
          </a:p>
        </p:txBody>
      </p:sp>
      <p:sp>
        <p:nvSpPr>
          <p:cNvPr id="19" name="Rectangle 18"/>
          <p:cNvSpPr/>
          <p:nvPr/>
        </p:nvSpPr>
        <p:spPr>
          <a:xfrm>
            <a:off x="457200" y="3520440"/>
            <a:ext cx="1664208" cy="18288"/>
          </a:xfrm>
          <a:prstGeom prst="rect">
            <a:avLst/>
          </a:prstGeom>
          <a:solidFill>
            <a:srgbClr val="40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2608" y="3611880"/>
            <a:ext cx="2011680" cy="868680"/>
          </a:xfrm>
          <a:prstGeom prst="rect">
            <a:avLst/>
          </a:prstGeom>
          <a:noFill/>
        </p:spPr>
        <p:txBody>
          <a:bodyPr wrap="square">
            <a:spAutoFit/>
          </a:bodyPr>
          <a:lstStyle/>
          <a:p>
            <a:pPr algn="ctr"/>
            <a:r>
              <a:rPr sz="1050" b="0" i="1">
                <a:solidFill>
                  <a:srgbClr val="AAA0CC"/>
                </a:solidFill>
              </a:rPr>
              <a:t>Existing apps require
a personal device</a:t>
            </a:r>
          </a:p>
        </p:txBody>
      </p:sp>
      <p:sp>
        <p:nvSpPr>
          <p:cNvPr id="21" name="Oval 20"/>
          <p:cNvSpPr/>
          <p:nvPr/>
        </p:nvSpPr>
        <p:spPr>
          <a:xfrm>
            <a:off x="1097280" y="4754880"/>
            <a:ext cx="365760" cy="365760"/>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578608" y="1005840"/>
            <a:ext cx="2212848" cy="4160520"/>
          </a:xfrm>
          <a:prstGeom prst="rect">
            <a:avLst/>
          </a:prstGeom>
          <a:solidFill>
            <a:srgbClr val="120628"/>
          </a:solidFill>
          <a:ln w="1524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78608" y="1005840"/>
            <a:ext cx="2212848" cy="201168"/>
          </a:xfrm>
          <a:prstGeom prst="rect">
            <a:avLst/>
          </a:prstGeom>
          <a:solidFill>
            <a:srgbClr val="D459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78608" y="1389888"/>
            <a:ext cx="2212848" cy="914400"/>
          </a:xfrm>
          <a:prstGeom prst="rect">
            <a:avLst/>
          </a:prstGeom>
          <a:noFill/>
        </p:spPr>
        <p:txBody>
          <a:bodyPr wrap="square">
            <a:spAutoFit/>
          </a:bodyPr>
          <a:lstStyle/>
          <a:p>
            <a:pPr algn="ctr"/>
            <a:r>
              <a:rPr sz="5400" b="1" i="0">
                <a:solidFill>
                  <a:srgbClr val="D4597A"/>
                </a:solidFill>
              </a:rPr>
              <a:t>58%</a:t>
            </a:r>
          </a:p>
        </p:txBody>
      </p:sp>
      <p:sp>
        <p:nvSpPr>
          <p:cNvPr id="25" name="TextBox 24"/>
          <p:cNvSpPr txBox="1"/>
          <p:nvPr/>
        </p:nvSpPr>
        <p:spPr>
          <a:xfrm>
            <a:off x="2688336" y="2423160"/>
            <a:ext cx="2011680" cy="1005840"/>
          </a:xfrm>
          <a:prstGeom prst="rect">
            <a:avLst/>
          </a:prstGeom>
          <a:noFill/>
        </p:spPr>
        <p:txBody>
          <a:bodyPr wrap="square">
            <a:spAutoFit/>
          </a:bodyPr>
          <a:lstStyle/>
          <a:p>
            <a:pPr algn="ctr"/>
            <a:r>
              <a:rPr sz="1200" b="0" i="0">
                <a:solidFill>
                  <a:srgbClr val="F5F0E8"/>
                </a:solidFill>
              </a:rPr>
              <a:t>of rural women
use shared devices</a:t>
            </a:r>
          </a:p>
        </p:txBody>
      </p:sp>
      <p:sp>
        <p:nvSpPr>
          <p:cNvPr id="26" name="Rectangle 25"/>
          <p:cNvSpPr/>
          <p:nvPr/>
        </p:nvSpPr>
        <p:spPr>
          <a:xfrm>
            <a:off x="2852927" y="3520440"/>
            <a:ext cx="1664208" cy="18288"/>
          </a:xfrm>
          <a:prstGeom prst="rect">
            <a:avLst/>
          </a:prstGeom>
          <a:solidFill>
            <a:srgbClr val="40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688336" y="3611880"/>
            <a:ext cx="2011680" cy="868680"/>
          </a:xfrm>
          <a:prstGeom prst="rect">
            <a:avLst/>
          </a:prstGeom>
          <a:noFill/>
        </p:spPr>
        <p:txBody>
          <a:bodyPr wrap="square">
            <a:spAutoFit/>
          </a:bodyPr>
          <a:lstStyle/>
          <a:p>
            <a:pPr algn="ctr"/>
            <a:r>
              <a:rPr sz="1050" b="0" i="1">
                <a:solidFill>
                  <a:srgbClr val="AAA0CC"/>
                </a:solidFill>
              </a:rPr>
              <a:t>Shared phones mean
constant surveillance</a:t>
            </a:r>
          </a:p>
        </p:txBody>
      </p:sp>
      <p:sp>
        <p:nvSpPr>
          <p:cNvPr id="28" name="Oval 27"/>
          <p:cNvSpPr/>
          <p:nvPr/>
        </p:nvSpPr>
        <p:spPr>
          <a:xfrm>
            <a:off x="3493008" y="4754880"/>
            <a:ext cx="365760" cy="365760"/>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974336" y="1005840"/>
            <a:ext cx="2212848" cy="4160520"/>
          </a:xfrm>
          <a:prstGeom prst="rect">
            <a:avLst/>
          </a:prstGeom>
          <a:solidFill>
            <a:srgbClr val="120628"/>
          </a:solidFill>
          <a:ln w="1524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974336" y="1005840"/>
            <a:ext cx="2212848" cy="201168"/>
          </a:xfrm>
          <a:prstGeom prst="rect">
            <a:avLst/>
          </a:prstGeom>
          <a:solidFill>
            <a:srgbClr val="00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74336" y="1389888"/>
            <a:ext cx="2212848" cy="914400"/>
          </a:xfrm>
          <a:prstGeom prst="rect">
            <a:avLst/>
          </a:prstGeom>
          <a:noFill/>
        </p:spPr>
        <p:txBody>
          <a:bodyPr wrap="square">
            <a:spAutoFit/>
          </a:bodyPr>
          <a:lstStyle/>
          <a:p>
            <a:pPr algn="ctr"/>
            <a:r>
              <a:rPr sz="5400" b="1" i="0">
                <a:solidFill>
                  <a:srgbClr val="008888"/>
                </a:solidFill>
              </a:rPr>
              <a:t>67%</a:t>
            </a:r>
          </a:p>
        </p:txBody>
      </p:sp>
      <p:sp>
        <p:nvSpPr>
          <p:cNvPr id="32" name="TextBox 31"/>
          <p:cNvSpPr txBox="1"/>
          <p:nvPr/>
        </p:nvSpPr>
        <p:spPr>
          <a:xfrm>
            <a:off x="5084064" y="2423160"/>
            <a:ext cx="2011680" cy="1005840"/>
          </a:xfrm>
          <a:prstGeom prst="rect">
            <a:avLst/>
          </a:prstGeom>
          <a:noFill/>
        </p:spPr>
        <p:txBody>
          <a:bodyPr wrap="square">
            <a:spAutoFit/>
          </a:bodyPr>
          <a:lstStyle/>
          <a:p>
            <a:pPr algn="ctr"/>
            <a:r>
              <a:rPr sz="1200" b="0" i="0">
                <a:solidFill>
                  <a:srgbClr val="F5F0E8"/>
                </a:solidFill>
              </a:rPr>
              <a:t>harassment cases
go unreported</a:t>
            </a:r>
          </a:p>
        </p:txBody>
      </p:sp>
      <p:sp>
        <p:nvSpPr>
          <p:cNvPr id="33" name="Rectangle 32"/>
          <p:cNvSpPr/>
          <p:nvPr/>
        </p:nvSpPr>
        <p:spPr>
          <a:xfrm>
            <a:off x="5248656" y="3520440"/>
            <a:ext cx="1664208" cy="18288"/>
          </a:xfrm>
          <a:prstGeom prst="rect">
            <a:avLst/>
          </a:prstGeom>
          <a:solidFill>
            <a:srgbClr val="40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84064" y="3611880"/>
            <a:ext cx="2011680" cy="868680"/>
          </a:xfrm>
          <a:prstGeom prst="rect">
            <a:avLst/>
          </a:prstGeom>
          <a:noFill/>
        </p:spPr>
        <p:txBody>
          <a:bodyPr wrap="square">
            <a:spAutoFit/>
          </a:bodyPr>
          <a:lstStyle/>
          <a:p>
            <a:pPr algn="ctr"/>
            <a:r>
              <a:rPr sz="1050" b="0" i="1">
                <a:solidFill>
                  <a:srgbClr val="AAA0CC"/>
                </a:solidFill>
              </a:rPr>
              <a:t>Fear + no private channel
= forced silence</a:t>
            </a:r>
          </a:p>
        </p:txBody>
      </p:sp>
      <p:sp>
        <p:nvSpPr>
          <p:cNvPr id="35" name="Oval 34"/>
          <p:cNvSpPr/>
          <p:nvPr/>
        </p:nvSpPr>
        <p:spPr>
          <a:xfrm>
            <a:off x="5888736" y="4754880"/>
            <a:ext cx="365760" cy="365760"/>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70064" y="1005840"/>
            <a:ext cx="2212848" cy="4160520"/>
          </a:xfrm>
          <a:prstGeom prst="rect">
            <a:avLst/>
          </a:prstGeom>
          <a:solidFill>
            <a:srgbClr val="120628"/>
          </a:solidFill>
          <a:ln w="15240">
            <a:solidFill>
              <a:srgbClr val="C98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70064" y="1005840"/>
            <a:ext cx="2212848" cy="201168"/>
          </a:xfrm>
          <a:prstGeom prst="rect">
            <a:avLst/>
          </a:prstGeom>
          <a:solidFill>
            <a:srgbClr val="C983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70064" y="1389888"/>
            <a:ext cx="2212848" cy="914400"/>
          </a:xfrm>
          <a:prstGeom prst="rect">
            <a:avLst/>
          </a:prstGeom>
          <a:noFill/>
        </p:spPr>
        <p:txBody>
          <a:bodyPr wrap="square">
            <a:spAutoFit/>
          </a:bodyPr>
          <a:lstStyle/>
          <a:p>
            <a:pPr algn="ctr"/>
            <a:r>
              <a:rPr sz="5400" b="1" i="0">
                <a:solidFill>
                  <a:srgbClr val="C9836B"/>
                </a:solidFill>
              </a:rPr>
              <a:t>26%</a:t>
            </a:r>
          </a:p>
        </p:txBody>
      </p:sp>
      <p:sp>
        <p:nvSpPr>
          <p:cNvPr id="39" name="TextBox 38"/>
          <p:cNvSpPr txBox="1"/>
          <p:nvPr/>
        </p:nvSpPr>
        <p:spPr>
          <a:xfrm>
            <a:off x="7479792" y="2423160"/>
            <a:ext cx="2011680" cy="1005840"/>
          </a:xfrm>
          <a:prstGeom prst="rect">
            <a:avLst/>
          </a:prstGeom>
          <a:noFill/>
        </p:spPr>
        <p:txBody>
          <a:bodyPr wrap="square">
            <a:spAutoFit/>
          </a:bodyPr>
          <a:lstStyle/>
          <a:p>
            <a:pPr algn="ctr"/>
            <a:r>
              <a:rPr sz="1200" b="0" i="0">
                <a:solidFill>
                  <a:srgbClr val="F5F0E8"/>
                </a:solidFill>
              </a:rPr>
              <a:t>DV conviction rate
due to evidence gaps</a:t>
            </a:r>
          </a:p>
        </p:txBody>
      </p:sp>
      <p:sp>
        <p:nvSpPr>
          <p:cNvPr id="40" name="Rectangle 39"/>
          <p:cNvSpPr/>
          <p:nvPr/>
        </p:nvSpPr>
        <p:spPr>
          <a:xfrm>
            <a:off x="7644384" y="3520440"/>
            <a:ext cx="1664208" cy="18288"/>
          </a:xfrm>
          <a:prstGeom prst="rect">
            <a:avLst/>
          </a:prstGeom>
          <a:solidFill>
            <a:srgbClr val="40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79792" y="3611880"/>
            <a:ext cx="2011680" cy="868680"/>
          </a:xfrm>
          <a:prstGeom prst="rect">
            <a:avLst/>
          </a:prstGeom>
          <a:noFill/>
        </p:spPr>
        <p:txBody>
          <a:bodyPr wrap="square">
            <a:spAutoFit/>
          </a:bodyPr>
          <a:lstStyle/>
          <a:p>
            <a:pPr algn="ctr"/>
            <a:r>
              <a:rPr sz="1050" b="0" i="1">
                <a:solidFill>
                  <a:srgbClr val="AAA0CC"/>
                </a:solidFill>
              </a:rPr>
              <a:t>Without evidence,
cases collapse</a:t>
            </a:r>
          </a:p>
        </p:txBody>
      </p:sp>
      <p:sp>
        <p:nvSpPr>
          <p:cNvPr id="42" name="Oval 41"/>
          <p:cNvSpPr/>
          <p:nvPr/>
        </p:nvSpPr>
        <p:spPr>
          <a:xfrm>
            <a:off x="8284464" y="4754880"/>
            <a:ext cx="365760" cy="365760"/>
          </a:xfrm>
          <a:prstGeom prst="ellipse">
            <a:avLst/>
          </a:prstGeom>
          <a:noFill/>
          <a:ln w="12700">
            <a:solidFill>
              <a:srgbClr val="C98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765792" y="1005840"/>
            <a:ext cx="2212848" cy="4160520"/>
          </a:xfrm>
          <a:prstGeom prst="rect">
            <a:avLst/>
          </a:prstGeom>
          <a:solidFill>
            <a:srgbClr val="120628"/>
          </a:solidFill>
          <a:ln w="15240">
            <a:solidFill>
              <a:srgbClr val="F5C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765792" y="1005840"/>
            <a:ext cx="2212848" cy="201168"/>
          </a:xfrm>
          <a:prstGeom prst="rect">
            <a:avLst/>
          </a:prstGeom>
          <a:solidFill>
            <a:srgbClr val="F5C5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65792" y="1389888"/>
            <a:ext cx="2212848" cy="914400"/>
          </a:xfrm>
          <a:prstGeom prst="rect">
            <a:avLst/>
          </a:prstGeom>
          <a:noFill/>
        </p:spPr>
        <p:txBody>
          <a:bodyPr wrap="square">
            <a:spAutoFit/>
          </a:bodyPr>
          <a:lstStyle/>
          <a:p>
            <a:pPr algn="ctr"/>
            <a:r>
              <a:rPr sz="5400" b="1" i="0">
                <a:solidFill>
                  <a:srgbClr val="F5C542"/>
                </a:solidFill>
              </a:rPr>
              <a:t>74%</a:t>
            </a:r>
          </a:p>
        </p:txBody>
      </p:sp>
      <p:sp>
        <p:nvSpPr>
          <p:cNvPr id="46" name="TextBox 45"/>
          <p:cNvSpPr txBox="1"/>
          <p:nvPr/>
        </p:nvSpPr>
        <p:spPr>
          <a:xfrm>
            <a:off x="9875519" y="2423160"/>
            <a:ext cx="2011680" cy="1005840"/>
          </a:xfrm>
          <a:prstGeom prst="rect">
            <a:avLst/>
          </a:prstGeom>
          <a:noFill/>
        </p:spPr>
        <p:txBody>
          <a:bodyPr wrap="square">
            <a:spAutoFit/>
          </a:bodyPr>
          <a:lstStyle/>
          <a:p>
            <a:pPr algn="ctr"/>
            <a:r>
              <a:rPr sz="1200" b="0" i="0">
                <a:solidFill>
                  <a:srgbClr val="F5F0E8"/>
                </a:solidFill>
              </a:rPr>
              <a:t>Nirbhaya Fund
still sits unspent</a:t>
            </a:r>
          </a:p>
        </p:txBody>
      </p:sp>
      <p:sp>
        <p:nvSpPr>
          <p:cNvPr id="47" name="Rectangle 46"/>
          <p:cNvSpPr/>
          <p:nvPr/>
        </p:nvSpPr>
        <p:spPr>
          <a:xfrm>
            <a:off x="10040112" y="3520440"/>
            <a:ext cx="1664208" cy="18288"/>
          </a:xfrm>
          <a:prstGeom prst="rect">
            <a:avLst/>
          </a:prstGeom>
          <a:solidFill>
            <a:srgbClr val="403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875519" y="3611880"/>
            <a:ext cx="2011680" cy="868680"/>
          </a:xfrm>
          <a:prstGeom prst="rect">
            <a:avLst/>
          </a:prstGeom>
          <a:noFill/>
        </p:spPr>
        <p:txBody>
          <a:bodyPr wrap="square">
            <a:spAutoFit/>
          </a:bodyPr>
          <a:lstStyle/>
          <a:p>
            <a:pPr algn="ctr"/>
            <a:r>
              <a:rPr sz="1050" b="0" i="1">
                <a:solidFill>
                  <a:srgbClr val="AAA0CC"/>
                </a:solidFill>
              </a:rPr>
              <a:t>Systemic failure
at the last mile</a:t>
            </a:r>
          </a:p>
        </p:txBody>
      </p:sp>
      <p:sp>
        <p:nvSpPr>
          <p:cNvPr id="49" name="Oval 48"/>
          <p:cNvSpPr/>
          <p:nvPr/>
        </p:nvSpPr>
        <p:spPr>
          <a:xfrm>
            <a:off x="10680192" y="4754880"/>
            <a:ext cx="365760" cy="365760"/>
          </a:xfrm>
          <a:prstGeom prst="ellipse">
            <a:avLst/>
          </a:prstGeom>
          <a:noFill/>
          <a:ln w="12700">
            <a:solidFill>
              <a:srgbClr val="F5C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82880" y="5285232"/>
            <a:ext cx="11823192" cy="32004"/>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82880" y="5330952"/>
            <a:ext cx="11823192" cy="1234440"/>
          </a:xfrm>
          <a:prstGeom prst="rect">
            <a:avLst/>
          </a:prstGeom>
          <a:solidFill>
            <a:srgbClr val="120832"/>
          </a:solid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11480" y="5422392"/>
            <a:ext cx="11365992" cy="868680"/>
          </a:xfrm>
          <a:prstGeom prst="rect">
            <a:avLst/>
          </a:prstGeom>
          <a:noFill/>
        </p:spPr>
        <p:txBody>
          <a:bodyPr wrap="square">
            <a:spAutoFit/>
          </a:bodyPr>
          <a:lstStyle/>
          <a:p>
            <a:pPr algn="ctr"/>
            <a:r>
              <a:rPr sz="1400" b="0" i="1">
                <a:solidFill>
                  <a:srgbClr val="F5F0E8"/>
                </a:solidFill>
              </a:rPr>
              <a:t>Every existing solution assumes private smartphones, stable internet, and high digital literacy.
180M+ Indian women have none of these.  Saheli is built for that gap.</a:t>
            </a:r>
          </a:p>
        </p:txBody>
      </p:sp>
      <p:sp>
        <p:nvSpPr>
          <p:cNvPr id="53" name="TextBox 52"/>
          <p:cNvSpPr txBox="1"/>
          <p:nvPr/>
        </p:nvSpPr>
        <p:spPr>
          <a:xfrm>
            <a:off x="457200" y="6455664"/>
            <a:ext cx="11247120" cy="256032"/>
          </a:xfrm>
          <a:prstGeom prst="rect">
            <a:avLst/>
          </a:prstGeom>
          <a:noFill/>
        </p:spPr>
        <p:txBody>
          <a:bodyPr wrap="square">
            <a:spAutoFit/>
          </a:bodyPr>
          <a:lstStyle/>
          <a:p>
            <a:pPr algn="ctr"/>
            <a:r>
              <a:rPr sz="900" b="0" i="0">
                <a:solidFill>
                  <a:srgbClr val="C9836B"/>
                </a:solidFill>
              </a:rPr>
              <a:t>Sources: NSSO  ✦  IAMAI  ✦  GSMA Connected Women 2024  ✦  NCRB  ✦  NARI  ✦  NALSA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724"/>
        </a:solidFill>
        <a:effectLst/>
      </p:bgPr>
    </p:bg>
    <p:spTree>
      <p:nvGrpSpPr>
        <p:cNvPr id="1" name=""/>
        <p:cNvGrpSpPr/>
        <p:nvPr/>
      </p:nvGrpSpPr>
      <p:grpSpPr/>
      <p:sp>
        <p:nvSpPr>
          <p:cNvPr id="2" name="Rectangle 1"/>
          <p:cNvSpPr/>
          <p:nvPr/>
        </p:nvSpPr>
        <p:spPr>
          <a:xfrm>
            <a:off x="0" y="0"/>
            <a:ext cx="3200400" cy="6858000"/>
          </a:xfrm>
          <a:prstGeom prst="rect">
            <a:avLst/>
          </a:prstGeom>
          <a:solidFill>
            <a:srgbClr val="5C0F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11479" y="1097280"/>
            <a:ext cx="2377440" cy="2377440"/>
          </a:xfrm>
          <a:prstGeom prst="ellipse">
            <a:avLst/>
          </a:prstGeom>
          <a:noFill/>
          <a:ln w="22860">
            <a:solidFill>
              <a:srgbClr val="1A0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9224" y="1335024"/>
            <a:ext cx="1901952" cy="1901952"/>
          </a:xfrm>
          <a:prstGeom prst="ellipse">
            <a:avLst/>
          </a:prstGeom>
          <a:noFill/>
          <a:ln w="15240">
            <a:solidFill>
              <a:srgbClr val="F5C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86968" y="1572768"/>
            <a:ext cx="1426464" cy="1426464"/>
          </a:xfrm>
          <a:prstGeom prst="ellipse">
            <a:avLst/>
          </a:prstGeom>
          <a:noFill/>
          <a:ln w="15240">
            <a:solidFill>
              <a:srgbClr val="C98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4712" y="1810512"/>
            <a:ext cx="950976" cy="950976"/>
          </a:xfrm>
          <a:prstGeom prst="ellipse">
            <a:avLst/>
          </a:prstGeom>
          <a:noFill/>
          <a:ln w="889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362456" y="2048256"/>
            <a:ext cx="475488" cy="475488"/>
          </a:xfrm>
          <a:prstGeom prst="ellipse">
            <a:avLst/>
          </a:prstGeom>
          <a:noFill/>
          <a:ln w="889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468880" y="220370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341473" y="2679192"/>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93392" y="3027273"/>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517904" y="3154680"/>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42416" y="3027273"/>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94334" y="2679192"/>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66928" y="220370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94334" y="1728216"/>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42415" y="138013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517903" y="1252728"/>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993392" y="138013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341473" y="1728215"/>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182112" y="2203704"/>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055431" y="2840568"/>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694676" y="3380476"/>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154768" y="3741231"/>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517904" y="3867912"/>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81039" y="3741231"/>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41131" y="3380476"/>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9623" y="2840568"/>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46303" y="2203704"/>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9623" y="1566839"/>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41131" y="1026931"/>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81039" y="666176"/>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517903" y="539496"/>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154768" y="666176"/>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694676" y="1026931"/>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055431" y="1566839"/>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508760" y="2194560"/>
            <a:ext cx="182880" cy="182880"/>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340864" y="4946904"/>
            <a:ext cx="164592" cy="164592"/>
          </a:xfrm>
          <a:prstGeom prst="ellipse">
            <a:avLst/>
          </a:prstGeom>
          <a:noFill/>
          <a:ln w="12700">
            <a:solidFill>
              <a:srgbClr val="F5C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183692" y="5430627"/>
            <a:ext cx="164592" cy="164592"/>
          </a:xfrm>
          <a:prstGeom prst="ellipse">
            <a:avLst/>
          </a:prstGeom>
          <a:noFill/>
          <a:ln w="12700">
            <a:solidFill>
              <a:srgbClr val="F5C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772212" y="5729585"/>
            <a:ext cx="164592" cy="164592"/>
          </a:xfrm>
          <a:prstGeom prst="ellipse">
            <a:avLst/>
          </a:prstGeom>
          <a:noFill/>
          <a:ln w="12700">
            <a:solidFill>
              <a:srgbClr val="F5C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263595" y="5729585"/>
            <a:ext cx="164592" cy="164592"/>
          </a:xfrm>
          <a:prstGeom prst="ellipse">
            <a:avLst/>
          </a:prstGeom>
          <a:noFill/>
          <a:ln w="12700">
            <a:solidFill>
              <a:srgbClr val="F5C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52115" y="5430627"/>
            <a:ext cx="164592" cy="164592"/>
          </a:xfrm>
          <a:prstGeom prst="ellipse">
            <a:avLst/>
          </a:prstGeom>
          <a:noFill/>
          <a:ln w="12700">
            <a:solidFill>
              <a:srgbClr val="F5C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94944" y="4946904"/>
            <a:ext cx="164592" cy="164592"/>
          </a:xfrm>
          <a:prstGeom prst="ellipse">
            <a:avLst/>
          </a:prstGeom>
          <a:noFill/>
          <a:ln w="12700">
            <a:solidFill>
              <a:srgbClr val="F5C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52115" y="4463180"/>
            <a:ext cx="164592" cy="164592"/>
          </a:xfrm>
          <a:prstGeom prst="ellipse">
            <a:avLst/>
          </a:prstGeom>
          <a:noFill/>
          <a:ln w="12700">
            <a:solidFill>
              <a:srgbClr val="F5C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263595" y="4164222"/>
            <a:ext cx="164592" cy="164592"/>
          </a:xfrm>
          <a:prstGeom prst="ellipse">
            <a:avLst/>
          </a:prstGeom>
          <a:noFill/>
          <a:ln w="12700">
            <a:solidFill>
              <a:srgbClr val="F5C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772212" y="4164222"/>
            <a:ext cx="164592" cy="164592"/>
          </a:xfrm>
          <a:prstGeom prst="ellipse">
            <a:avLst/>
          </a:prstGeom>
          <a:noFill/>
          <a:ln w="12700">
            <a:solidFill>
              <a:srgbClr val="F5C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2183692" y="4463180"/>
            <a:ext cx="164592" cy="164592"/>
          </a:xfrm>
          <a:prstGeom prst="ellipse">
            <a:avLst/>
          </a:prstGeom>
          <a:noFill/>
          <a:ln w="12700">
            <a:solidFill>
              <a:srgbClr val="F5C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143000" y="4572000"/>
            <a:ext cx="914400" cy="914400"/>
          </a:xfrm>
          <a:prstGeom prst="ellipse">
            <a:avLst/>
          </a:prstGeom>
          <a:noFill/>
          <a:ln w="10160">
            <a:solidFill>
              <a:srgbClr val="C98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295400" y="4724400"/>
            <a:ext cx="609600" cy="609600"/>
          </a:xfrm>
          <a:prstGeom prst="ellipse">
            <a:avLst/>
          </a:prstGeom>
          <a:noFill/>
          <a:ln w="1905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447800" y="4876800"/>
            <a:ext cx="304800" cy="304800"/>
          </a:xfrm>
          <a:prstGeom prst="ellipse">
            <a:avLst/>
          </a:prstGeom>
          <a:noFill/>
          <a:ln w="1905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536192" y="4965192"/>
            <a:ext cx="128016" cy="128016"/>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64592" y="5120640"/>
            <a:ext cx="2926080" cy="1280160"/>
          </a:xfrm>
          <a:prstGeom prst="rect">
            <a:avLst/>
          </a:prstGeom>
          <a:noFill/>
        </p:spPr>
        <p:txBody>
          <a:bodyPr wrap="square">
            <a:spAutoFit/>
          </a:bodyPr>
          <a:lstStyle/>
          <a:p>
            <a:pPr algn="l"/>
            <a:r>
              <a:rPr sz="2400" b="1" i="0">
                <a:solidFill>
                  <a:srgbClr val="F5F0E8"/>
                </a:solidFill>
              </a:rPr>
              <a:t>PROBLEM
STATEMENT</a:t>
            </a:r>
          </a:p>
        </p:txBody>
      </p:sp>
      <p:sp>
        <p:nvSpPr>
          <p:cNvPr id="52" name="Rectangle 51"/>
          <p:cNvSpPr/>
          <p:nvPr/>
        </p:nvSpPr>
        <p:spPr>
          <a:xfrm>
            <a:off x="182880" y="5074920"/>
            <a:ext cx="2743200" cy="36576"/>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64592" y="6446520"/>
            <a:ext cx="2834640" cy="347472"/>
          </a:xfrm>
          <a:prstGeom prst="rect">
            <a:avLst/>
          </a:prstGeom>
          <a:noFill/>
        </p:spPr>
        <p:txBody>
          <a:bodyPr wrap="square">
            <a:spAutoFit/>
          </a:bodyPr>
          <a:lstStyle/>
          <a:p>
            <a:pPr algn="l"/>
            <a:r>
              <a:rPr sz="1000" b="0" i="1">
                <a:solidFill>
                  <a:srgbClr val="F5C542"/>
                </a:solidFill>
              </a:rPr>
              <a:t>The Invisible Evidence Gap</a:t>
            </a:r>
          </a:p>
        </p:txBody>
      </p:sp>
      <p:sp>
        <p:nvSpPr>
          <p:cNvPr id="54" name="TextBox 53"/>
          <p:cNvSpPr txBox="1"/>
          <p:nvPr/>
        </p:nvSpPr>
        <p:spPr>
          <a:xfrm>
            <a:off x="8778240" y="91440"/>
            <a:ext cx="3200400" cy="365760"/>
          </a:xfrm>
          <a:prstGeom prst="rect">
            <a:avLst/>
          </a:prstGeom>
          <a:noFill/>
        </p:spPr>
        <p:txBody>
          <a:bodyPr wrap="square">
            <a:spAutoFit/>
          </a:bodyPr>
          <a:lstStyle/>
          <a:p>
            <a:pPr algn="r"/>
            <a:r>
              <a:rPr sz="900" b="0" i="0">
                <a:solidFill>
                  <a:srgbClr val="C9836B"/>
                </a:solidFill>
              </a:rPr>
              <a:t>HopeWorks  ✦  AI4India</a:t>
            </a:r>
          </a:p>
        </p:txBody>
      </p:sp>
      <p:sp>
        <p:nvSpPr>
          <p:cNvPr id="55" name="Oval 54"/>
          <p:cNvSpPr/>
          <p:nvPr/>
        </p:nvSpPr>
        <p:spPr>
          <a:xfrm>
            <a:off x="109728" y="91440"/>
            <a:ext cx="621792" cy="621792"/>
          </a:xfrm>
          <a:prstGeom prst="ellipse">
            <a:avLst/>
          </a:prstGeom>
          <a:solidFill>
            <a:srgbClr val="5C0F26"/>
          </a:solidFill>
          <a:ln w="1905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9728" y="91440"/>
            <a:ext cx="621792" cy="621792"/>
          </a:xfrm>
          <a:prstGeom prst="rect">
            <a:avLst/>
          </a:prstGeom>
          <a:noFill/>
        </p:spPr>
        <p:txBody>
          <a:bodyPr wrap="square">
            <a:spAutoFit/>
          </a:bodyPr>
          <a:lstStyle/>
          <a:p>
            <a:pPr algn="ctr"/>
            <a:r>
              <a:rPr sz="1500" b="1" i="0">
                <a:solidFill>
                  <a:srgbClr val="E8920A"/>
                </a:solidFill>
              </a:rPr>
              <a:t>AI</a:t>
            </a:r>
          </a:p>
        </p:txBody>
      </p:sp>
      <p:sp>
        <p:nvSpPr>
          <p:cNvPr id="57" name="Rectangle 56"/>
          <p:cNvSpPr/>
          <p:nvPr/>
        </p:nvSpPr>
        <p:spPr>
          <a:xfrm>
            <a:off x="3822191" y="164592"/>
            <a:ext cx="45720" cy="6492240"/>
          </a:xfrm>
          <a:prstGeom prst="rect">
            <a:avLst/>
          </a:prstGeom>
          <a:solidFill>
            <a:srgbClr val="403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3721608" y="713232"/>
            <a:ext cx="228600" cy="228600"/>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3721608" y="2176272"/>
            <a:ext cx="228600" cy="228600"/>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3721608" y="3547872"/>
            <a:ext cx="228600" cy="228600"/>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3721608" y="4965192"/>
            <a:ext cx="228600" cy="228600"/>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114800" y="347472"/>
            <a:ext cx="7909560" cy="329184"/>
          </a:xfrm>
          <a:prstGeom prst="rect">
            <a:avLst/>
          </a:prstGeom>
          <a:noFill/>
        </p:spPr>
        <p:txBody>
          <a:bodyPr wrap="square">
            <a:spAutoFit/>
          </a:bodyPr>
          <a:lstStyle/>
          <a:p>
            <a:pPr algn="l"/>
            <a:r>
              <a:rPr sz="1250" b="1" i="0">
                <a:solidFill>
                  <a:srgbClr val="F5C542"/>
                </a:solidFill>
              </a:rPr>
              <a:t>Problem Statement</a:t>
            </a:r>
          </a:p>
        </p:txBody>
      </p:sp>
      <p:sp>
        <p:nvSpPr>
          <p:cNvPr id="63" name="TextBox 62"/>
          <p:cNvSpPr txBox="1"/>
          <p:nvPr/>
        </p:nvSpPr>
        <p:spPr>
          <a:xfrm>
            <a:off x="4114800" y="676656"/>
            <a:ext cx="7909560" cy="1005840"/>
          </a:xfrm>
          <a:prstGeom prst="rect">
            <a:avLst/>
          </a:prstGeom>
          <a:noFill/>
        </p:spPr>
        <p:txBody>
          <a:bodyPr wrap="square">
            <a:spAutoFit/>
          </a:bodyPr>
          <a:lstStyle/>
          <a:p>
            <a:pPr algn="l"/>
            <a:r>
              <a:rPr sz="1150" b="0" i="0">
                <a:solidFill>
                  <a:srgbClr val="F5F0E8"/>
                </a:solidFill>
              </a:rPr>
              <a:t>Shared phones make safety and rights invisible for 180M+ Indian women.</a:t>
            </a:r>
          </a:p>
        </p:txBody>
      </p:sp>
      <p:sp>
        <p:nvSpPr>
          <p:cNvPr id="64" name="TextBox 63"/>
          <p:cNvSpPr txBox="1"/>
          <p:nvPr/>
        </p:nvSpPr>
        <p:spPr>
          <a:xfrm>
            <a:off x="4114800" y="1810512"/>
            <a:ext cx="7909560" cy="329184"/>
          </a:xfrm>
          <a:prstGeom prst="rect">
            <a:avLst/>
          </a:prstGeom>
          <a:noFill/>
        </p:spPr>
        <p:txBody>
          <a:bodyPr wrap="square">
            <a:spAutoFit/>
          </a:bodyPr>
          <a:lstStyle/>
          <a:p>
            <a:pPr algn="l"/>
            <a:r>
              <a:rPr sz="1250" b="1" i="0">
                <a:solidFill>
                  <a:srgbClr val="E8920A"/>
                </a:solidFill>
              </a:rPr>
              <a:t>Problem Statement Expansion</a:t>
            </a:r>
          </a:p>
        </p:txBody>
      </p:sp>
      <p:sp>
        <p:nvSpPr>
          <p:cNvPr id="65" name="TextBox 64"/>
          <p:cNvSpPr txBox="1"/>
          <p:nvPr/>
        </p:nvSpPr>
        <p:spPr>
          <a:xfrm>
            <a:off x="4114800" y="2139696"/>
            <a:ext cx="7909560" cy="1005840"/>
          </a:xfrm>
          <a:prstGeom prst="rect">
            <a:avLst/>
          </a:prstGeom>
          <a:noFill/>
        </p:spPr>
        <p:txBody>
          <a:bodyPr wrap="square">
            <a:spAutoFit/>
          </a:bodyPr>
          <a:lstStyle/>
          <a:p>
            <a:pPr algn="l"/>
            <a:r>
              <a:rPr sz="1150" b="0" i="0">
                <a:solidFill>
                  <a:srgbClr val="F5F0E8"/>
                </a:solidFill>
              </a:rPr>
              <a:t>Most women's safety tools assume individual smartphone ownership, stable internet, and English literacy. 43% of Indian women don't own a phone. 58% in rural areas share devices with those they need protection from. Any visible app is a danger.</a:t>
            </a:r>
          </a:p>
        </p:txBody>
      </p:sp>
      <p:sp>
        <p:nvSpPr>
          <p:cNvPr id="66" name="TextBox 65"/>
          <p:cNvSpPr txBox="1"/>
          <p:nvPr/>
        </p:nvSpPr>
        <p:spPr>
          <a:xfrm>
            <a:off x="4114800" y="3273552"/>
            <a:ext cx="7909560" cy="329184"/>
          </a:xfrm>
          <a:prstGeom prst="rect">
            <a:avLst/>
          </a:prstGeom>
          <a:noFill/>
        </p:spPr>
        <p:txBody>
          <a:bodyPr wrap="square">
            <a:spAutoFit/>
          </a:bodyPr>
          <a:lstStyle/>
          <a:p>
            <a:pPr algn="l"/>
            <a:r>
              <a:rPr sz="1250" b="1" i="0">
                <a:solidFill>
                  <a:srgbClr val="D4597A"/>
                </a:solidFill>
              </a:rPr>
              <a:t>How it manifests for the user</a:t>
            </a:r>
          </a:p>
        </p:txBody>
      </p:sp>
      <p:sp>
        <p:nvSpPr>
          <p:cNvPr id="67" name="TextBox 66"/>
          <p:cNvSpPr txBox="1"/>
          <p:nvPr/>
        </p:nvSpPr>
        <p:spPr>
          <a:xfrm>
            <a:off x="4114800" y="3602736"/>
            <a:ext cx="7909560" cy="1005840"/>
          </a:xfrm>
          <a:prstGeom prst="rect">
            <a:avLst/>
          </a:prstGeom>
          <a:noFill/>
        </p:spPr>
        <p:txBody>
          <a:bodyPr wrap="square">
            <a:spAutoFit/>
          </a:bodyPr>
          <a:lstStyle/>
          <a:p>
            <a:pPr algn="l"/>
            <a:r>
              <a:rPr sz="1150" b="0" i="0">
                <a:solidFill>
                  <a:srgbClr val="F5F0E8"/>
                </a:solidFill>
              </a:rPr>
              <a:t>Safety apps are visible on shared devices — a DV survivor cannot install them. Complex UI excludes WhatsApp-first users. SOS-only tools miss legal aid, evidence documentation, and scheme access.</a:t>
            </a:r>
          </a:p>
        </p:txBody>
      </p:sp>
      <p:sp>
        <p:nvSpPr>
          <p:cNvPr id="68" name="TextBox 67"/>
          <p:cNvSpPr txBox="1"/>
          <p:nvPr/>
        </p:nvSpPr>
        <p:spPr>
          <a:xfrm>
            <a:off x="4114800" y="4736592"/>
            <a:ext cx="7909560" cy="329184"/>
          </a:xfrm>
          <a:prstGeom prst="rect">
            <a:avLst/>
          </a:prstGeom>
          <a:noFill/>
        </p:spPr>
        <p:txBody>
          <a:bodyPr wrap="square">
            <a:spAutoFit/>
          </a:bodyPr>
          <a:lstStyle/>
          <a:p>
            <a:pPr algn="l"/>
            <a:r>
              <a:rPr sz="1250" b="1" i="0">
                <a:solidFill>
                  <a:srgbClr val="C9836B"/>
                </a:solidFill>
              </a:rPr>
              <a:t>How it impacts the user or client</a:t>
            </a:r>
          </a:p>
        </p:txBody>
      </p:sp>
      <p:sp>
        <p:nvSpPr>
          <p:cNvPr id="69" name="TextBox 68"/>
          <p:cNvSpPr txBox="1"/>
          <p:nvPr/>
        </p:nvSpPr>
        <p:spPr>
          <a:xfrm>
            <a:off x="4114800" y="5065776"/>
            <a:ext cx="7909560" cy="1005840"/>
          </a:xfrm>
          <a:prstGeom prst="rect">
            <a:avLst/>
          </a:prstGeom>
          <a:noFill/>
        </p:spPr>
        <p:txBody>
          <a:bodyPr wrap="square">
            <a:spAutoFit/>
          </a:bodyPr>
          <a:lstStyle/>
          <a:p>
            <a:pPr algn="l"/>
            <a:r>
              <a:rPr sz="1150" b="0" i="0">
                <a:solidFill>
                  <a:srgbClr val="F5F0E8"/>
                </a:solidFill>
              </a:rPr>
              <a:t>Abuse stays undocumented and cases collapse. Women miss legal aid, government schemes, and care. Institutions exist — OSCs, NALSA, ASHA — but the last-mile connection fails the women who need it most.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724"/>
        </a:solidFill>
        <a:effectLst/>
      </p:bgPr>
    </p:bg>
    <p:spTree>
      <p:nvGrpSpPr>
        <p:cNvPr id="1" name=""/>
        <p:cNvGrpSpPr/>
        <p:nvPr/>
      </p:nvGrpSpPr>
      <p:grpSpPr/>
      <p:pic>
        <p:nvPicPr>
          <p:cNvPr id="2" name="Picture 1" descr="warli_painting.jpg"/>
          <p:cNvPicPr>
            <a:picLocks noChangeAspect="1"/>
          </p:cNvPicPr>
          <p:nvPr/>
        </p:nvPicPr>
        <p:blipFill>
          <a:blip r:embed="rId2"/>
          <a:stretch>
            <a:fillRect/>
          </a:stretch>
        </p:blipFill>
        <p:spPr>
          <a:xfrm>
            <a:off x="6263640" y="0"/>
            <a:ext cx="5925312" cy="6858000"/>
          </a:xfrm>
          <a:prstGeom prst="rect">
            <a:avLst/>
          </a:prstGeom>
        </p:spPr>
      </p:pic>
      <p:sp>
        <p:nvSpPr>
          <p:cNvPr id="3" name="Oval 2"/>
          <p:cNvSpPr/>
          <p:nvPr/>
        </p:nvSpPr>
        <p:spPr>
          <a:xfrm>
            <a:off x="11795760" y="3346704"/>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665973" y="4166142"/>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89318" y="4905369"/>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702665" y="5492022"/>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963438" y="5868677"/>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0" y="5998464"/>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324561" y="5868677"/>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585334" y="5492022"/>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998681" y="4905369"/>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622026" y="4166142"/>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92240" y="3346704"/>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22026" y="2527265"/>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998681" y="1788038"/>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585334" y="1201385"/>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324561" y="824730"/>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0" y="694944"/>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3438" y="824730"/>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702665" y="1201385"/>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289318" y="1788038"/>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665973" y="2527265"/>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0" y="91440"/>
            <a:ext cx="3200400" cy="365760"/>
          </a:xfrm>
          <a:prstGeom prst="rect">
            <a:avLst/>
          </a:prstGeom>
          <a:noFill/>
        </p:spPr>
        <p:txBody>
          <a:bodyPr wrap="square">
            <a:spAutoFit/>
          </a:bodyPr>
          <a:lstStyle/>
          <a:p>
            <a:pPr algn="r"/>
            <a:r>
              <a:rPr sz="900" b="0" i="0">
                <a:solidFill>
                  <a:srgbClr val="C9836B"/>
                </a:solidFill>
              </a:rPr>
              <a:t>HopeWorks  ✦  AI4India</a:t>
            </a:r>
          </a:p>
        </p:txBody>
      </p:sp>
      <p:sp>
        <p:nvSpPr>
          <p:cNvPr id="24" name="Oval 23"/>
          <p:cNvSpPr/>
          <p:nvPr/>
        </p:nvSpPr>
        <p:spPr>
          <a:xfrm>
            <a:off x="109728" y="91440"/>
            <a:ext cx="621792" cy="621792"/>
          </a:xfrm>
          <a:prstGeom prst="ellipse">
            <a:avLst/>
          </a:prstGeom>
          <a:solidFill>
            <a:srgbClr val="5C0F26"/>
          </a:solidFill>
          <a:ln w="1905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 y="91440"/>
            <a:ext cx="621792" cy="621792"/>
          </a:xfrm>
          <a:prstGeom prst="rect">
            <a:avLst/>
          </a:prstGeom>
          <a:noFill/>
        </p:spPr>
        <p:txBody>
          <a:bodyPr wrap="square">
            <a:spAutoFit/>
          </a:bodyPr>
          <a:lstStyle/>
          <a:p>
            <a:pPr algn="ctr"/>
            <a:r>
              <a:rPr sz="1500" b="1" i="0">
                <a:solidFill>
                  <a:srgbClr val="E8920A"/>
                </a:solidFill>
              </a:rPr>
              <a:t>AI</a:t>
            </a:r>
          </a:p>
        </p:txBody>
      </p:sp>
      <p:sp>
        <p:nvSpPr>
          <p:cNvPr id="26" name="Rectangle 25"/>
          <p:cNvSpPr/>
          <p:nvPr/>
        </p:nvSpPr>
        <p:spPr>
          <a:xfrm>
            <a:off x="256032" y="411480"/>
            <a:ext cx="5833872" cy="6309360"/>
          </a:xfrm>
          <a:prstGeom prst="rect">
            <a:avLst/>
          </a:prstGeom>
          <a:solidFill>
            <a:srgbClr val="120832"/>
          </a:solidFill>
          <a:ln w="1905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56032" y="411480"/>
            <a:ext cx="5833872" cy="45720"/>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530352"/>
            <a:ext cx="5303520" cy="594360"/>
          </a:xfrm>
          <a:prstGeom prst="rect">
            <a:avLst/>
          </a:prstGeom>
          <a:noFill/>
        </p:spPr>
        <p:txBody>
          <a:bodyPr wrap="square">
            <a:spAutoFit/>
          </a:bodyPr>
          <a:lstStyle/>
          <a:p>
            <a:pPr algn="l"/>
            <a:r>
              <a:rPr sz="3000" b="1" i="0">
                <a:solidFill>
                  <a:srgbClr val="F5F0E8"/>
                </a:solidFill>
              </a:rPr>
              <a:t>Project Details</a:t>
            </a:r>
          </a:p>
        </p:txBody>
      </p:sp>
      <p:sp>
        <p:nvSpPr>
          <p:cNvPr id="29" name="Rectangle 28"/>
          <p:cNvSpPr/>
          <p:nvPr/>
        </p:nvSpPr>
        <p:spPr>
          <a:xfrm>
            <a:off x="502920" y="1115568"/>
            <a:ext cx="5303520" cy="27432"/>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1234440"/>
            <a:ext cx="5303520" cy="438912"/>
          </a:xfrm>
          <a:prstGeom prst="rect">
            <a:avLst/>
          </a:prstGeom>
          <a:noFill/>
        </p:spPr>
        <p:txBody>
          <a:bodyPr wrap="square">
            <a:spAutoFit/>
          </a:bodyPr>
          <a:lstStyle/>
          <a:p>
            <a:pPr algn="l"/>
            <a:r>
              <a:rPr sz="2000" b="1" i="0">
                <a:solidFill>
                  <a:srgbClr val="E8920A"/>
                </a:solidFill>
              </a:rPr>
              <a:t>SAHELI  (सहेली)</a:t>
            </a:r>
          </a:p>
        </p:txBody>
      </p:sp>
      <p:sp>
        <p:nvSpPr>
          <p:cNvPr id="31" name="TextBox 30"/>
          <p:cNvSpPr txBox="1"/>
          <p:nvPr/>
        </p:nvSpPr>
        <p:spPr>
          <a:xfrm>
            <a:off x="502920" y="1737360"/>
            <a:ext cx="5394960" cy="1508760"/>
          </a:xfrm>
          <a:prstGeom prst="rect">
            <a:avLst/>
          </a:prstGeom>
          <a:noFill/>
        </p:spPr>
        <p:txBody>
          <a:bodyPr wrap="square">
            <a:spAutoFit/>
          </a:bodyPr>
          <a:lstStyle/>
          <a:p>
            <a:pPr algn="l"/>
            <a:r>
              <a:rPr sz="1250" b="0" i="0">
                <a:solidFill>
                  <a:srgbClr val="F5F0E8"/>
                </a:solidFill>
              </a:rPr>
              <a:t>A voice-native, stealth-first evidence vault and rights companion disguised as a devotional app. One sentence in Hindi triggers evidence capture, legal guidance, SOS alerts, scheme eligibility, and health screening — all offline-capable on a ₹1,000 phone.</a:t>
            </a:r>
          </a:p>
        </p:txBody>
      </p:sp>
      <p:sp>
        <p:nvSpPr>
          <p:cNvPr id="32" name="Rectangle 31"/>
          <p:cNvSpPr/>
          <p:nvPr/>
        </p:nvSpPr>
        <p:spPr>
          <a:xfrm>
            <a:off x="502920" y="3364992"/>
            <a:ext cx="3200400" cy="347472"/>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6072" y="3392424"/>
            <a:ext cx="3090672" cy="292608"/>
          </a:xfrm>
          <a:prstGeom prst="rect">
            <a:avLst/>
          </a:prstGeom>
          <a:noFill/>
        </p:spPr>
        <p:txBody>
          <a:bodyPr wrap="square">
            <a:spAutoFit/>
          </a:bodyPr>
          <a:lstStyle/>
          <a:p>
            <a:pPr algn="l"/>
            <a:r>
              <a:rPr sz="1000" b="1" i="0">
                <a:solidFill>
                  <a:srgbClr val="0B0724"/>
                </a:solidFill>
              </a:rPr>
              <a:t>DEMOGRAPHIC IT IMPACTS</a:t>
            </a:r>
          </a:p>
        </p:txBody>
      </p:sp>
      <p:sp>
        <p:nvSpPr>
          <p:cNvPr id="34" name="TextBox 33"/>
          <p:cNvSpPr txBox="1"/>
          <p:nvPr/>
        </p:nvSpPr>
        <p:spPr>
          <a:xfrm>
            <a:off x="502920" y="3794760"/>
            <a:ext cx="5394960" cy="1051560"/>
          </a:xfrm>
          <a:prstGeom prst="rect">
            <a:avLst/>
          </a:prstGeom>
          <a:noFill/>
        </p:spPr>
        <p:txBody>
          <a:bodyPr wrap="square">
            <a:spAutoFit/>
          </a:bodyPr>
          <a:lstStyle/>
          <a:p>
            <a:pPr algn="l"/>
            <a:r>
              <a:rPr sz="1250" b="0" i="0">
                <a:solidFill>
                  <a:srgbClr val="F5F0E8"/>
                </a:solidFill>
              </a:rPr>
              <a:t>Women aged 18–45 in tier-2/3 India: shared-phone households, rural users with feature phones, low-literacy survivors navigating abuse, harassment, and health gaps.</a:t>
            </a:r>
          </a:p>
        </p:txBody>
      </p:sp>
      <p:sp>
        <p:nvSpPr>
          <p:cNvPr id="35" name="Rectangle 34"/>
          <p:cNvSpPr/>
          <p:nvPr/>
        </p:nvSpPr>
        <p:spPr>
          <a:xfrm>
            <a:off x="502920" y="4956048"/>
            <a:ext cx="2560320" cy="347472"/>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76072" y="4983480"/>
            <a:ext cx="2450591" cy="292608"/>
          </a:xfrm>
          <a:prstGeom prst="rect">
            <a:avLst/>
          </a:prstGeom>
          <a:noFill/>
        </p:spPr>
        <p:txBody>
          <a:bodyPr wrap="square">
            <a:spAutoFit/>
          </a:bodyPr>
          <a:lstStyle/>
          <a:p>
            <a:pPr algn="l"/>
            <a:r>
              <a:rPr sz="1000" b="1" i="0">
                <a:solidFill>
                  <a:srgbClr val="0B0724"/>
                </a:solidFill>
              </a:rPr>
              <a:t>COMPETITION TRACK</a:t>
            </a:r>
          </a:p>
        </p:txBody>
      </p:sp>
      <p:sp>
        <p:nvSpPr>
          <p:cNvPr id="37" name="TextBox 36"/>
          <p:cNvSpPr txBox="1"/>
          <p:nvPr/>
        </p:nvSpPr>
        <p:spPr>
          <a:xfrm>
            <a:off x="502920" y="5376672"/>
            <a:ext cx="5394960" cy="347472"/>
          </a:xfrm>
          <a:prstGeom prst="rect">
            <a:avLst/>
          </a:prstGeom>
          <a:noFill/>
        </p:spPr>
        <p:txBody>
          <a:bodyPr wrap="square">
            <a:spAutoFit/>
          </a:bodyPr>
          <a:lstStyle/>
          <a:p>
            <a:pPr algn="l"/>
            <a:r>
              <a:rPr sz="1150" b="0" i="0">
                <a:solidFill>
                  <a:srgbClr val="C9836B"/>
                </a:solidFill>
              </a:rPr>
              <a:t>Health &amp; Well-Being  ✦  Smart Cities  ✦  Education</a:t>
            </a:r>
          </a:p>
        </p:txBody>
      </p:sp>
      <p:sp>
        <p:nvSpPr>
          <p:cNvPr id="38" name="Rectangle 37"/>
          <p:cNvSpPr/>
          <p:nvPr/>
        </p:nvSpPr>
        <p:spPr>
          <a:xfrm>
            <a:off x="256032" y="6675120"/>
            <a:ext cx="5833872" cy="36576"/>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724"/>
        </a:solidFill>
        <a:effectLst/>
      </p:bgPr>
    </p:bg>
    <p:spTree>
      <p:nvGrpSpPr>
        <p:cNvPr id="1" name=""/>
        <p:cNvGrpSpPr/>
        <p:nvPr/>
      </p:nvGrpSpPr>
      <p:grpSpPr/>
      <p:pic>
        <p:nvPicPr>
          <p:cNvPr id="2" name="Picture 1" descr="sankranthi.jpg"/>
          <p:cNvPicPr>
            <a:picLocks noChangeAspect="1"/>
          </p:cNvPicPr>
          <p:nvPr/>
        </p:nvPicPr>
        <p:blipFill>
          <a:blip r:embed="rId2"/>
          <a:stretch>
            <a:fillRect/>
          </a:stretch>
        </p:blipFill>
        <p:spPr>
          <a:xfrm>
            <a:off x="6263640" y="0"/>
            <a:ext cx="5925312" cy="6858000"/>
          </a:xfrm>
          <a:prstGeom prst="rect">
            <a:avLst/>
          </a:prstGeom>
        </p:spPr>
      </p:pic>
      <p:sp>
        <p:nvSpPr>
          <p:cNvPr id="3" name="Oval 2"/>
          <p:cNvSpPr/>
          <p:nvPr/>
        </p:nvSpPr>
        <p:spPr>
          <a:xfrm>
            <a:off x="11795760" y="334670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665973" y="4166142"/>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89318" y="4905369"/>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702665" y="5492022"/>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963438" y="5868677"/>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0" y="599846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324561" y="5868677"/>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585334" y="5492022"/>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998681" y="4905369"/>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622026" y="4166142"/>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92240" y="334670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22026" y="2527265"/>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998681" y="1788038"/>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585334" y="1201385"/>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324561" y="824730"/>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0" y="69494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3438" y="824730"/>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702665" y="1201385"/>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289318" y="1788038"/>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665973" y="2527265"/>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0" y="91440"/>
            <a:ext cx="3200400" cy="365760"/>
          </a:xfrm>
          <a:prstGeom prst="rect">
            <a:avLst/>
          </a:prstGeom>
          <a:noFill/>
        </p:spPr>
        <p:txBody>
          <a:bodyPr wrap="square">
            <a:spAutoFit/>
          </a:bodyPr>
          <a:lstStyle/>
          <a:p>
            <a:pPr algn="r"/>
            <a:r>
              <a:rPr sz="900" b="0" i="0">
                <a:solidFill>
                  <a:srgbClr val="C9836B"/>
                </a:solidFill>
              </a:rPr>
              <a:t>HopeWorks  ✦  AI4India</a:t>
            </a:r>
          </a:p>
        </p:txBody>
      </p:sp>
      <p:sp>
        <p:nvSpPr>
          <p:cNvPr id="24" name="Oval 23"/>
          <p:cNvSpPr/>
          <p:nvPr/>
        </p:nvSpPr>
        <p:spPr>
          <a:xfrm>
            <a:off x="109728" y="91440"/>
            <a:ext cx="621792" cy="621792"/>
          </a:xfrm>
          <a:prstGeom prst="ellipse">
            <a:avLst/>
          </a:prstGeom>
          <a:solidFill>
            <a:srgbClr val="5C0F26"/>
          </a:solidFill>
          <a:ln w="1905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 y="91440"/>
            <a:ext cx="621792" cy="621792"/>
          </a:xfrm>
          <a:prstGeom prst="rect">
            <a:avLst/>
          </a:prstGeom>
          <a:noFill/>
        </p:spPr>
        <p:txBody>
          <a:bodyPr wrap="square">
            <a:spAutoFit/>
          </a:bodyPr>
          <a:lstStyle/>
          <a:p>
            <a:pPr algn="ctr"/>
            <a:r>
              <a:rPr sz="1500" b="1" i="0">
                <a:solidFill>
                  <a:srgbClr val="E8920A"/>
                </a:solidFill>
              </a:rPr>
              <a:t>AI</a:t>
            </a:r>
          </a:p>
        </p:txBody>
      </p:sp>
      <p:sp>
        <p:nvSpPr>
          <p:cNvPr id="26" name="TextBox 25"/>
          <p:cNvSpPr txBox="1"/>
          <p:nvPr/>
        </p:nvSpPr>
        <p:spPr>
          <a:xfrm>
            <a:off x="914400" y="201168"/>
            <a:ext cx="5120640" cy="566928"/>
          </a:xfrm>
          <a:prstGeom prst="rect">
            <a:avLst/>
          </a:prstGeom>
          <a:noFill/>
        </p:spPr>
        <p:txBody>
          <a:bodyPr wrap="square">
            <a:spAutoFit/>
          </a:bodyPr>
          <a:lstStyle/>
          <a:p>
            <a:pPr algn="l"/>
            <a:r>
              <a:rPr sz="2600" b="1" i="0">
                <a:solidFill>
                  <a:srgbClr val="F5F0E8"/>
                </a:solidFill>
              </a:rPr>
              <a:t>Saheli Design Principles</a:t>
            </a:r>
          </a:p>
        </p:txBody>
      </p:sp>
      <p:sp>
        <p:nvSpPr>
          <p:cNvPr id="27" name="Rectangle 26"/>
          <p:cNvSpPr/>
          <p:nvPr/>
        </p:nvSpPr>
        <p:spPr>
          <a:xfrm>
            <a:off x="914400" y="786384"/>
            <a:ext cx="5120640" cy="36576"/>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877824"/>
            <a:ext cx="5120640" cy="329184"/>
          </a:xfrm>
          <a:prstGeom prst="rect">
            <a:avLst/>
          </a:prstGeom>
          <a:noFill/>
        </p:spPr>
        <p:txBody>
          <a:bodyPr wrap="square">
            <a:spAutoFit/>
          </a:bodyPr>
          <a:lstStyle/>
          <a:p>
            <a:pPr algn="l"/>
            <a:r>
              <a:rPr sz="1200" b="0" i="1">
                <a:solidFill>
                  <a:srgbClr val="E8920A"/>
                </a:solidFill>
              </a:rPr>
              <a:t>Built for real humans, not hypothetical users.</a:t>
            </a:r>
          </a:p>
        </p:txBody>
      </p:sp>
      <p:sp>
        <p:nvSpPr>
          <p:cNvPr id="29" name="Rectangle 28"/>
          <p:cNvSpPr/>
          <p:nvPr/>
        </p:nvSpPr>
        <p:spPr>
          <a:xfrm>
            <a:off x="256032" y="1298448"/>
            <a:ext cx="5833872" cy="5486400"/>
          </a:xfrm>
          <a:prstGeom prst="rect">
            <a:avLst/>
          </a:prstGeom>
          <a:solidFill>
            <a:srgbClr val="120832"/>
          </a:solid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 y="1435608"/>
            <a:ext cx="347472" cy="475488"/>
          </a:xfrm>
          <a:prstGeom prst="rect">
            <a:avLst/>
          </a:prstGeom>
          <a:noFill/>
        </p:spPr>
        <p:txBody>
          <a:bodyPr wrap="square">
            <a:spAutoFit/>
          </a:bodyPr>
          <a:lstStyle/>
          <a:p>
            <a:pPr algn="l"/>
            <a:r>
              <a:rPr sz="1200" b="1" i="0">
                <a:solidFill>
                  <a:srgbClr val="E8920A"/>
                </a:solidFill>
              </a:rPr>
              <a:t>✦</a:t>
            </a:r>
          </a:p>
        </p:txBody>
      </p:sp>
      <p:sp>
        <p:nvSpPr>
          <p:cNvPr id="31" name="TextBox 30"/>
          <p:cNvSpPr txBox="1"/>
          <p:nvPr/>
        </p:nvSpPr>
        <p:spPr>
          <a:xfrm>
            <a:off x="749808" y="1435608"/>
            <a:ext cx="5212080" cy="475488"/>
          </a:xfrm>
          <a:prstGeom prst="rect">
            <a:avLst/>
          </a:prstGeom>
          <a:noFill/>
        </p:spPr>
        <p:txBody>
          <a:bodyPr wrap="square">
            <a:spAutoFit/>
          </a:bodyPr>
          <a:lstStyle/>
          <a:p>
            <a:pPr algn="l"/>
            <a:r>
              <a:rPr sz="1250" b="0" i="0">
                <a:solidFill>
                  <a:srgbClr val="F5F0E8"/>
                </a:solidFill>
              </a:rPr>
              <a:t>Voice-first: one conversation replaces every form and every menu</a:t>
            </a:r>
          </a:p>
        </p:txBody>
      </p:sp>
      <p:sp>
        <p:nvSpPr>
          <p:cNvPr id="32" name="TextBox 31"/>
          <p:cNvSpPr txBox="1"/>
          <p:nvPr/>
        </p:nvSpPr>
        <p:spPr>
          <a:xfrm>
            <a:off x="384048" y="2057400"/>
            <a:ext cx="347472" cy="475488"/>
          </a:xfrm>
          <a:prstGeom prst="rect">
            <a:avLst/>
          </a:prstGeom>
          <a:noFill/>
        </p:spPr>
        <p:txBody>
          <a:bodyPr wrap="square">
            <a:spAutoFit/>
          </a:bodyPr>
          <a:lstStyle/>
          <a:p>
            <a:pPr algn="l"/>
            <a:r>
              <a:rPr sz="1200" b="1" i="0">
                <a:solidFill>
                  <a:srgbClr val="E8920A"/>
                </a:solidFill>
              </a:rPr>
              <a:t>✦</a:t>
            </a:r>
          </a:p>
        </p:txBody>
      </p:sp>
      <p:sp>
        <p:nvSpPr>
          <p:cNvPr id="33" name="TextBox 32"/>
          <p:cNvSpPr txBox="1"/>
          <p:nvPr/>
        </p:nvSpPr>
        <p:spPr>
          <a:xfrm>
            <a:off x="749808" y="2057400"/>
            <a:ext cx="5212080" cy="475488"/>
          </a:xfrm>
          <a:prstGeom prst="rect">
            <a:avLst/>
          </a:prstGeom>
          <a:noFill/>
        </p:spPr>
        <p:txBody>
          <a:bodyPr wrap="square">
            <a:spAutoFit/>
          </a:bodyPr>
          <a:lstStyle/>
          <a:p>
            <a:pPr algn="l"/>
            <a:r>
              <a:rPr sz="1250" b="0" i="0">
                <a:solidFill>
                  <a:srgbClr val="F5F0E8"/>
                </a:solidFill>
              </a:rPr>
              <a:t>Stealth-first: invisible on shared phones, hidden inside a devotional app</a:t>
            </a:r>
          </a:p>
        </p:txBody>
      </p:sp>
      <p:sp>
        <p:nvSpPr>
          <p:cNvPr id="34" name="TextBox 33"/>
          <p:cNvSpPr txBox="1"/>
          <p:nvPr/>
        </p:nvSpPr>
        <p:spPr>
          <a:xfrm>
            <a:off x="384048" y="2679192"/>
            <a:ext cx="347472" cy="475488"/>
          </a:xfrm>
          <a:prstGeom prst="rect">
            <a:avLst/>
          </a:prstGeom>
          <a:noFill/>
        </p:spPr>
        <p:txBody>
          <a:bodyPr wrap="square">
            <a:spAutoFit/>
          </a:bodyPr>
          <a:lstStyle/>
          <a:p>
            <a:pPr algn="l"/>
            <a:r>
              <a:rPr sz="1200" b="1" i="0">
                <a:solidFill>
                  <a:srgbClr val="E8920A"/>
                </a:solidFill>
              </a:rPr>
              <a:t>✦</a:t>
            </a:r>
          </a:p>
        </p:txBody>
      </p:sp>
      <p:sp>
        <p:nvSpPr>
          <p:cNvPr id="35" name="TextBox 34"/>
          <p:cNvSpPr txBox="1"/>
          <p:nvPr/>
        </p:nvSpPr>
        <p:spPr>
          <a:xfrm>
            <a:off x="749808" y="2679192"/>
            <a:ext cx="5212080" cy="475488"/>
          </a:xfrm>
          <a:prstGeom prst="rect">
            <a:avLst/>
          </a:prstGeom>
          <a:noFill/>
        </p:spPr>
        <p:txBody>
          <a:bodyPr wrap="square">
            <a:spAutoFit/>
          </a:bodyPr>
          <a:lstStyle/>
          <a:p>
            <a:pPr algn="l"/>
            <a:r>
              <a:rPr sz="1250" b="0" i="0">
                <a:solidFill>
                  <a:srgbClr val="F5F0E8"/>
                </a:solidFill>
              </a:rPr>
              <a:t>Offline-first: works on ₹1,000 phones with zero data plan</a:t>
            </a:r>
          </a:p>
        </p:txBody>
      </p:sp>
      <p:sp>
        <p:nvSpPr>
          <p:cNvPr id="36" name="TextBox 35"/>
          <p:cNvSpPr txBox="1"/>
          <p:nvPr/>
        </p:nvSpPr>
        <p:spPr>
          <a:xfrm>
            <a:off x="384048" y="3300984"/>
            <a:ext cx="347472" cy="475488"/>
          </a:xfrm>
          <a:prstGeom prst="rect">
            <a:avLst/>
          </a:prstGeom>
          <a:noFill/>
        </p:spPr>
        <p:txBody>
          <a:bodyPr wrap="square">
            <a:spAutoFit/>
          </a:bodyPr>
          <a:lstStyle/>
          <a:p>
            <a:pPr algn="l"/>
            <a:r>
              <a:rPr sz="1200" b="1" i="0">
                <a:solidFill>
                  <a:srgbClr val="E8920A"/>
                </a:solidFill>
              </a:rPr>
              <a:t>✦</a:t>
            </a:r>
          </a:p>
        </p:txBody>
      </p:sp>
      <p:sp>
        <p:nvSpPr>
          <p:cNvPr id="37" name="TextBox 36"/>
          <p:cNvSpPr txBox="1"/>
          <p:nvPr/>
        </p:nvSpPr>
        <p:spPr>
          <a:xfrm>
            <a:off x="749808" y="3300984"/>
            <a:ext cx="5212080" cy="475488"/>
          </a:xfrm>
          <a:prstGeom prst="rect">
            <a:avLst/>
          </a:prstGeom>
          <a:noFill/>
        </p:spPr>
        <p:txBody>
          <a:bodyPr wrap="square">
            <a:spAutoFit/>
          </a:bodyPr>
          <a:lstStyle/>
          <a:p>
            <a:pPr algn="l"/>
            <a:r>
              <a:rPr sz="1250" b="0" i="0">
                <a:solidFill>
                  <a:srgbClr val="F5F0E8"/>
                </a:solidFill>
              </a:rPr>
              <a:t>Build for need and necessity — not comfort and convenience</a:t>
            </a:r>
          </a:p>
        </p:txBody>
      </p:sp>
      <p:sp>
        <p:nvSpPr>
          <p:cNvPr id="38" name="TextBox 37"/>
          <p:cNvSpPr txBox="1"/>
          <p:nvPr/>
        </p:nvSpPr>
        <p:spPr>
          <a:xfrm>
            <a:off x="384048" y="3922776"/>
            <a:ext cx="347472" cy="475488"/>
          </a:xfrm>
          <a:prstGeom prst="rect">
            <a:avLst/>
          </a:prstGeom>
          <a:noFill/>
        </p:spPr>
        <p:txBody>
          <a:bodyPr wrap="square">
            <a:spAutoFit/>
          </a:bodyPr>
          <a:lstStyle/>
          <a:p>
            <a:pPr algn="l"/>
            <a:r>
              <a:rPr sz="1200" b="1" i="0">
                <a:solidFill>
                  <a:srgbClr val="E8920A"/>
                </a:solidFill>
              </a:rPr>
              <a:t>✦</a:t>
            </a:r>
          </a:p>
        </p:txBody>
      </p:sp>
      <p:sp>
        <p:nvSpPr>
          <p:cNvPr id="39" name="TextBox 38"/>
          <p:cNvSpPr txBox="1"/>
          <p:nvPr/>
        </p:nvSpPr>
        <p:spPr>
          <a:xfrm>
            <a:off x="749808" y="3922776"/>
            <a:ext cx="5212080" cy="475488"/>
          </a:xfrm>
          <a:prstGeom prst="rect">
            <a:avLst/>
          </a:prstGeom>
          <a:noFill/>
        </p:spPr>
        <p:txBody>
          <a:bodyPr wrap="square">
            <a:spAutoFit/>
          </a:bodyPr>
          <a:lstStyle/>
          <a:p>
            <a:pPr algn="l"/>
            <a:r>
              <a:rPr sz="1250" b="0" i="0">
                <a:solidFill>
                  <a:srgbClr val="F5F0E8"/>
                </a:solidFill>
              </a:rPr>
              <a:t>Assume constraints, not perfect conditions</a:t>
            </a:r>
          </a:p>
        </p:txBody>
      </p:sp>
      <p:sp>
        <p:nvSpPr>
          <p:cNvPr id="40" name="TextBox 39"/>
          <p:cNvSpPr txBox="1"/>
          <p:nvPr/>
        </p:nvSpPr>
        <p:spPr>
          <a:xfrm>
            <a:off x="384048" y="4544568"/>
            <a:ext cx="347472" cy="475488"/>
          </a:xfrm>
          <a:prstGeom prst="rect">
            <a:avLst/>
          </a:prstGeom>
          <a:noFill/>
        </p:spPr>
        <p:txBody>
          <a:bodyPr wrap="square">
            <a:spAutoFit/>
          </a:bodyPr>
          <a:lstStyle/>
          <a:p>
            <a:pPr algn="l"/>
            <a:r>
              <a:rPr sz="1200" b="1" i="0">
                <a:solidFill>
                  <a:srgbClr val="E8920A"/>
                </a:solidFill>
              </a:rPr>
              <a:t>✦</a:t>
            </a:r>
          </a:p>
        </p:txBody>
      </p:sp>
      <p:sp>
        <p:nvSpPr>
          <p:cNvPr id="41" name="TextBox 40"/>
          <p:cNvSpPr txBox="1"/>
          <p:nvPr/>
        </p:nvSpPr>
        <p:spPr>
          <a:xfrm>
            <a:off x="749808" y="4544568"/>
            <a:ext cx="5212080" cy="475488"/>
          </a:xfrm>
          <a:prstGeom prst="rect">
            <a:avLst/>
          </a:prstGeom>
          <a:noFill/>
        </p:spPr>
        <p:txBody>
          <a:bodyPr wrap="square">
            <a:spAutoFit/>
          </a:bodyPr>
          <a:lstStyle/>
          <a:p>
            <a:pPr algn="l"/>
            <a:r>
              <a:rPr sz="1250" b="0" i="0">
                <a:solidFill>
                  <a:srgbClr val="F5F0E8"/>
                </a:solidFill>
              </a:rPr>
              <a:t>Design for simplicity, empathy, and dignity</a:t>
            </a:r>
          </a:p>
        </p:txBody>
      </p:sp>
      <p:sp>
        <p:nvSpPr>
          <p:cNvPr id="42" name="TextBox 41"/>
          <p:cNvSpPr txBox="1"/>
          <p:nvPr/>
        </p:nvSpPr>
        <p:spPr>
          <a:xfrm>
            <a:off x="384048" y="5166359"/>
            <a:ext cx="347472" cy="475488"/>
          </a:xfrm>
          <a:prstGeom prst="rect">
            <a:avLst/>
          </a:prstGeom>
          <a:noFill/>
        </p:spPr>
        <p:txBody>
          <a:bodyPr wrap="square">
            <a:spAutoFit/>
          </a:bodyPr>
          <a:lstStyle/>
          <a:p>
            <a:pPr algn="l"/>
            <a:r>
              <a:rPr sz="1200" b="1" i="0">
                <a:solidFill>
                  <a:srgbClr val="E8920A"/>
                </a:solidFill>
              </a:rPr>
              <a:t>✦</a:t>
            </a:r>
          </a:p>
        </p:txBody>
      </p:sp>
      <p:sp>
        <p:nvSpPr>
          <p:cNvPr id="43" name="TextBox 42"/>
          <p:cNvSpPr txBox="1"/>
          <p:nvPr/>
        </p:nvSpPr>
        <p:spPr>
          <a:xfrm>
            <a:off x="749808" y="5166359"/>
            <a:ext cx="5212080" cy="475488"/>
          </a:xfrm>
          <a:prstGeom prst="rect">
            <a:avLst/>
          </a:prstGeom>
          <a:noFill/>
        </p:spPr>
        <p:txBody>
          <a:bodyPr wrap="square">
            <a:spAutoFit/>
          </a:bodyPr>
          <a:lstStyle/>
          <a:p>
            <a:pPr algn="l"/>
            <a:r>
              <a:rPr sz="1250" b="0" i="0">
                <a:solidFill>
                  <a:srgbClr val="F5F0E8"/>
                </a:solidFill>
              </a:rPr>
              <a:t>Aim for solutions that actually change someone's day-to-day reality</a:t>
            </a:r>
          </a:p>
        </p:txBody>
      </p:sp>
      <p:sp>
        <p:nvSpPr>
          <p:cNvPr id="44" name="TextBox 43"/>
          <p:cNvSpPr txBox="1"/>
          <p:nvPr/>
        </p:nvSpPr>
        <p:spPr>
          <a:xfrm>
            <a:off x="384048" y="5788151"/>
            <a:ext cx="347472" cy="475488"/>
          </a:xfrm>
          <a:prstGeom prst="rect">
            <a:avLst/>
          </a:prstGeom>
          <a:noFill/>
        </p:spPr>
        <p:txBody>
          <a:bodyPr wrap="square">
            <a:spAutoFit/>
          </a:bodyPr>
          <a:lstStyle/>
          <a:p>
            <a:pPr algn="l"/>
            <a:r>
              <a:rPr sz="1200" b="1" i="0">
                <a:solidFill>
                  <a:srgbClr val="E8920A"/>
                </a:solidFill>
              </a:rPr>
              <a:t>✦</a:t>
            </a:r>
          </a:p>
        </p:txBody>
      </p:sp>
      <p:sp>
        <p:nvSpPr>
          <p:cNvPr id="45" name="TextBox 44"/>
          <p:cNvSpPr txBox="1"/>
          <p:nvPr/>
        </p:nvSpPr>
        <p:spPr>
          <a:xfrm>
            <a:off x="749808" y="5788151"/>
            <a:ext cx="5212080" cy="475488"/>
          </a:xfrm>
          <a:prstGeom prst="rect">
            <a:avLst/>
          </a:prstGeom>
          <a:noFill/>
        </p:spPr>
        <p:txBody>
          <a:bodyPr wrap="square">
            <a:spAutoFit/>
          </a:bodyPr>
          <a:lstStyle/>
          <a:p>
            <a:pPr algn="l"/>
            <a:r>
              <a:rPr sz="1250" b="0" i="0">
                <a:solidFill>
                  <a:srgbClr val="F5F0E8"/>
                </a:solidFill>
              </a:rPr>
              <a:t>Reach the woman with the shared phone first — she is the real user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724"/>
        </a:solidFill>
        <a:effectLst/>
      </p:bgPr>
    </p:bg>
    <p:spTree>
      <p:nvGrpSpPr>
        <p:cNvPr id="1" name=""/>
        <p:cNvGrpSpPr/>
        <p:nvPr/>
      </p:nvGrpSpPr>
      <p:grpSpPr/>
      <p:sp>
        <p:nvSpPr>
          <p:cNvPr id="2" name="TextBox 1"/>
          <p:cNvSpPr txBox="1"/>
          <p:nvPr/>
        </p:nvSpPr>
        <p:spPr>
          <a:xfrm>
            <a:off x="8778240" y="91440"/>
            <a:ext cx="3200400" cy="365760"/>
          </a:xfrm>
          <a:prstGeom prst="rect">
            <a:avLst/>
          </a:prstGeom>
          <a:noFill/>
        </p:spPr>
        <p:txBody>
          <a:bodyPr wrap="square">
            <a:spAutoFit/>
          </a:bodyPr>
          <a:lstStyle/>
          <a:p>
            <a:pPr algn="r"/>
            <a:r>
              <a:rPr sz="900" b="0" i="0">
                <a:solidFill>
                  <a:srgbClr val="C9836B"/>
                </a:solidFill>
              </a:rPr>
              <a:t>HopeWorks  ✦  AI4India</a:t>
            </a:r>
          </a:p>
        </p:txBody>
      </p:sp>
      <p:sp>
        <p:nvSpPr>
          <p:cNvPr id="3" name="Rectangle 2"/>
          <p:cNvSpPr/>
          <p:nvPr/>
        </p:nvSpPr>
        <p:spPr>
          <a:xfrm>
            <a:off x="0" y="0"/>
            <a:ext cx="12188952" cy="713232"/>
          </a:xfrm>
          <a:prstGeom prst="rect">
            <a:avLst/>
          </a:prstGeom>
          <a:solidFill>
            <a:srgbClr val="5C0F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498580" y="50291"/>
            <a:ext cx="594360" cy="594360"/>
          </a:xfrm>
          <a:prstGeom prst="ellipse">
            <a:avLst/>
          </a:prstGeom>
          <a:noFill/>
          <a:ln w="10160">
            <a:solidFill>
              <a:srgbClr val="C98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597640" y="149352"/>
            <a:ext cx="396240" cy="396240"/>
          </a:xfrm>
          <a:prstGeom prst="ellipse">
            <a:avLst/>
          </a:prstGeom>
          <a:noFill/>
          <a:ln w="1905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696700" y="248412"/>
            <a:ext cx="198120" cy="198120"/>
          </a:xfrm>
          <a:prstGeom prst="ellipse">
            <a:avLst/>
          </a:prstGeom>
          <a:noFill/>
          <a:ln w="1905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731752" y="283464"/>
            <a:ext cx="128016" cy="128016"/>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1" y="50291"/>
            <a:ext cx="594360" cy="594360"/>
          </a:xfrm>
          <a:prstGeom prst="ellipse">
            <a:avLst/>
          </a:prstGeom>
          <a:noFill/>
          <a:ln w="10160">
            <a:solidFill>
              <a:srgbClr val="C98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95072" y="149352"/>
            <a:ext cx="396240" cy="396240"/>
          </a:xfrm>
          <a:prstGeom prst="ellipse">
            <a:avLst/>
          </a:prstGeom>
          <a:noFill/>
          <a:ln w="1905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94132" y="248412"/>
            <a:ext cx="198120" cy="198120"/>
          </a:xfrm>
          <a:prstGeom prst="ellipse">
            <a:avLst/>
          </a:prstGeom>
          <a:noFill/>
          <a:ln w="1905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29184" y="283464"/>
            <a:ext cx="128016" cy="128016"/>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91440"/>
            <a:ext cx="11247120" cy="548640"/>
          </a:xfrm>
          <a:prstGeom prst="rect">
            <a:avLst/>
          </a:prstGeom>
          <a:noFill/>
        </p:spPr>
        <p:txBody>
          <a:bodyPr wrap="square">
            <a:spAutoFit/>
          </a:bodyPr>
          <a:lstStyle/>
          <a:p>
            <a:pPr algn="ctr"/>
            <a:r>
              <a:rPr sz="2800" b="1" i="0">
                <a:solidFill>
                  <a:srgbClr val="F5F0E8"/>
                </a:solidFill>
              </a:rPr>
              <a:t>USER PERSONA 1</a:t>
            </a:r>
          </a:p>
        </p:txBody>
      </p:sp>
      <p:sp>
        <p:nvSpPr>
          <p:cNvPr id="13" name="Rectangle 12"/>
          <p:cNvSpPr/>
          <p:nvPr/>
        </p:nvSpPr>
        <p:spPr>
          <a:xfrm>
            <a:off x="0" y="713232"/>
            <a:ext cx="2331720" cy="6144768"/>
          </a:xfrm>
          <a:prstGeom prst="rect">
            <a:avLst/>
          </a:prstGeom>
          <a:solidFill>
            <a:srgbClr val="100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riya.jpg"/>
          <p:cNvPicPr>
            <a:picLocks noChangeAspect="1"/>
          </p:cNvPicPr>
          <p:nvPr/>
        </p:nvPicPr>
        <p:blipFill>
          <a:blip r:embed="rId2"/>
          <a:stretch>
            <a:fillRect/>
          </a:stretch>
        </p:blipFill>
        <p:spPr>
          <a:xfrm>
            <a:off x="182880" y="804672"/>
            <a:ext cx="1965960" cy="2606040"/>
          </a:xfrm>
          <a:prstGeom prst="rect">
            <a:avLst/>
          </a:prstGeom>
        </p:spPr>
      </p:pic>
      <p:sp>
        <p:nvSpPr>
          <p:cNvPr id="15" name="Rectangle 14"/>
          <p:cNvSpPr/>
          <p:nvPr/>
        </p:nvSpPr>
        <p:spPr>
          <a:xfrm>
            <a:off x="182880" y="804672"/>
            <a:ext cx="1965960" cy="2606040"/>
          </a:xfrm>
          <a:prstGeom prst="rect">
            <a:avLst/>
          </a:prstGeom>
          <a:noFill/>
          <a:ln w="1905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3502152"/>
            <a:ext cx="1965960" cy="475488"/>
          </a:xfrm>
          <a:prstGeom prst="rect">
            <a:avLst/>
          </a:prstGeom>
          <a:solidFill>
            <a:srgbClr val="D459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2880" y="3547872"/>
            <a:ext cx="1965960" cy="384048"/>
          </a:xfrm>
          <a:prstGeom prst="rect">
            <a:avLst/>
          </a:prstGeom>
          <a:noFill/>
        </p:spPr>
        <p:txBody>
          <a:bodyPr wrap="square">
            <a:spAutoFit/>
          </a:bodyPr>
          <a:lstStyle/>
          <a:p>
            <a:pPr algn="ctr"/>
            <a:r>
              <a:rPr sz="1700" b="1" i="0">
                <a:solidFill>
                  <a:srgbClr val="0B0724"/>
                </a:solidFill>
              </a:rPr>
              <a:t>PRIYA</a:t>
            </a:r>
          </a:p>
        </p:txBody>
      </p:sp>
      <p:sp>
        <p:nvSpPr>
          <p:cNvPr id="18" name="TextBox 17"/>
          <p:cNvSpPr txBox="1"/>
          <p:nvPr/>
        </p:nvSpPr>
        <p:spPr>
          <a:xfrm>
            <a:off x="201168" y="4069080"/>
            <a:ext cx="1920240" cy="1645920"/>
          </a:xfrm>
          <a:prstGeom prst="rect">
            <a:avLst/>
          </a:prstGeom>
          <a:noFill/>
        </p:spPr>
        <p:txBody>
          <a:bodyPr wrap="square">
            <a:spAutoFit/>
          </a:bodyPr>
          <a:lstStyle/>
          <a:p>
            <a:pPr algn="l"/>
            <a:r>
              <a:rPr sz="1100" b="0" i="0">
                <a:solidFill>
                  <a:srgbClr val="F5F0E8"/>
                </a:solidFill>
              </a:rPr>
              <a:t>• 35 years old
• Lucknow
• Shared-phone
  mother
• 2 children</a:t>
            </a:r>
          </a:p>
        </p:txBody>
      </p:sp>
      <p:sp>
        <p:nvSpPr>
          <p:cNvPr id="19" name="Oval 18"/>
          <p:cNvSpPr/>
          <p:nvPr/>
        </p:nvSpPr>
        <p:spPr>
          <a:xfrm>
            <a:off x="841248" y="5367528"/>
            <a:ext cx="640079" cy="640079"/>
          </a:xfrm>
          <a:prstGeom prst="ellipse">
            <a:avLst/>
          </a:prstGeom>
          <a:noFill/>
          <a:ln w="10160">
            <a:solidFill>
              <a:srgbClr val="C98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47928" y="5474208"/>
            <a:ext cx="426719" cy="426719"/>
          </a:xfrm>
          <a:prstGeom prst="ellipse">
            <a:avLst/>
          </a:prstGeom>
          <a:noFill/>
          <a:ln w="1905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54608" y="5580888"/>
            <a:ext cx="213359" cy="213359"/>
          </a:xfrm>
          <a:prstGeom prst="ellipse">
            <a:avLst/>
          </a:prstGeom>
          <a:noFill/>
          <a:ln w="1905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97280" y="5623559"/>
            <a:ext cx="128016" cy="128016"/>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377440" y="749808"/>
            <a:ext cx="5349240" cy="2148840"/>
          </a:xfrm>
          <a:prstGeom prst="rect">
            <a:avLst/>
          </a:prstGeom>
          <a:solidFill>
            <a:srgbClr val="1A0638"/>
          </a:solid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377440" y="749808"/>
            <a:ext cx="5349240" cy="347472"/>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468880" y="795528"/>
            <a:ext cx="5212079" cy="274320"/>
          </a:xfrm>
          <a:prstGeom prst="rect">
            <a:avLst/>
          </a:prstGeom>
          <a:noFill/>
        </p:spPr>
        <p:txBody>
          <a:bodyPr wrap="square">
            <a:spAutoFit/>
          </a:bodyPr>
          <a:lstStyle/>
          <a:p>
            <a:pPr algn="l"/>
            <a:r>
              <a:rPr sz="900" b="1" i="0">
                <a:solidFill>
                  <a:srgbClr val="0B0724"/>
                </a:solidFill>
              </a:rPr>
              <a:t>ABOUT THE USER</a:t>
            </a:r>
          </a:p>
        </p:txBody>
      </p:sp>
      <p:sp>
        <p:nvSpPr>
          <p:cNvPr id="26" name="TextBox 25"/>
          <p:cNvSpPr txBox="1"/>
          <p:nvPr/>
        </p:nvSpPr>
        <p:spPr>
          <a:xfrm>
            <a:off x="2505456" y="1161288"/>
            <a:ext cx="5120640" cy="1673352"/>
          </a:xfrm>
          <a:prstGeom prst="rect">
            <a:avLst/>
          </a:prstGeom>
          <a:noFill/>
        </p:spPr>
        <p:txBody>
          <a:bodyPr wrap="square">
            <a:spAutoFit/>
          </a:bodyPr>
          <a:lstStyle/>
          <a:p>
            <a:pPr algn="l"/>
            <a:r>
              <a:rPr sz="1100" b="0" i="0">
                <a:solidFill>
                  <a:srgbClr val="F5F0E8"/>
                </a:solidFill>
              </a:rPr>
              <a:t>Priya lives with an abusive husband who controls the phone, the money, and what apps stay installed. She needs to document abuse, understand her rights, and find help — without ever appearing to do so.</a:t>
            </a:r>
          </a:p>
        </p:txBody>
      </p:sp>
      <p:sp>
        <p:nvSpPr>
          <p:cNvPr id="27" name="Rectangle 26"/>
          <p:cNvSpPr/>
          <p:nvPr/>
        </p:nvSpPr>
        <p:spPr>
          <a:xfrm>
            <a:off x="7799831" y="749808"/>
            <a:ext cx="4389120" cy="2148840"/>
          </a:xfrm>
          <a:prstGeom prst="rect">
            <a:avLst/>
          </a:prstGeom>
          <a:solidFill>
            <a:srgbClr val="120828"/>
          </a:solidFill>
          <a:ln w="12700">
            <a:solidFill>
              <a:srgbClr val="F5C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99831" y="749808"/>
            <a:ext cx="4389120" cy="347472"/>
          </a:xfrm>
          <a:prstGeom prst="rect">
            <a:avLst/>
          </a:prstGeom>
          <a:solidFill>
            <a:srgbClr val="F5C5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91271" y="795528"/>
            <a:ext cx="4251960" cy="274320"/>
          </a:xfrm>
          <a:prstGeom prst="rect">
            <a:avLst/>
          </a:prstGeom>
          <a:noFill/>
        </p:spPr>
        <p:txBody>
          <a:bodyPr wrap="square">
            <a:spAutoFit/>
          </a:bodyPr>
          <a:lstStyle/>
          <a:p>
            <a:pPr algn="l"/>
            <a:r>
              <a:rPr sz="900" b="1" i="0">
                <a:solidFill>
                  <a:srgbClr val="0B0724"/>
                </a:solidFill>
              </a:rPr>
              <a:t>TRAITS</a:t>
            </a:r>
          </a:p>
        </p:txBody>
      </p:sp>
      <p:sp>
        <p:nvSpPr>
          <p:cNvPr id="30" name="TextBox 29"/>
          <p:cNvSpPr txBox="1"/>
          <p:nvPr/>
        </p:nvSpPr>
        <p:spPr>
          <a:xfrm>
            <a:off x="7927848" y="1161288"/>
            <a:ext cx="4160520" cy="1673352"/>
          </a:xfrm>
          <a:prstGeom prst="rect">
            <a:avLst/>
          </a:prstGeom>
          <a:noFill/>
        </p:spPr>
        <p:txBody>
          <a:bodyPr wrap="square">
            <a:spAutoFit/>
          </a:bodyPr>
          <a:lstStyle/>
          <a:p>
            <a:pPr algn="l"/>
            <a:r>
              <a:rPr sz="1100" b="0" i="0">
                <a:solidFill>
                  <a:srgbClr val="F5F0E8"/>
                </a:solidFill>
              </a:rPr>
              <a:t>✦ Cautious
✦ Resourceful
✦ Protective
✦ Hindi-first
✦ Privacy-sensitive</a:t>
            </a:r>
          </a:p>
        </p:txBody>
      </p:sp>
      <p:sp>
        <p:nvSpPr>
          <p:cNvPr id="31" name="Rectangle 30"/>
          <p:cNvSpPr/>
          <p:nvPr/>
        </p:nvSpPr>
        <p:spPr>
          <a:xfrm>
            <a:off x="2377440" y="2971800"/>
            <a:ext cx="3176016" cy="3081527"/>
          </a:xfrm>
          <a:prstGeom prst="rect">
            <a:avLst/>
          </a:prstGeom>
          <a:solidFill>
            <a:srgbClr val="1A0638"/>
          </a:solid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377440" y="2971800"/>
            <a:ext cx="3176016" cy="347472"/>
          </a:xfrm>
          <a:prstGeom prst="rect">
            <a:avLst/>
          </a:prstGeom>
          <a:solidFill>
            <a:srgbClr val="D459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468880" y="3017520"/>
            <a:ext cx="3038856" cy="274320"/>
          </a:xfrm>
          <a:prstGeom prst="rect">
            <a:avLst/>
          </a:prstGeom>
          <a:noFill/>
        </p:spPr>
        <p:txBody>
          <a:bodyPr wrap="square">
            <a:spAutoFit/>
          </a:bodyPr>
          <a:lstStyle/>
          <a:p>
            <a:pPr algn="l"/>
            <a:r>
              <a:rPr sz="900" b="1" i="0">
                <a:solidFill>
                  <a:srgbClr val="0B0724"/>
                </a:solidFill>
              </a:rPr>
              <a:t>TRIGGER MOMENTS</a:t>
            </a:r>
          </a:p>
        </p:txBody>
      </p:sp>
      <p:sp>
        <p:nvSpPr>
          <p:cNvPr id="34" name="TextBox 33"/>
          <p:cNvSpPr txBox="1"/>
          <p:nvPr/>
        </p:nvSpPr>
        <p:spPr>
          <a:xfrm>
            <a:off x="2505456" y="3383280"/>
            <a:ext cx="2947416" cy="2606039"/>
          </a:xfrm>
          <a:prstGeom prst="rect">
            <a:avLst/>
          </a:prstGeom>
          <a:noFill/>
        </p:spPr>
        <p:txBody>
          <a:bodyPr wrap="square">
            <a:spAutoFit/>
          </a:bodyPr>
          <a:lstStyle/>
          <a:p>
            <a:pPr algn="l"/>
            <a:r>
              <a:rPr sz="1100" b="0" i="0">
                <a:solidFill>
                  <a:srgbClr val="F5F0E8"/>
                </a:solidFill>
              </a:rPr>
              <a:t>✦ Phone use is monitored
✦ Needs proof without a visible app
✦ Wants rights explained safely</a:t>
            </a:r>
          </a:p>
        </p:txBody>
      </p:sp>
      <p:sp>
        <p:nvSpPr>
          <p:cNvPr id="35" name="Rectangle 34"/>
          <p:cNvSpPr/>
          <p:nvPr/>
        </p:nvSpPr>
        <p:spPr>
          <a:xfrm>
            <a:off x="5635752" y="2971800"/>
            <a:ext cx="3176016" cy="3081527"/>
          </a:xfrm>
          <a:prstGeom prst="rect">
            <a:avLst/>
          </a:prstGeom>
          <a:solidFill>
            <a:srgbClr val="120828"/>
          </a:solid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35752" y="2971800"/>
            <a:ext cx="3176016" cy="347472"/>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27192" y="3017520"/>
            <a:ext cx="3038856" cy="274320"/>
          </a:xfrm>
          <a:prstGeom prst="rect">
            <a:avLst/>
          </a:prstGeom>
          <a:noFill/>
        </p:spPr>
        <p:txBody>
          <a:bodyPr wrap="square">
            <a:spAutoFit/>
          </a:bodyPr>
          <a:lstStyle/>
          <a:p>
            <a:pPr algn="l"/>
            <a:r>
              <a:rPr sz="900" b="1" i="0">
                <a:solidFill>
                  <a:srgbClr val="0B0724"/>
                </a:solidFill>
              </a:rPr>
              <a:t>PROBLEMS</a:t>
            </a:r>
          </a:p>
        </p:txBody>
      </p:sp>
      <p:sp>
        <p:nvSpPr>
          <p:cNvPr id="38" name="TextBox 37"/>
          <p:cNvSpPr txBox="1"/>
          <p:nvPr/>
        </p:nvSpPr>
        <p:spPr>
          <a:xfrm>
            <a:off x="5763768" y="3383280"/>
            <a:ext cx="2947416" cy="2606039"/>
          </a:xfrm>
          <a:prstGeom prst="rect">
            <a:avLst/>
          </a:prstGeom>
          <a:noFill/>
        </p:spPr>
        <p:txBody>
          <a:bodyPr wrap="square">
            <a:spAutoFit/>
          </a:bodyPr>
          <a:lstStyle/>
          <a:p>
            <a:pPr algn="l"/>
            <a:r>
              <a:rPr sz="1100" b="0" i="0">
                <a:solidFill>
                  <a:srgbClr val="F5F0E8"/>
                </a:solidFill>
              </a:rPr>
              <a:t>✦ No secure evidence storage
✦ Limited DV Act knowledge
✦ Cannot openly ask for help</a:t>
            </a:r>
          </a:p>
        </p:txBody>
      </p:sp>
      <p:sp>
        <p:nvSpPr>
          <p:cNvPr id="39" name="Rectangle 38"/>
          <p:cNvSpPr/>
          <p:nvPr/>
        </p:nvSpPr>
        <p:spPr>
          <a:xfrm>
            <a:off x="8894064" y="2971800"/>
            <a:ext cx="3176016" cy="3081527"/>
          </a:xfrm>
          <a:prstGeom prst="rect">
            <a:avLst/>
          </a:prstGeom>
          <a:solidFill>
            <a:srgbClr val="1A0638"/>
          </a:solid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894064" y="2971800"/>
            <a:ext cx="3176016" cy="347472"/>
          </a:xfrm>
          <a:prstGeom prst="rect">
            <a:avLst/>
          </a:prstGeom>
          <a:solidFill>
            <a:srgbClr val="00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985504" y="3017520"/>
            <a:ext cx="3038856" cy="274320"/>
          </a:xfrm>
          <a:prstGeom prst="rect">
            <a:avLst/>
          </a:prstGeom>
          <a:noFill/>
        </p:spPr>
        <p:txBody>
          <a:bodyPr wrap="square">
            <a:spAutoFit/>
          </a:bodyPr>
          <a:lstStyle/>
          <a:p>
            <a:pPr algn="l"/>
            <a:r>
              <a:rPr sz="900" b="1" i="0">
                <a:solidFill>
                  <a:srgbClr val="0B0724"/>
                </a:solidFill>
              </a:rPr>
              <a:t>GOALS AND NEEDS</a:t>
            </a:r>
          </a:p>
        </p:txBody>
      </p:sp>
      <p:sp>
        <p:nvSpPr>
          <p:cNvPr id="42" name="TextBox 41"/>
          <p:cNvSpPr txBox="1"/>
          <p:nvPr/>
        </p:nvSpPr>
        <p:spPr>
          <a:xfrm>
            <a:off x="9022080" y="3383280"/>
            <a:ext cx="2947416" cy="2606039"/>
          </a:xfrm>
          <a:prstGeom prst="rect">
            <a:avLst/>
          </a:prstGeom>
          <a:noFill/>
        </p:spPr>
        <p:txBody>
          <a:bodyPr wrap="square">
            <a:spAutoFit/>
          </a:bodyPr>
          <a:lstStyle/>
          <a:p>
            <a:pPr algn="l"/>
            <a:r>
              <a:rPr sz="1100" b="0" i="0">
                <a:solidFill>
                  <a:srgbClr val="F5F0E8"/>
                </a:solidFill>
              </a:rPr>
              <a:t>✦ Capture proof invisibly
✦ Understand maintenance, custody &amp; property
✦ Reach OSC or trusted contacts</a:t>
            </a:r>
          </a:p>
        </p:txBody>
      </p:sp>
      <p:sp>
        <p:nvSpPr>
          <p:cNvPr id="43" name="Rectangle 42"/>
          <p:cNvSpPr/>
          <p:nvPr/>
        </p:nvSpPr>
        <p:spPr>
          <a:xfrm>
            <a:off x="0" y="6108192"/>
            <a:ext cx="12188952" cy="768096"/>
          </a:xfrm>
          <a:prstGeom prst="rect">
            <a:avLst/>
          </a:prstGeom>
          <a:solidFill>
            <a:srgbClr val="1A062E"/>
          </a:solidFill>
          <a:ln w="1016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0040" y="6163055"/>
            <a:ext cx="2286000" cy="256032"/>
          </a:xfrm>
          <a:prstGeom prst="rect">
            <a:avLst/>
          </a:prstGeom>
          <a:noFill/>
        </p:spPr>
        <p:txBody>
          <a:bodyPr wrap="square">
            <a:spAutoFit/>
          </a:bodyPr>
          <a:lstStyle/>
          <a:p>
            <a:pPr algn="l"/>
            <a:r>
              <a:rPr sz="800" b="1" i="0">
                <a:solidFill>
                  <a:srgbClr val="E8920A"/>
                </a:solidFill>
              </a:rPr>
              <a:t>✦  JOURNEY SNAPSHOT</a:t>
            </a:r>
          </a:p>
        </p:txBody>
      </p:sp>
      <p:sp>
        <p:nvSpPr>
          <p:cNvPr id="45" name="TextBox 44"/>
          <p:cNvSpPr txBox="1"/>
          <p:nvPr/>
        </p:nvSpPr>
        <p:spPr>
          <a:xfrm>
            <a:off x="2606040" y="6153912"/>
            <a:ext cx="9418320" cy="594360"/>
          </a:xfrm>
          <a:prstGeom prst="rect">
            <a:avLst/>
          </a:prstGeom>
          <a:noFill/>
        </p:spPr>
        <p:txBody>
          <a:bodyPr wrap="square">
            <a:spAutoFit/>
          </a:bodyPr>
          <a:lstStyle/>
          <a:p>
            <a:pPr algn="l"/>
            <a:r>
              <a:rPr sz="1050" b="0" i="1">
                <a:solidFill>
                  <a:srgbClr val="F5F0E8"/>
                </a:solidFill>
              </a:rPr>
              <a:t>Week 1: friend installs 'Daily Mantras', husband approves  →  Week 4: 7 evidence items SHA-256 hashed  →  Week 6: stealth SOS configured  →  Week 8: OSC contacted with full case file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724"/>
        </a:solidFill>
        <a:effectLst/>
      </p:bgPr>
    </p:bg>
    <p:spTree>
      <p:nvGrpSpPr>
        <p:cNvPr id="1" name=""/>
        <p:cNvGrpSpPr/>
        <p:nvPr/>
      </p:nvGrpSpPr>
      <p:grpSpPr/>
      <p:sp>
        <p:nvSpPr>
          <p:cNvPr id="2" name="TextBox 1"/>
          <p:cNvSpPr txBox="1"/>
          <p:nvPr/>
        </p:nvSpPr>
        <p:spPr>
          <a:xfrm>
            <a:off x="8778240" y="91440"/>
            <a:ext cx="3200400" cy="365760"/>
          </a:xfrm>
          <a:prstGeom prst="rect">
            <a:avLst/>
          </a:prstGeom>
          <a:noFill/>
        </p:spPr>
        <p:txBody>
          <a:bodyPr wrap="square">
            <a:spAutoFit/>
          </a:bodyPr>
          <a:lstStyle/>
          <a:p>
            <a:pPr algn="r"/>
            <a:r>
              <a:rPr sz="900" b="0" i="0">
                <a:solidFill>
                  <a:srgbClr val="C9836B"/>
                </a:solidFill>
              </a:rPr>
              <a:t>HopeWorks  ✦  AI4India</a:t>
            </a:r>
          </a:p>
        </p:txBody>
      </p:sp>
      <p:sp>
        <p:nvSpPr>
          <p:cNvPr id="3" name="Rectangle 2"/>
          <p:cNvSpPr/>
          <p:nvPr/>
        </p:nvSpPr>
        <p:spPr>
          <a:xfrm>
            <a:off x="0" y="0"/>
            <a:ext cx="12188952" cy="713232"/>
          </a:xfrm>
          <a:prstGeom prst="rect">
            <a:avLst/>
          </a:prstGeom>
          <a:solidFill>
            <a:srgbClr val="5C0F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498580" y="50291"/>
            <a:ext cx="594360" cy="594360"/>
          </a:xfrm>
          <a:prstGeom prst="ellipse">
            <a:avLst/>
          </a:prstGeom>
          <a:noFill/>
          <a:ln w="10160">
            <a:solidFill>
              <a:srgbClr val="C98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597640" y="149352"/>
            <a:ext cx="396240" cy="396240"/>
          </a:xfrm>
          <a:prstGeom prst="ellipse">
            <a:avLst/>
          </a:prstGeom>
          <a:noFill/>
          <a:ln w="1905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696700" y="248412"/>
            <a:ext cx="198120" cy="198120"/>
          </a:xfrm>
          <a:prstGeom prst="ellipse">
            <a:avLst/>
          </a:prstGeom>
          <a:noFill/>
          <a:ln w="1905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731752" y="283464"/>
            <a:ext cx="128016" cy="128016"/>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1" y="50291"/>
            <a:ext cx="594360" cy="594360"/>
          </a:xfrm>
          <a:prstGeom prst="ellipse">
            <a:avLst/>
          </a:prstGeom>
          <a:noFill/>
          <a:ln w="10160">
            <a:solidFill>
              <a:srgbClr val="C98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95072" y="149352"/>
            <a:ext cx="396240" cy="396240"/>
          </a:xfrm>
          <a:prstGeom prst="ellipse">
            <a:avLst/>
          </a:prstGeom>
          <a:noFill/>
          <a:ln w="1905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94132" y="248412"/>
            <a:ext cx="198120" cy="198120"/>
          </a:xfrm>
          <a:prstGeom prst="ellipse">
            <a:avLst/>
          </a:prstGeom>
          <a:noFill/>
          <a:ln w="1905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29184" y="283464"/>
            <a:ext cx="128016" cy="128016"/>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91440"/>
            <a:ext cx="11247120" cy="548640"/>
          </a:xfrm>
          <a:prstGeom prst="rect">
            <a:avLst/>
          </a:prstGeom>
          <a:noFill/>
        </p:spPr>
        <p:txBody>
          <a:bodyPr wrap="square">
            <a:spAutoFit/>
          </a:bodyPr>
          <a:lstStyle/>
          <a:p>
            <a:pPr algn="ctr"/>
            <a:r>
              <a:rPr sz="2800" b="1" i="0">
                <a:solidFill>
                  <a:srgbClr val="F5F0E8"/>
                </a:solidFill>
              </a:rPr>
              <a:t>USER PERSONA 2</a:t>
            </a:r>
          </a:p>
        </p:txBody>
      </p:sp>
      <p:sp>
        <p:nvSpPr>
          <p:cNvPr id="13" name="Rectangle 12"/>
          <p:cNvSpPr/>
          <p:nvPr/>
        </p:nvSpPr>
        <p:spPr>
          <a:xfrm>
            <a:off x="0" y="713232"/>
            <a:ext cx="2331720" cy="6144768"/>
          </a:xfrm>
          <a:prstGeom prst="rect">
            <a:avLst/>
          </a:prstGeom>
          <a:solidFill>
            <a:srgbClr val="100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unita.jpg"/>
          <p:cNvPicPr>
            <a:picLocks noChangeAspect="1"/>
          </p:cNvPicPr>
          <p:nvPr/>
        </p:nvPicPr>
        <p:blipFill>
          <a:blip r:embed="rId2"/>
          <a:stretch>
            <a:fillRect/>
          </a:stretch>
        </p:blipFill>
        <p:spPr>
          <a:xfrm>
            <a:off x="182880" y="804672"/>
            <a:ext cx="1965960" cy="2606040"/>
          </a:xfrm>
          <a:prstGeom prst="rect">
            <a:avLst/>
          </a:prstGeom>
        </p:spPr>
      </p:pic>
      <p:sp>
        <p:nvSpPr>
          <p:cNvPr id="15" name="Rectangle 14"/>
          <p:cNvSpPr/>
          <p:nvPr/>
        </p:nvSpPr>
        <p:spPr>
          <a:xfrm>
            <a:off x="182880" y="804672"/>
            <a:ext cx="1965960" cy="2606040"/>
          </a:xfrm>
          <a:prstGeom prst="rect">
            <a:avLst/>
          </a:prstGeom>
          <a:noFill/>
          <a:ln w="1905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3502152"/>
            <a:ext cx="1965960" cy="475488"/>
          </a:xfrm>
          <a:prstGeom prst="rect">
            <a:avLst/>
          </a:prstGeom>
          <a:solidFill>
            <a:srgbClr val="D459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2880" y="3547872"/>
            <a:ext cx="1965960" cy="384048"/>
          </a:xfrm>
          <a:prstGeom prst="rect">
            <a:avLst/>
          </a:prstGeom>
          <a:noFill/>
        </p:spPr>
        <p:txBody>
          <a:bodyPr wrap="square">
            <a:spAutoFit/>
          </a:bodyPr>
          <a:lstStyle/>
          <a:p>
            <a:pPr algn="ctr"/>
            <a:r>
              <a:rPr sz="1700" b="1" i="0">
                <a:solidFill>
                  <a:srgbClr val="0B0724"/>
                </a:solidFill>
              </a:rPr>
              <a:t>SUNITA</a:t>
            </a:r>
          </a:p>
        </p:txBody>
      </p:sp>
      <p:sp>
        <p:nvSpPr>
          <p:cNvPr id="18" name="TextBox 17"/>
          <p:cNvSpPr txBox="1"/>
          <p:nvPr/>
        </p:nvSpPr>
        <p:spPr>
          <a:xfrm>
            <a:off x="201168" y="4069080"/>
            <a:ext cx="1920240" cy="1645920"/>
          </a:xfrm>
          <a:prstGeom prst="rect">
            <a:avLst/>
          </a:prstGeom>
          <a:noFill/>
        </p:spPr>
        <p:txBody>
          <a:bodyPr wrap="square">
            <a:spAutoFit/>
          </a:bodyPr>
          <a:lstStyle/>
          <a:p>
            <a:pPr algn="l"/>
            <a:r>
              <a:rPr sz="1100" b="0" i="0">
                <a:solidFill>
                  <a:srgbClr val="F5F0E8"/>
                </a:solidFill>
              </a:rPr>
              <a:t>• 29 years old
• Nashik
• Teacher
• Basic smartphone</a:t>
            </a:r>
          </a:p>
        </p:txBody>
      </p:sp>
      <p:sp>
        <p:nvSpPr>
          <p:cNvPr id="19" name="Oval 18"/>
          <p:cNvSpPr/>
          <p:nvPr/>
        </p:nvSpPr>
        <p:spPr>
          <a:xfrm>
            <a:off x="841248" y="5367528"/>
            <a:ext cx="640079" cy="640079"/>
          </a:xfrm>
          <a:prstGeom prst="ellipse">
            <a:avLst/>
          </a:prstGeom>
          <a:noFill/>
          <a:ln w="10160">
            <a:solidFill>
              <a:srgbClr val="C98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47928" y="5474208"/>
            <a:ext cx="426719" cy="426719"/>
          </a:xfrm>
          <a:prstGeom prst="ellipse">
            <a:avLst/>
          </a:prstGeom>
          <a:noFill/>
          <a:ln w="1905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54608" y="5580888"/>
            <a:ext cx="213359" cy="213359"/>
          </a:xfrm>
          <a:prstGeom prst="ellipse">
            <a:avLst/>
          </a:prstGeom>
          <a:noFill/>
          <a:ln w="1905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97280" y="5623559"/>
            <a:ext cx="128016" cy="128016"/>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377440" y="749808"/>
            <a:ext cx="5349240" cy="2148840"/>
          </a:xfrm>
          <a:prstGeom prst="rect">
            <a:avLst/>
          </a:prstGeom>
          <a:solidFill>
            <a:srgbClr val="1A0638"/>
          </a:solid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377440" y="749808"/>
            <a:ext cx="5349240" cy="347472"/>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468880" y="795528"/>
            <a:ext cx="5212079" cy="274320"/>
          </a:xfrm>
          <a:prstGeom prst="rect">
            <a:avLst/>
          </a:prstGeom>
          <a:noFill/>
        </p:spPr>
        <p:txBody>
          <a:bodyPr wrap="square">
            <a:spAutoFit/>
          </a:bodyPr>
          <a:lstStyle/>
          <a:p>
            <a:pPr algn="l"/>
            <a:r>
              <a:rPr sz="900" b="1" i="0">
                <a:solidFill>
                  <a:srgbClr val="0B0724"/>
                </a:solidFill>
              </a:rPr>
              <a:t>ABOUT THE USER</a:t>
            </a:r>
          </a:p>
        </p:txBody>
      </p:sp>
      <p:sp>
        <p:nvSpPr>
          <p:cNvPr id="26" name="TextBox 25"/>
          <p:cNvSpPr txBox="1"/>
          <p:nvPr/>
        </p:nvSpPr>
        <p:spPr>
          <a:xfrm>
            <a:off x="2505456" y="1161288"/>
            <a:ext cx="5120640" cy="1673352"/>
          </a:xfrm>
          <a:prstGeom prst="rect">
            <a:avLst/>
          </a:prstGeom>
          <a:noFill/>
        </p:spPr>
        <p:txBody>
          <a:bodyPr wrap="square">
            <a:spAutoFit/>
          </a:bodyPr>
          <a:lstStyle/>
          <a:p>
            <a:pPr algn="l"/>
            <a:r>
              <a:rPr sz="1100" b="0" i="0">
                <a:solidFill>
                  <a:srgbClr val="F5F0E8"/>
                </a:solidFill>
              </a:rPr>
              <a:t>Sunita has lived with severe period pain for 13 years and calls it normal because care is expensive and no one explained otherwise. She needs structured screening, affordable medicine, and a Hindi doctor-ready summary.</a:t>
            </a:r>
          </a:p>
        </p:txBody>
      </p:sp>
      <p:sp>
        <p:nvSpPr>
          <p:cNvPr id="27" name="Rectangle 26"/>
          <p:cNvSpPr/>
          <p:nvPr/>
        </p:nvSpPr>
        <p:spPr>
          <a:xfrm>
            <a:off x="7799831" y="749808"/>
            <a:ext cx="4389120" cy="2148840"/>
          </a:xfrm>
          <a:prstGeom prst="rect">
            <a:avLst/>
          </a:prstGeom>
          <a:solidFill>
            <a:srgbClr val="120828"/>
          </a:solidFill>
          <a:ln w="12700">
            <a:solidFill>
              <a:srgbClr val="F5C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99831" y="749808"/>
            <a:ext cx="4389120" cy="347472"/>
          </a:xfrm>
          <a:prstGeom prst="rect">
            <a:avLst/>
          </a:prstGeom>
          <a:solidFill>
            <a:srgbClr val="F5C5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91271" y="795528"/>
            <a:ext cx="4251960" cy="274320"/>
          </a:xfrm>
          <a:prstGeom prst="rect">
            <a:avLst/>
          </a:prstGeom>
          <a:noFill/>
        </p:spPr>
        <p:txBody>
          <a:bodyPr wrap="square">
            <a:spAutoFit/>
          </a:bodyPr>
          <a:lstStyle/>
          <a:p>
            <a:pPr algn="l"/>
            <a:r>
              <a:rPr sz="900" b="1" i="0">
                <a:solidFill>
                  <a:srgbClr val="0B0724"/>
                </a:solidFill>
              </a:rPr>
              <a:t>TRAITS</a:t>
            </a:r>
          </a:p>
        </p:txBody>
      </p:sp>
      <p:sp>
        <p:nvSpPr>
          <p:cNvPr id="30" name="TextBox 29"/>
          <p:cNvSpPr txBox="1"/>
          <p:nvPr/>
        </p:nvSpPr>
        <p:spPr>
          <a:xfrm>
            <a:off x="7927848" y="1161288"/>
            <a:ext cx="4160520" cy="1673352"/>
          </a:xfrm>
          <a:prstGeom prst="rect">
            <a:avLst/>
          </a:prstGeom>
          <a:noFill/>
        </p:spPr>
        <p:txBody>
          <a:bodyPr wrap="square">
            <a:spAutoFit/>
          </a:bodyPr>
          <a:lstStyle/>
          <a:p>
            <a:pPr algn="l"/>
            <a:r>
              <a:rPr sz="1100" b="0" i="0">
                <a:solidFill>
                  <a:srgbClr val="F5F0E8"/>
                </a:solidFill>
              </a:rPr>
              <a:t>✦ Resilient
✦ Underdiagnosed
✦ Budget-conscious
✦ Working daily
✦ Seeks relief</a:t>
            </a:r>
          </a:p>
        </p:txBody>
      </p:sp>
      <p:sp>
        <p:nvSpPr>
          <p:cNvPr id="31" name="Rectangle 30"/>
          <p:cNvSpPr/>
          <p:nvPr/>
        </p:nvSpPr>
        <p:spPr>
          <a:xfrm>
            <a:off x="2377440" y="2971800"/>
            <a:ext cx="3176016" cy="3081527"/>
          </a:xfrm>
          <a:prstGeom prst="rect">
            <a:avLst/>
          </a:prstGeom>
          <a:solidFill>
            <a:srgbClr val="1A0638"/>
          </a:solid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377440" y="2971800"/>
            <a:ext cx="3176016" cy="347472"/>
          </a:xfrm>
          <a:prstGeom prst="rect">
            <a:avLst/>
          </a:prstGeom>
          <a:solidFill>
            <a:srgbClr val="D459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468880" y="3017520"/>
            <a:ext cx="3038856" cy="274320"/>
          </a:xfrm>
          <a:prstGeom prst="rect">
            <a:avLst/>
          </a:prstGeom>
          <a:noFill/>
        </p:spPr>
        <p:txBody>
          <a:bodyPr wrap="square">
            <a:spAutoFit/>
          </a:bodyPr>
          <a:lstStyle/>
          <a:p>
            <a:pPr algn="l"/>
            <a:r>
              <a:rPr sz="900" b="1" i="0">
                <a:solidFill>
                  <a:srgbClr val="0B0724"/>
                </a:solidFill>
              </a:rPr>
              <a:t>TRIGGER MOMENTS</a:t>
            </a:r>
          </a:p>
        </p:txBody>
      </p:sp>
      <p:sp>
        <p:nvSpPr>
          <p:cNvPr id="34" name="TextBox 33"/>
          <p:cNvSpPr txBox="1"/>
          <p:nvPr/>
        </p:nvSpPr>
        <p:spPr>
          <a:xfrm>
            <a:off x="2505456" y="3383280"/>
            <a:ext cx="2947416" cy="2606039"/>
          </a:xfrm>
          <a:prstGeom prst="rect">
            <a:avLst/>
          </a:prstGeom>
          <a:noFill/>
        </p:spPr>
        <p:txBody>
          <a:bodyPr wrap="square">
            <a:spAutoFit/>
          </a:bodyPr>
          <a:lstStyle/>
          <a:p>
            <a:pPr algn="l"/>
            <a:r>
              <a:rPr sz="1100" b="0" i="0">
                <a:solidFill>
                  <a:srgbClr val="F5F0E8"/>
                </a:solidFill>
              </a:rPr>
              <a:t>✦ Pain is normalized at home
✦ Doctor visits feel expensive
✦ Needs simple Hindi guidance</a:t>
            </a:r>
          </a:p>
        </p:txBody>
      </p:sp>
      <p:sp>
        <p:nvSpPr>
          <p:cNvPr id="35" name="Rectangle 34"/>
          <p:cNvSpPr/>
          <p:nvPr/>
        </p:nvSpPr>
        <p:spPr>
          <a:xfrm>
            <a:off x="5635752" y="2971800"/>
            <a:ext cx="3176016" cy="3081527"/>
          </a:xfrm>
          <a:prstGeom prst="rect">
            <a:avLst/>
          </a:prstGeom>
          <a:solidFill>
            <a:srgbClr val="120828"/>
          </a:solid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35752" y="2971800"/>
            <a:ext cx="3176016" cy="347472"/>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27192" y="3017520"/>
            <a:ext cx="3038856" cy="274320"/>
          </a:xfrm>
          <a:prstGeom prst="rect">
            <a:avLst/>
          </a:prstGeom>
          <a:noFill/>
        </p:spPr>
        <p:txBody>
          <a:bodyPr wrap="square">
            <a:spAutoFit/>
          </a:bodyPr>
          <a:lstStyle/>
          <a:p>
            <a:pPr algn="l"/>
            <a:r>
              <a:rPr sz="900" b="1" i="0">
                <a:solidFill>
                  <a:srgbClr val="0B0724"/>
                </a:solidFill>
              </a:rPr>
              <a:t>PROBLEMS</a:t>
            </a:r>
          </a:p>
        </p:txBody>
      </p:sp>
      <p:sp>
        <p:nvSpPr>
          <p:cNvPr id="38" name="TextBox 37"/>
          <p:cNvSpPr txBox="1"/>
          <p:nvPr/>
        </p:nvSpPr>
        <p:spPr>
          <a:xfrm>
            <a:off x="5763768" y="3383280"/>
            <a:ext cx="2947416" cy="2606039"/>
          </a:xfrm>
          <a:prstGeom prst="rect">
            <a:avLst/>
          </a:prstGeom>
          <a:noFill/>
        </p:spPr>
        <p:txBody>
          <a:bodyPr wrap="square">
            <a:spAutoFit/>
          </a:bodyPr>
          <a:lstStyle/>
          <a:p>
            <a:pPr algn="l"/>
            <a:r>
              <a:rPr sz="1100" b="0" i="0">
                <a:solidFill>
                  <a:srgbClr val="F5F0E8"/>
                </a:solidFill>
              </a:rPr>
              <a:t>✦ No symptom history to share
✦ No structured screening flow
✦ Affordable care hard to find</a:t>
            </a:r>
          </a:p>
        </p:txBody>
      </p:sp>
      <p:sp>
        <p:nvSpPr>
          <p:cNvPr id="39" name="Rectangle 38"/>
          <p:cNvSpPr/>
          <p:nvPr/>
        </p:nvSpPr>
        <p:spPr>
          <a:xfrm>
            <a:off x="8894064" y="2971800"/>
            <a:ext cx="3176016" cy="3081527"/>
          </a:xfrm>
          <a:prstGeom prst="rect">
            <a:avLst/>
          </a:prstGeom>
          <a:solidFill>
            <a:srgbClr val="1A0638"/>
          </a:solid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894064" y="2971800"/>
            <a:ext cx="3176016" cy="347472"/>
          </a:xfrm>
          <a:prstGeom prst="rect">
            <a:avLst/>
          </a:prstGeom>
          <a:solidFill>
            <a:srgbClr val="00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985504" y="3017520"/>
            <a:ext cx="3038856" cy="274320"/>
          </a:xfrm>
          <a:prstGeom prst="rect">
            <a:avLst/>
          </a:prstGeom>
          <a:noFill/>
        </p:spPr>
        <p:txBody>
          <a:bodyPr wrap="square">
            <a:spAutoFit/>
          </a:bodyPr>
          <a:lstStyle/>
          <a:p>
            <a:pPr algn="l"/>
            <a:r>
              <a:rPr sz="900" b="1" i="0">
                <a:solidFill>
                  <a:srgbClr val="0B0724"/>
                </a:solidFill>
              </a:rPr>
              <a:t>GOALS AND NEEDS</a:t>
            </a:r>
          </a:p>
        </p:txBody>
      </p:sp>
      <p:sp>
        <p:nvSpPr>
          <p:cNvPr id="42" name="TextBox 41"/>
          <p:cNvSpPr txBox="1"/>
          <p:nvPr/>
        </p:nvSpPr>
        <p:spPr>
          <a:xfrm>
            <a:off x="9022080" y="3383280"/>
            <a:ext cx="2947416" cy="2606039"/>
          </a:xfrm>
          <a:prstGeom prst="rect">
            <a:avLst/>
          </a:prstGeom>
          <a:noFill/>
        </p:spPr>
        <p:txBody>
          <a:bodyPr wrap="square">
            <a:spAutoFit/>
          </a:bodyPr>
          <a:lstStyle/>
          <a:p>
            <a:pPr algn="l"/>
            <a:r>
              <a:rPr sz="1100" b="0" i="0">
                <a:solidFill>
                  <a:srgbClr val="F5F0E8"/>
                </a:solidFill>
              </a:rPr>
              <a:t>✦ Track symptoms over time
✦ Access Jan Aushadhi (₹3/day vs ₹30)
✦ Carry a structured Doctor Card</a:t>
            </a:r>
          </a:p>
        </p:txBody>
      </p:sp>
      <p:sp>
        <p:nvSpPr>
          <p:cNvPr id="43" name="Rectangle 42"/>
          <p:cNvSpPr/>
          <p:nvPr/>
        </p:nvSpPr>
        <p:spPr>
          <a:xfrm>
            <a:off x="0" y="6108192"/>
            <a:ext cx="12188952" cy="768096"/>
          </a:xfrm>
          <a:prstGeom prst="rect">
            <a:avLst/>
          </a:prstGeom>
          <a:solidFill>
            <a:srgbClr val="1A062E"/>
          </a:solidFill>
          <a:ln w="1016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0040" y="6163055"/>
            <a:ext cx="2286000" cy="256032"/>
          </a:xfrm>
          <a:prstGeom prst="rect">
            <a:avLst/>
          </a:prstGeom>
          <a:noFill/>
        </p:spPr>
        <p:txBody>
          <a:bodyPr wrap="square">
            <a:spAutoFit/>
          </a:bodyPr>
          <a:lstStyle/>
          <a:p>
            <a:pPr algn="l"/>
            <a:r>
              <a:rPr sz="800" b="1" i="0">
                <a:solidFill>
                  <a:srgbClr val="E8920A"/>
                </a:solidFill>
              </a:rPr>
              <a:t>✦  JOURNEY SNAPSHOT</a:t>
            </a:r>
          </a:p>
        </p:txBody>
      </p:sp>
      <p:sp>
        <p:nvSpPr>
          <p:cNvPr id="45" name="TextBox 44"/>
          <p:cNvSpPr txBox="1"/>
          <p:nvPr/>
        </p:nvSpPr>
        <p:spPr>
          <a:xfrm>
            <a:off x="2606040" y="6153912"/>
            <a:ext cx="9418320" cy="594360"/>
          </a:xfrm>
          <a:prstGeom prst="rect">
            <a:avLst/>
          </a:prstGeom>
          <a:noFill/>
        </p:spPr>
        <p:txBody>
          <a:bodyPr wrap="square">
            <a:spAutoFit/>
          </a:bodyPr>
          <a:lstStyle/>
          <a:p>
            <a:pPr algn="l"/>
            <a:r>
              <a:rPr sz="1050" b="0" i="1">
                <a:solidFill>
                  <a:srgbClr val="F5F0E8"/>
                </a:solidFill>
              </a:rPr>
              <a:t>ASHA shares link → 'Pet mein dard' → PCOS screening positive → exercise protocol → Doctor Card generated → Jan Aushadhi ₹3/day vs ₹30 → first doctor visit in 13 years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724"/>
        </a:solidFill>
        <a:effectLst/>
      </p:bgPr>
    </p:bg>
    <p:spTree>
      <p:nvGrpSpPr>
        <p:cNvPr id="1" name=""/>
        <p:cNvGrpSpPr/>
        <p:nvPr/>
      </p:nvGrpSpPr>
      <p:grpSpPr/>
      <p:sp>
        <p:nvSpPr>
          <p:cNvPr id="2" name="TextBox 1"/>
          <p:cNvSpPr txBox="1"/>
          <p:nvPr/>
        </p:nvSpPr>
        <p:spPr>
          <a:xfrm>
            <a:off x="8778240" y="91440"/>
            <a:ext cx="3200400" cy="365760"/>
          </a:xfrm>
          <a:prstGeom prst="rect">
            <a:avLst/>
          </a:prstGeom>
          <a:noFill/>
        </p:spPr>
        <p:txBody>
          <a:bodyPr wrap="square">
            <a:spAutoFit/>
          </a:bodyPr>
          <a:lstStyle/>
          <a:p>
            <a:pPr algn="r"/>
            <a:r>
              <a:rPr sz="900" b="0" i="0">
                <a:solidFill>
                  <a:srgbClr val="C9836B"/>
                </a:solidFill>
              </a:rPr>
              <a:t>HopeWorks  ✦  AI4India</a:t>
            </a:r>
          </a:p>
        </p:txBody>
      </p:sp>
      <p:sp>
        <p:nvSpPr>
          <p:cNvPr id="3" name="Rectangle 2"/>
          <p:cNvSpPr/>
          <p:nvPr/>
        </p:nvSpPr>
        <p:spPr>
          <a:xfrm>
            <a:off x="0" y="0"/>
            <a:ext cx="12188952" cy="713232"/>
          </a:xfrm>
          <a:prstGeom prst="rect">
            <a:avLst/>
          </a:prstGeom>
          <a:solidFill>
            <a:srgbClr val="5C0F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498580" y="50291"/>
            <a:ext cx="594360" cy="594360"/>
          </a:xfrm>
          <a:prstGeom prst="ellipse">
            <a:avLst/>
          </a:prstGeom>
          <a:noFill/>
          <a:ln w="10160">
            <a:solidFill>
              <a:srgbClr val="C98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597640" y="149352"/>
            <a:ext cx="396240" cy="396240"/>
          </a:xfrm>
          <a:prstGeom prst="ellipse">
            <a:avLst/>
          </a:prstGeom>
          <a:noFill/>
          <a:ln w="1905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696700" y="248412"/>
            <a:ext cx="198120" cy="198120"/>
          </a:xfrm>
          <a:prstGeom prst="ellipse">
            <a:avLst/>
          </a:prstGeom>
          <a:noFill/>
          <a:ln w="1905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731752" y="283464"/>
            <a:ext cx="128016" cy="128016"/>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1" y="50291"/>
            <a:ext cx="594360" cy="594360"/>
          </a:xfrm>
          <a:prstGeom prst="ellipse">
            <a:avLst/>
          </a:prstGeom>
          <a:noFill/>
          <a:ln w="10160">
            <a:solidFill>
              <a:srgbClr val="C98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95072" y="149352"/>
            <a:ext cx="396240" cy="396240"/>
          </a:xfrm>
          <a:prstGeom prst="ellipse">
            <a:avLst/>
          </a:prstGeom>
          <a:noFill/>
          <a:ln w="1905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94132" y="248412"/>
            <a:ext cx="198120" cy="198120"/>
          </a:xfrm>
          <a:prstGeom prst="ellipse">
            <a:avLst/>
          </a:prstGeom>
          <a:noFill/>
          <a:ln w="1905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29184" y="283464"/>
            <a:ext cx="128016" cy="128016"/>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91440"/>
            <a:ext cx="11247120" cy="548640"/>
          </a:xfrm>
          <a:prstGeom prst="rect">
            <a:avLst/>
          </a:prstGeom>
          <a:noFill/>
        </p:spPr>
        <p:txBody>
          <a:bodyPr wrap="square">
            <a:spAutoFit/>
          </a:bodyPr>
          <a:lstStyle/>
          <a:p>
            <a:pPr algn="ctr"/>
            <a:r>
              <a:rPr sz="2800" b="1" i="0">
                <a:solidFill>
                  <a:srgbClr val="F5F0E8"/>
                </a:solidFill>
              </a:rPr>
              <a:t>USER PERSONA 3</a:t>
            </a:r>
          </a:p>
        </p:txBody>
      </p:sp>
      <p:sp>
        <p:nvSpPr>
          <p:cNvPr id="13" name="Rectangle 12"/>
          <p:cNvSpPr/>
          <p:nvPr/>
        </p:nvSpPr>
        <p:spPr>
          <a:xfrm>
            <a:off x="0" y="713232"/>
            <a:ext cx="2331720" cy="6144768"/>
          </a:xfrm>
          <a:prstGeom prst="rect">
            <a:avLst/>
          </a:prstGeom>
          <a:solidFill>
            <a:srgbClr val="100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meena.jpg"/>
          <p:cNvPicPr>
            <a:picLocks noChangeAspect="1"/>
          </p:cNvPicPr>
          <p:nvPr/>
        </p:nvPicPr>
        <p:blipFill>
          <a:blip r:embed="rId2"/>
          <a:stretch>
            <a:fillRect/>
          </a:stretch>
        </p:blipFill>
        <p:spPr>
          <a:xfrm>
            <a:off x="182880" y="804672"/>
            <a:ext cx="1965960" cy="2606040"/>
          </a:xfrm>
          <a:prstGeom prst="rect">
            <a:avLst/>
          </a:prstGeom>
        </p:spPr>
      </p:pic>
      <p:sp>
        <p:nvSpPr>
          <p:cNvPr id="15" name="Rectangle 14"/>
          <p:cNvSpPr/>
          <p:nvPr/>
        </p:nvSpPr>
        <p:spPr>
          <a:xfrm>
            <a:off x="182880" y="804672"/>
            <a:ext cx="1965960" cy="2606040"/>
          </a:xfrm>
          <a:prstGeom prst="rect">
            <a:avLst/>
          </a:prstGeom>
          <a:noFill/>
          <a:ln w="1905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3502152"/>
            <a:ext cx="1965960" cy="475488"/>
          </a:xfrm>
          <a:prstGeom prst="rect">
            <a:avLst/>
          </a:prstGeom>
          <a:solidFill>
            <a:srgbClr val="D459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2880" y="3547872"/>
            <a:ext cx="1965960" cy="384048"/>
          </a:xfrm>
          <a:prstGeom prst="rect">
            <a:avLst/>
          </a:prstGeom>
          <a:noFill/>
        </p:spPr>
        <p:txBody>
          <a:bodyPr wrap="square">
            <a:spAutoFit/>
          </a:bodyPr>
          <a:lstStyle/>
          <a:p>
            <a:pPr algn="ctr"/>
            <a:r>
              <a:rPr sz="1700" b="1" i="0">
                <a:solidFill>
                  <a:srgbClr val="0B0724"/>
                </a:solidFill>
              </a:rPr>
              <a:t>MEENA</a:t>
            </a:r>
          </a:p>
        </p:txBody>
      </p:sp>
      <p:sp>
        <p:nvSpPr>
          <p:cNvPr id="18" name="TextBox 17"/>
          <p:cNvSpPr txBox="1"/>
          <p:nvPr/>
        </p:nvSpPr>
        <p:spPr>
          <a:xfrm>
            <a:off x="201168" y="4069080"/>
            <a:ext cx="1920240" cy="1645920"/>
          </a:xfrm>
          <a:prstGeom prst="rect">
            <a:avLst/>
          </a:prstGeom>
          <a:noFill/>
        </p:spPr>
        <p:txBody>
          <a:bodyPr wrap="square">
            <a:spAutoFit/>
          </a:bodyPr>
          <a:lstStyle/>
          <a:p>
            <a:pPr algn="l"/>
            <a:r>
              <a:rPr sz="1100" b="0" i="0">
                <a:solidFill>
                  <a:srgbClr val="F5F0E8"/>
                </a:solidFill>
              </a:rPr>
              <a:t>• 42 years old
• Varanasi
• Lava feature phone
• No internet</a:t>
            </a:r>
          </a:p>
        </p:txBody>
      </p:sp>
      <p:sp>
        <p:nvSpPr>
          <p:cNvPr id="19" name="Oval 18"/>
          <p:cNvSpPr/>
          <p:nvPr/>
        </p:nvSpPr>
        <p:spPr>
          <a:xfrm>
            <a:off x="841248" y="5367528"/>
            <a:ext cx="640079" cy="640079"/>
          </a:xfrm>
          <a:prstGeom prst="ellipse">
            <a:avLst/>
          </a:prstGeom>
          <a:noFill/>
          <a:ln w="10160">
            <a:solidFill>
              <a:srgbClr val="C98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47928" y="5474208"/>
            <a:ext cx="426719" cy="426719"/>
          </a:xfrm>
          <a:prstGeom prst="ellipse">
            <a:avLst/>
          </a:prstGeom>
          <a:noFill/>
          <a:ln w="1905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54608" y="5580888"/>
            <a:ext cx="213359" cy="213359"/>
          </a:xfrm>
          <a:prstGeom prst="ellipse">
            <a:avLst/>
          </a:prstGeom>
          <a:noFill/>
          <a:ln w="1905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97280" y="5623559"/>
            <a:ext cx="128016" cy="128016"/>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377440" y="749808"/>
            <a:ext cx="5349240" cy="2148840"/>
          </a:xfrm>
          <a:prstGeom prst="rect">
            <a:avLst/>
          </a:prstGeom>
          <a:solidFill>
            <a:srgbClr val="1A0638"/>
          </a:solid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377440" y="749808"/>
            <a:ext cx="5349240" cy="347472"/>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468880" y="795528"/>
            <a:ext cx="5212079" cy="274320"/>
          </a:xfrm>
          <a:prstGeom prst="rect">
            <a:avLst/>
          </a:prstGeom>
          <a:noFill/>
        </p:spPr>
        <p:txBody>
          <a:bodyPr wrap="square">
            <a:spAutoFit/>
          </a:bodyPr>
          <a:lstStyle/>
          <a:p>
            <a:pPr algn="l"/>
            <a:r>
              <a:rPr sz="900" b="1" i="0">
                <a:solidFill>
                  <a:srgbClr val="0B0724"/>
                </a:solidFill>
              </a:rPr>
              <a:t>ABOUT THE USER</a:t>
            </a:r>
          </a:p>
        </p:txBody>
      </p:sp>
      <p:sp>
        <p:nvSpPr>
          <p:cNvPr id="26" name="TextBox 25"/>
          <p:cNvSpPr txBox="1"/>
          <p:nvPr/>
        </p:nvSpPr>
        <p:spPr>
          <a:xfrm>
            <a:off x="2505456" y="1161288"/>
            <a:ext cx="5120640" cy="1673352"/>
          </a:xfrm>
          <a:prstGeom prst="rect">
            <a:avLst/>
          </a:prstGeom>
          <a:noFill/>
        </p:spPr>
        <p:txBody>
          <a:bodyPr wrap="square">
            <a:spAutoFit/>
          </a:bodyPr>
          <a:lstStyle/>
          <a:p>
            <a:pPr algn="l"/>
            <a:r>
              <a:rPr sz="1100" b="0" i="0">
                <a:solidFill>
                  <a:srgbClr val="F5F0E8"/>
                </a:solidFill>
              </a:rPr>
              <a:t>Meena has no app-install capacity, no data plan, and no habit of digital healthcare. If support cannot reach her through SMS it does not reach her at all. She has never been screened for any health condition in her life.</a:t>
            </a:r>
          </a:p>
        </p:txBody>
      </p:sp>
      <p:sp>
        <p:nvSpPr>
          <p:cNvPr id="27" name="Rectangle 26"/>
          <p:cNvSpPr/>
          <p:nvPr/>
        </p:nvSpPr>
        <p:spPr>
          <a:xfrm>
            <a:off x="7799831" y="749808"/>
            <a:ext cx="4389120" cy="2148840"/>
          </a:xfrm>
          <a:prstGeom prst="rect">
            <a:avLst/>
          </a:prstGeom>
          <a:solidFill>
            <a:srgbClr val="120828"/>
          </a:solidFill>
          <a:ln w="12700">
            <a:solidFill>
              <a:srgbClr val="F5C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99831" y="749808"/>
            <a:ext cx="4389120" cy="347472"/>
          </a:xfrm>
          <a:prstGeom prst="rect">
            <a:avLst/>
          </a:prstGeom>
          <a:solidFill>
            <a:srgbClr val="F5C5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91271" y="795528"/>
            <a:ext cx="4251960" cy="274320"/>
          </a:xfrm>
          <a:prstGeom prst="rect">
            <a:avLst/>
          </a:prstGeom>
          <a:noFill/>
        </p:spPr>
        <p:txBody>
          <a:bodyPr wrap="square">
            <a:spAutoFit/>
          </a:bodyPr>
          <a:lstStyle/>
          <a:p>
            <a:pPr algn="l"/>
            <a:r>
              <a:rPr sz="900" b="1" i="0">
                <a:solidFill>
                  <a:srgbClr val="0B0724"/>
                </a:solidFill>
              </a:rPr>
              <a:t>TRAITS</a:t>
            </a:r>
          </a:p>
        </p:txBody>
      </p:sp>
      <p:sp>
        <p:nvSpPr>
          <p:cNvPr id="30" name="TextBox 29"/>
          <p:cNvSpPr txBox="1"/>
          <p:nvPr/>
        </p:nvSpPr>
        <p:spPr>
          <a:xfrm>
            <a:off x="7927848" y="1161288"/>
            <a:ext cx="4160520" cy="1673352"/>
          </a:xfrm>
          <a:prstGeom prst="rect">
            <a:avLst/>
          </a:prstGeom>
          <a:noFill/>
        </p:spPr>
        <p:txBody>
          <a:bodyPr wrap="square">
            <a:spAutoFit/>
          </a:bodyPr>
          <a:lstStyle/>
          <a:p>
            <a:pPr algn="l"/>
            <a:r>
              <a:rPr sz="1100" b="0" i="0">
                <a:solidFill>
                  <a:srgbClr val="F5F0E8"/>
                </a:solidFill>
              </a:rPr>
              <a:t>✦ Low-literacy
✦ Rural
✦ Persistent
✦ Never screened
✦ Trusts ASHA workers</a:t>
            </a:r>
          </a:p>
        </p:txBody>
      </p:sp>
      <p:sp>
        <p:nvSpPr>
          <p:cNvPr id="31" name="Rectangle 30"/>
          <p:cNvSpPr/>
          <p:nvPr/>
        </p:nvSpPr>
        <p:spPr>
          <a:xfrm>
            <a:off x="2377440" y="2971800"/>
            <a:ext cx="3176016" cy="3081527"/>
          </a:xfrm>
          <a:prstGeom prst="rect">
            <a:avLst/>
          </a:prstGeom>
          <a:solidFill>
            <a:srgbClr val="1A0638"/>
          </a:solid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377440" y="2971800"/>
            <a:ext cx="3176016" cy="347472"/>
          </a:xfrm>
          <a:prstGeom prst="rect">
            <a:avLst/>
          </a:prstGeom>
          <a:solidFill>
            <a:srgbClr val="D459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468880" y="3017520"/>
            <a:ext cx="3038856" cy="274320"/>
          </a:xfrm>
          <a:prstGeom prst="rect">
            <a:avLst/>
          </a:prstGeom>
          <a:noFill/>
        </p:spPr>
        <p:txBody>
          <a:bodyPr wrap="square">
            <a:spAutoFit/>
          </a:bodyPr>
          <a:lstStyle/>
          <a:p>
            <a:pPr algn="l"/>
            <a:r>
              <a:rPr sz="900" b="1" i="0">
                <a:solidFill>
                  <a:srgbClr val="0B0724"/>
                </a:solidFill>
              </a:rPr>
              <a:t>TRIGGER MOMENTS</a:t>
            </a:r>
          </a:p>
        </p:txBody>
      </p:sp>
      <p:sp>
        <p:nvSpPr>
          <p:cNvPr id="34" name="TextBox 33"/>
          <p:cNvSpPr txBox="1"/>
          <p:nvPr/>
        </p:nvSpPr>
        <p:spPr>
          <a:xfrm>
            <a:off x="2505456" y="3383280"/>
            <a:ext cx="2947416" cy="2606039"/>
          </a:xfrm>
          <a:prstGeom prst="rect">
            <a:avLst/>
          </a:prstGeom>
          <a:noFill/>
        </p:spPr>
        <p:txBody>
          <a:bodyPr wrap="square">
            <a:spAutoFit/>
          </a:bodyPr>
          <a:lstStyle/>
          <a:p>
            <a:pPr algn="l"/>
            <a:r>
              <a:rPr sz="1100" b="0" i="0">
                <a:solidFill>
                  <a:srgbClr val="F5F0E8"/>
                </a:solidFill>
              </a:rPr>
              <a:t>✦ No data plan or app store
✦ Needs SMS-first guidance
✦ Lives far from formal care</a:t>
            </a:r>
          </a:p>
        </p:txBody>
      </p:sp>
      <p:sp>
        <p:nvSpPr>
          <p:cNvPr id="35" name="Rectangle 34"/>
          <p:cNvSpPr/>
          <p:nvPr/>
        </p:nvSpPr>
        <p:spPr>
          <a:xfrm>
            <a:off x="5635752" y="2971800"/>
            <a:ext cx="3176016" cy="3081527"/>
          </a:xfrm>
          <a:prstGeom prst="rect">
            <a:avLst/>
          </a:prstGeom>
          <a:solidFill>
            <a:srgbClr val="120828"/>
          </a:solid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35752" y="2971800"/>
            <a:ext cx="3176016" cy="347472"/>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27192" y="3017520"/>
            <a:ext cx="3038856" cy="274320"/>
          </a:xfrm>
          <a:prstGeom prst="rect">
            <a:avLst/>
          </a:prstGeom>
          <a:noFill/>
        </p:spPr>
        <p:txBody>
          <a:bodyPr wrap="square">
            <a:spAutoFit/>
          </a:bodyPr>
          <a:lstStyle/>
          <a:p>
            <a:pPr algn="l"/>
            <a:r>
              <a:rPr sz="900" b="1" i="0">
                <a:solidFill>
                  <a:srgbClr val="0B0724"/>
                </a:solidFill>
              </a:rPr>
              <a:t>PROBLEMS</a:t>
            </a:r>
          </a:p>
        </p:txBody>
      </p:sp>
      <p:sp>
        <p:nvSpPr>
          <p:cNvPr id="38" name="TextBox 37"/>
          <p:cNvSpPr txBox="1"/>
          <p:nvPr/>
        </p:nvSpPr>
        <p:spPr>
          <a:xfrm>
            <a:off x="5763768" y="3383280"/>
            <a:ext cx="2947416" cy="2606039"/>
          </a:xfrm>
          <a:prstGeom prst="rect">
            <a:avLst/>
          </a:prstGeom>
          <a:noFill/>
        </p:spPr>
        <p:txBody>
          <a:bodyPr wrap="square">
            <a:spAutoFit/>
          </a:bodyPr>
          <a:lstStyle/>
          <a:p>
            <a:pPr algn="l"/>
            <a:r>
              <a:rPr sz="1100" b="0" i="0">
                <a:solidFill>
                  <a:srgbClr val="F5F0E8"/>
                </a:solidFill>
              </a:rPr>
              <a:t>✦ No installable app path
✦ Screening info never reaches her
✦ High-risk signs go unchecked</a:t>
            </a:r>
          </a:p>
        </p:txBody>
      </p:sp>
      <p:sp>
        <p:nvSpPr>
          <p:cNvPr id="39" name="Rectangle 38"/>
          <p:cNvSpPr/>
          <p:nvPr/>
        </p:nvSpPr>
        <p:spPr>
          <a:xfrm>
            <a:off x="8894064" y="2971800"/>
            <a:ext cx="3176016" cy="3081527"/>
          </a:xfrm>
          <a:prstGeom prst="rect">
            <a:avLst/>
          </a:prstGeom>
          <a:solidFill>
            <a:srgbClr val="1A0638"/>
          </a:solid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894064" y="2971800"/>
            <a:ext cx="3176016" cy="347472"/>
          </a:xfrm>
          <a:prstGeom prst="rect">
            <a:avLst/>
          </a:prstGeom>
          <a:solidFill>
            <a:srgbClr val="00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985504" y="3017520"/>
            <a:ext cx="3038856" cy="274320"/>
          </a:xfrm>
          <a:prstGeom prst="rect">
            <a:avLst/>
          </a:prstGeom>
          <a:noFill/>
        </p:spPr>
        <p:txBody>
          <a:bodyPr wrap="square">
            <a:spAutoFit/>
          </a:bodyPr>
          <a:lstStyle/>
          <a:p>
            <a:pPr algn="l"/>
            <a:r>
              <a:rPr sz="900" b="1" i="0">
                <a:solidFill>
                  <a:srgbClr val="0B0724"/>
                </a:solidFill>
              </a:rPr>
              <a:t>GOALS AND NEEDS</a:t>
            </a:r>
          </a:p>
        </p:txBody>
      </p:sp>
      <p:sp>
        <p:nvSpPr>
          <p:cNvPr id="42" name="TextBox 41"/>
          <p:cNvSpPr txBox="1"/>
          <p:nvPr/>
        </p:nvSpPr>
        <p:spPr>
          <a:xfrm>
            <a:off x="9022080" y="3383280"/>
            <a:ext cx="2947416" cy="2606039"/>
          </a:xfrm>
          <a:prstGeom prst="rect">
            <a:avLst/>
          </a:prstGeom>
          <a:noFill/>
        </p:spPr>
        <p:txBody>
          <a:bodyPr wrap="square">
            <a:spAutoFit/>
          </a:bodyPr>
          <a:lstStyle/>
          <a:p>
            <a:pPr algn="l"/>
            <a:r>
              <a:rPr sz="1100" b="0" i="0">
                <a:solidFill>
                  <a:srgbClr val="F5F0E8"/>
                </a:solidFill>
              </a:rPr>
              <a:t>✦ Screen through SMS/USSD
✦ Get nearest PHC guidance offline
✦ Receive follow-up via ASHA</a:t>
            </a:r>
          </a:p>
        </p:txBody>
      </p:sp>
      <p:sp>
        <p:nvSpPr>
          <p:cNvPr id="43" name="Rectangle 42"/>
          <p:cNvSpPr/>
          <p:nvPr/>
        </p:nvSpPr>
        <p:spPr>
          <a:xfrm>
            <a:off x="0" y="6108192"/>
            <a:ext cx="12188952" cy="768096"/>
          </a:xfrm>
          <a:prstGeom prst="rect">
            <a:avLst/>
          </a:prstGeom>
          <a:solidFill>
            <a:srgbClr val="1A062E"/>
          </a:solidFill>
          <a:ln w="1016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0040" y="6163055"/>
            <a:ext cx="2286000" cy="256032"/>
          </a:xfrm>
          <a:prstGeom prst="rect">
            <a:avLst/>
          </a:prstGeom>
          <a:noFill/>
        </p:spPr>
        <p:txBody>
          <a:bodyPr wrap="square">
            <a:spAutoFit/>
          </a:bodyPr>
          <a:lstStyle/>
          <a:p>
            <a:pPr algn="l"/>
            <a:r>
              <a:rPr sz="800" b="1" i="0">
                <a:solidFill>
                  <a:srgbClr val="E8920A"/>
                </a:solidFill>
              </a:rPr>
              <a:t>✦  JOURNEY SNAPSHOT</a:t>
            </a:r>
          </a:p>
        </p:txBody>
      </p:sp>
      <p:sp>
        <p:nvSpPr>
          <p:cNvPr id="45" name="TextBox 44"/>
          <p:cNvSpPr txBox="1"/>
          <p:nvPr/>
        </p:nvSpPr>
        <p:spPr>
          <a:xfrm>
            <a:off x="2606040" y="6153912"/>
            <a:ext cx="9418320" cy="594360"/>
          </a:xfrm>
          <a:prstGeom prst="rect">
            <a:avLst/>
          </a:prstGeom>
          <a:noFill/>
        </p:spPr>
        <p:txBody>
          <a:bodyPr wrap="square">
            <a:spAutoFit/>
          </a:bodyPr>
          <a:lstStyle/>
          <a:p>
            <a:pPr algn="l"/>
            <a:r>
              <a:rPr sz="1050" b="0" i="1">
                <a:solidFill>
                  <a:srgbClr val="F5F0E8"/>
                </a:solidFill>
              </a:rPr>
              <a:t>SMS 'SAHELI' to shortcode → 5-SMS cervical risk screen → high risk flagged → 'Free test, PHC 2 km' → ASHA follow-up scheduled → first health screening in 42 years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724"/>
        </a:solidFill>
        <a:effectLst/>
      </p:bgPr>
    </p:bg>
    <p:spTree>
      <p:nvGrpSpPr>
        <p:cNvPr id="1" name=""/>
        <p:cNvGrpSpPr/>
        <p:nvPr/>
      </p:nvGrpSpPr>
      <p:grpSpPr/>
      <p:sp>
        <p:nvSpPr>
          <p:cNvPr id="2" name="Rectangle 1"/>
          <p:cNvSpPr/>
          <p:nvPr/>
        </p:nvSpPr>
        <p:spPr>
          <a:xfrm>
            <a:off x="7863840" y="0"/>
            <a:ext cx="4325112" cy="6858000"/>
          </a:xfrm>
          <a:prstGeom prst="rect">
            <a:avLst/>
          </a:prstGeom>
          <a:solidFill>
            <a:srgbClr val="100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30768" y="1828800"/>
            <a:ext cx="3200400" cy="3200400"/>
          </a:xfrm>
          <a:prstGeom prst="ellipse">
            <a:avLst/>
          </a:prstGeom>
          <a:noFill/>
          <a:ln w="2286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697468" y="2095500"/>
            <a:ext cx="2667000" cy="2667000"/>
          </a:xfrm>
          <a:prstGeom prst="ellipse">
            <a:avLst/>
          </a:prstGeom>
          <a:noFill/>
          <a:ln w="15240">
            <a:solidFill>
              <a:srgbClr val="1A0A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964168" y="2362199"/>
            <a:ext cx="2133600" cy="2133600"/>
          </a:xfrm>
          <a:prstGeom prst="ellipse">
            <a:avLst/>
          </a:prstGeom>
          <a:noFill/>
          <a:ln w="15240">
            <a:solidFill>
              <a:srgbClr val="F5C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230868" y="2628900"/>
            <a:ext cx="1600200" cy="1600200"/>
          </a:xfrm>
          <a:prstGeom prst="ellipse">
            <a:avLst/>
          </a:prstGeom>
          <a:noFill/>
          <a:ln w="8890">
            <a:solidFill>
              <a:srgbClr val="C98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497568" y="2895600"/>
            <a:ext cx="1066800" cy="1066800"/>
          </a:xfrm>
          <a:prstGeom prst="ellipse">
            <a:avLst/>
          </a:prstGeom>
          <a:noFill/>
          <a:ln w="889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764268" y="3162300"/>
            <a:ext cx="533400" cy="533400"/>
          </a:xfrm>
          <a:prstGeom prst="ellipse">
            <a:avLst/>
          </a:prstGeom>
          <a:noFill/>
          <a:ln w="889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228832" y="334670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57323" y="398678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588752" y="4455355"/>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948672" y="462686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308592" y="4455355"/>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840020" y="398678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668512" y="334670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840020" y="270662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308592" y="2238052"/>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948672" y="2066543"/>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588752" y="2238052"/>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057323" y="2706623"/>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2188952" y="3346704"/>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2018420" y="4204022"/>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532789" y="4930821"/>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805990" y="5416452"/>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948672" y="5586983"/>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091353" y="5416452"/>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364554" y="4930821"/>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878923" y="4204022"/>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708392" y="3346704"/>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878923" y="2489385"/>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364554" y="1762586"/>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091353" y="1276955"/>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948672" y="1106424"/>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805990" y="1276955"/>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532789" y="1762586"/>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2018420" y="2489385"/>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939528" y="3337560"/>
            <a:ext cx="182880" cy="182880"/>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960352" y="3346704"/>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1761133" y="4219539"/>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1202933" y="4919498"/>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0396312" y="5307946"/>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501031" y="5307946"/>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694410" y="4919498"/>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136210" y="4219539"/>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936992" y="3346704"/>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8136210" y="2473868"/>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694410" y="1773909"/>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9501031" y="1385461"/>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396312" y="1385461"/>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1202933" y="1773909"/>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1761133" y="2473868"/>
            <a:ext cx="164592" cy="164592"/>
          </a:xfrm>
          <a:prstGeom prst="ellipse">
            <a:avLst/>
          </a:prstGeom>
          <a:noFill/>
          <a:ln w="127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778240" y="91440"/>
            <a:ext cx="3200400" cy="365760"/>
          </a:xfrm>
          <a:prstGeom prst="rect">
            <a:avLst/>
          </a:prstGeom>
          <a:noFill/>
        </p:spPr>
        <p:txBody>
          <a:bodyPr wrap="square">
            <a:spAutoFit/>
          </a:bodyPr>
          <a:lstStyle/>
          <a:p>
            <a:pPr algn="r"/>
            <a:r>
              <a:rPr sz="900" b="0" i="0">
                <a:solidFill>
                  <a:srgbClr val="C9836B"/>
                </a:solidFill>
              </a:rPr>
              <a:t>HopeWorks  ✦  AI4India</a:t>
            </a:r>
          </a:p>
        </p:txBody>
      </p:sp>
      <p:sp>
        <p:nvSpPr>
          <p:cNvPr id="53" name="Oval 52"/>
          <p:cNvSpPr/>
          <p:nvPr/>
        </p:nvSpPr>
        <p:spPr>
          <a:xfrm>
            <a:off x="109728" y="91440"/>
            <a:ext cx="621792" cy="621792"/>
          </a:xfrm>
          <a:prstGeom prst="ellipse">
            <a:avLst/>
          </a:prstGeom>
          <a:solidFill>
            <a:srgbClr val="5C0F26"/>
          </a:solidFill>
          <a:ln w="1905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 y="91440"/>
            <a:ext cx="621792" cy="621792"/>
          </a:xfrm>
          <a:prstGeom prst="rect">
            <a:avLst/>
          </a:prstGeom>
          <a:noFill/>
        </p:spPr>
        <p:txBody>
          <a:bodyPr wrap="square">
            <a:spAutoFit/>
          </a:bodyPr>
          <a:lstStyle/>
          <a:p>
            <a:pPr algn="ctr"/>
            <a:r>
              <a:rPr sz="1500" b="1" i="0">
                <a:solidFill>
                  <a:srgbClr val="E8920A"/>
                </a:solidFill>
              </a:rPr>
              <a:t>AI</a:t>
            </a:r>
          </a:p>
        </p:txBody>
      </p:sp>
      <p:sp>
        <p:nvSpPr>
          <p:cNvPr id="55" name="TextBox 54"/>
          <p:cNvSpPr txBox="1"/>
          <p:nvPr/>
        </p:nvSpPr>
        <p:spPr>
          <a:xfrm>
            <a:off x="914400" y="201168"/>
            <a:ext cx="6400800" cy="685800"/>
          </a:xfrm>
          <a:prstGeom prst="rect">
            <a:avLst/>
          </a:prstGeom>
          <a:noFill/>
        </p:spPr>
        <p:txBody>
          <a:bodyPr wrap="square">
            <a:spAutoFit/>
          </a:bodyPr>
          <a:lstStyle/>
          <a:p>
            <a:pPr algn="l"/>
            <a:r>
              <a:rPr sz="3800" b="1" i="0">
                <a:solidFill>
                  <a:srgbClr val="F5F0E8"/>
                </a:solidFill>
              </a:rPr>
              <a:t>Our Solution</a:t>
            </a:r>
          </a:p>
        </p:txBody>
      </p:sp>
      <p:sp>
        <p:nvSpPr>
          <p:cNvPr id="56" name="Rectangle 55"/>
          <p:cNvSpPr/>
          <p:nvPr/>
        </p:nvSpPr>
        <p:spPr>
          <a:xfrm>
            <a:off x="914400" y="896112"/>
            <a:ext cx="6766560" cy="36576"/>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4400" y="1005840"/>
            <a:ext cx="6400800" cy="777240"/>
          </a:xfrm>
          <a:prstGeom prst="rect">
            <a:avLst/>
          </a:prstGeom>
          <a:noFill/>
        </p:spPr>
        <p:txBody>
          <a:bodyPr wrap="square">
            <a:spAutoFit/>
          </a:bodyPr>
          <a:lstStyle/>
          <a:p>
            <a:pPr algn="l"/>
            <a:r>
              <a:rPr sz="1400" b="1" i="0">
                <a:solidFill>
                  <a:srgbClr val="E8920A"/>
                </a:solidFill>
              </a:rPr>
              <a:t>A stealth, voice-native rights and evidence companion
for women on shared phones.</a:t>
            </a:r>
          </a:p>
        </p:txBody>
      </p:sp>
      <p:pic>
        <p:nvPicPr>
          <p:cNvPr id="58" name="Picture 57" descr="r_varanasi_10.jpg"/>
          <p:cNvPicPr>
            <a:picLocks noChangeAspect="1"/>
          </p:cNvPicPr>
          <p:nvPr/>
        </p:nvPicPr>
        <p:blipFill>
          <a:blip r:embed="rId2"/>
          <a:stretch>
            <a:fillRect/>
          </a:stretch>
        </p:blipFill>
        <p:spPr>
          <a:xfrm>
            <a:off x="182880" y="1920240"/>
            <a:ext cx="3154680" cy="4800600"/>
          </a:xfrm>
          <a:prstGeom prst="rect">
            <a:avLst/>
          </a:prstGeom>
        </p:spPr>
      </p:pic>
      <p:sp>
        <p:nvSpPr>
          <p:cNvPr id="59" name="Rectangle 58"/>
          <p:cNvSpPr/>
          <p:nvPr/>
        </p:nvSpPr>
        <p:spPr>
          <a:xfrm>
            <a:off x="182880" y="1920240"/>
            <a:ext cx="3154680" cy="4800600"/>
          </a:xfrm>
          <a:prstGeom prst="rect">
            <a:avLst/>
          </a:prstGeom>
          <a:noFill/>
          <a:ln w="1905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520440" y="1920240"/>
            <a:ext cx="45720" cy="4754880"/>
          </a:xfrm>
          <a:prstGeom prst="rect">
            <a:avLst/>
          </a:prstGeom>
          <a:solidFill>
            <a:srgbClr val="403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3419856" y="2084831"/>
            <a:ext cx="219456" cy="219456"/>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3419856" y="2862072"/>
            <a:ext cx="219456" cy="219456"/>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419856" y="3639311"/>
            <a:ext cx="219456" cy="219456"/>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3419856" y="4416552"/>
            <a:ext cx="219456" cy="219456"/>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3419856" y="5193792"/>
            <a:ext cx="219456" cy="219456"/>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3419856" y="5971032"/>
            <a:ext cx="219456" cy="219456"/>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794760" y="1993392"/>
            <a:ext cx="3840480" cy="274320"/>
          </a:xfrm>
          <a:prstGeom prst="rect">
            <a:avLst/>
          </a:prstGeom>
          <a:noFill/>
        </p:spPr>
        <p:txBody>
          <a:bodyPr wrap="square">
            <a:spAutoFit/>
          </a:bodyPr>
          <a:lstStyle/>
          <a:p>
            <a:pPr algn="l"/>
            <a:r>
              <a:rPr sz="1200" b="1" i="0">
                <a:solidFill>
                  <a:srgbClr val="F5C542"/>
                </a:solidFill>
              </a:rPr>
              <a:t>What do you plan to build?</a:t>
            </a:r>
          </a:p>
        </p:txBody>
      </p:sp>
      <p:sp>
        <p:nvSpPr>
          <p:cNvPr id="68" name="TextBox 67"/>
          <p:cNvSpPr txBox="1"/>
          <p:nvPr/>
        </p:nvSpPr>
        <p:spPr>
          <a:xfrm>
            <a:off x="3794760" y="2267712"/>
            <a:ext cx="3840480" cy="530352"/>
          </a:xfrm>
          <a:prstGeom prst="rect">
            <a:avLst/>
          </a:prstGeom>
          <a:noFill/>
        </p:spPr>
        <p:txBody>
          <a:bodyPr wrap="square">
            <a:spAutoFit/>
          </a:bodyPr>
          <a:lstStyle/>
          <a:p>
            <a:pPr algn="l"/>
            <a:r>
              <a:rPr sz="1050" b="0" i="0">
                <a:solidFill>
                  <a:srgbClr val="F5F0E8"/>
                </a:solidFill>
              </a:rPr>
              <a:t>Voice-first stealth app: evidence vault + rights guide + SOS + scheme finder + health journal.</a:t>
            </a:r>
          </a:p>
        </p:txBody>
      </p:sp>
      <p:sp>
        <p:nvSpPr>
          <p:cNvPr id="69" name="TextBox 68"/>
          <p:cNvSpPr txBox="1"/>
          <p:nvPr/>
        </p:nvSpPr>
        <p:spPr>
          <a:xfrm>
            <a:off x="3794760" y="2770632"/>
            <a:ext cx="3840480" cy="274320"/>
          </a:xfrm>
          <a:prstGeom prst="rect">
            <a:avLst/>
          </a:prstGeom>
          <a:noFill/>
        </p:spPr>
        <p:txBody>
          <a:bodyPr wrap="square">
            <a:spAutoFit/>
          </a:bodyPr>
          <a:lstStyle/>
          <a:p>
            <a:pPr algn="l"/>
            <a:r>
              <a:rPr sz="1200" b="1" i="0">
                <a:solidFill>
                  <a:srgbClr val="D4597A"/>
                </a:solidFill>
              </a:rPr>
              <a:t>Who is it for?</a:t>
            </a:r>
          </a:p>
        </p:txBody>
      </p:sp>
      <p:sp>
        <p:nvSpPr>
          <p:cNvPr id="70" name="TextBox 69"/>
          <p:cNvSpPr txBox="1"/>
          <p:nvPr/>
        </p:nvSpPr>
        <p:spPr>
          <a:xfrm>
            <a:off x="3794760" y="3044952"/>
            <a:ext cx="3840480" cy="530352"/>
          </a:xfrm>
          <a:prstGeom prst="rect">
            <a:avLst/>
          </a:prstGeom>
          <a:noFill/>
        </p:spPr>
        <p:txBody>
          <a:bodyPr wrap="square">
            <a:spAutoFit/>
          </a:bodyPr>
          <a:lstStyle/>
          <a:p>
            <a:pPr algn="l"/>
            <a:r>
              <a:rPr sz="1050" b="0" i="0">
                <a:solidFill>
                  <a:srgbClr val="F5F0E8"/>
                </a:solidFill>
              </a:rPr>
              <a:t>180M+ women aged 18–45 in tier-2/3 India — shared phones, feature phones, offline users.</a:t>
            </a:r>
          </a:p>
        </p:txBody>
      </p:sp>
      <p:sp>
        <p:nvSpPr>
          <p:cNvPr id="71" name="TextBox 70"/>
          <p:cNvSpPr txBox="1"/>
          <p:nvPr/>
        </p:nvSpPr>
        <p:spPr>
          <a:xfrm>
            <a:off x="3794760" y="3547872"/>
            <a:ext cx="3840480" cy="274320"/>
          </a:xfrm>
          <a:prstGeom prst="rect">
            <a:avLst/>
          </a:prstGeom>
          <a:noFill/>
        </p:spPr>
        <p:txBody>
          <a:bodyPr wrap="square">
            <a:spAutoFit/>
          </a:bodyPr>
          <a:lstStyle/>
          <a:p>
            <a:pPr algn="l"/>
            <a:r>
              <a:rPr sz="1200" b="1" i="0">
                <a:solidFill>
                  <a:srgbClr val="008888"/>
                </a:solidFill>
              </a:rPr>
              <a:t>What problem does it address?</a:t>
            </a:r>
          </a:p>
        </p:txBody>
      </p:sp>
      <p:sp>
        <p:nvSpPr>
          <p:cNvPr id="72" name="TextBox 71"/>
          <p:cNvSpPr txBox="1"/>
          <p:nvPr/>
        </p:nvSpPr>
        <p:spPr>
          <a:xfrm>
            <a:off x="3794760" y="3822192"/>
            <a:ext cx="3840480" cy="530352"/>
          </a:xfrm>
          <a:prstGeom prst="rect">
            <a:avLst/>
          </a:prstGeom>
          <a:noFill/>
        </p:spPr>
        <p:txBody>
          <a:bodyPr wrap="square">
            <a:spAutoFit/>
          </a:bodyPr>
          <a:lstStyle/>
          <a:p>
            <a:pPr algn="l"/>
            <a:r>
              <a:rPr sz="1050" b="0" i="0">
                <a:solidFill>
                  <a:srgbClr val="F5F0E8"/>
                </a:solidFill>
              </a:rPr>
              <a:t>The invisible evidence gap: women can't document abuse or access rights on a monitored device.</a:t>
            </a:r>
          </a:p>
        </p:txBody>
      </p:sp>
      <p:sp>
        <p:nvSpPr>
          <p:cNvPr id="73" name="TextBox 72"/>
          <p:cNvSpPr txBox="1"/>
          <p:nvPr/>
        </p:nvSpPr>
        <p:spPr>
          <a:xfrm>
            <a:off x="3794760" y="4325112"/>
            <a:ext cx="3840480" cy="274320"/>
          </a:xfrm>
          <a:prstGeom prst="rect">
            <a:avLst/>
          </a:prstGeom>
          <a:noFill/>
        </p:spPr>
        <p:txBody>
          <a:bodyPr wrap="square">
            <a:spAutoFit/>
          </a:bodyPr>
          <a:lstStyle/>
          <a:p>
            <a:pPr algn="l"/>
            <a:r>
              <a:rPr sz="1200" b="1" i="0">
                <a:solidFill>
                  <a:srgbClr val="E8920A"/>
                </a:solidFill>
              </a:rPr>
              <a:t>How would it work in the real world?</a:t>
            </a:r>
          </a:p>
        </p:txBody>
      </p:sp>
      <p:sp>
        <p:nvSpPr>
          <p:cNvPr id="74" name="TextBox 73"/>
          <p:cNvSpPr txBox="1"/>
          <p:nvPr/>
        </p:nvSpPr>
        <p:spPr>
          <a:xfrm>
            <a:off x="3794760" y="4599432"/>
            <a:ext cx="3840480" cy="530352"/>
          </a:xfrm>
          <a:prstGeom prst="rect">
            <a:avLst/>
          </a:prstGeom>
          <a:noFill/>
        </p:spPr>
        <p:txBody>
          <a:bodyPr wrap="square">
            <a:spAutoFit/>
          </a:bodyPr>
          <a:lstStyle/>
          <a:p>
            <a:pPr algn="l"/>
            <a:r>
              <a:rPr sz="1050" b="0" i="0">
                <a:solidFill>
                  <a:srgbClr val="F5F0E8"/>
                </a:solidFill>
              </a:rPr>
              <a:t>One sentence in Hindi → Saheli captures evidence, explains rights, or triggers SOS offline.</a:t>
            </a:r>
          </a:p>
        </p:txBody>
      </p:sp>
      <p:sp>
        <p:nvSpPr>
          <p:cNvPr id="75" name="TextBox 74"/>
          <p:cNvSpPr txBox="1"/>
          <p:nvPr/>
        </p:nvSpPr>
        <p:spPr>
          <a:xfrm>
            <a:off x="3794760" y="5102352"/>
            <a:ext cx="3840480" cy="274320"/>
          </a:xfrm>
          <a:prstGeom prst="rect">
            <a:avLst/>
          </a:prstGeom>
          <a:noFill/>
        </p:spPr>
        <p:txBody>
          <a:bodyPr wrap="square">
            <a:spAutoFit/>
          </a:bodyPr>
          <a:lstStyle/>
          <a:p>
            <a:pPr algn="l"/>
            <a:r>
              <a:rPr sz="1200" b="1" i="0">
                <a:solidFill>
                  <a:srgbClr val="C9836B"/>
                </a:solidFill>
              </a:rPr>
              <a:t>What impact would it create?</a:t>
            </a:r>
          </a:p>
        </p:txBody>
      </p:sp>
      <p:sp>
        <p:nvSpPr>
          <p:cNvPr id="76" name="TextBox 75"/>
          <p:cNvSpPr txBox="1"/>
          <p:nvPr/>
        </p:nvSpPr>
        <p:spPr>
          <a:xfrm>
            <a:off x="3794760" y="5376672"/>
            <a:ext cx="3840480" cy="530352"/>
          </a:xfrm>
          <a:prstGeom prst="rect">
            <a:avLst/>
          </a:prstGeom>
          <a:noFill/>
        </p:spPr>
        <p:txBody>
          <a:bodyPr wrap="square">
            <a:spAutoFit/>
          </a:bodyPr>
          <a:lstStyle/>
          <a:p>
            <a:pPr algn="l"/>
            <a:r>
              <a:rPr sz="1050" b="0" i="0">
                <a:solidFill>
                  <a:srgbClr val="F5F0E8"/>
                </a:solidFill>
              </a:rPr>
              <a:t>Documented cases, legal empowerment, reduced burnout — at scale via ASHA and SHG networks.</a:t>
            </a:r>
          </a:p>
        </p:txBody>
      </p:sp>
      <p:sp>
        <p:nvSpPr>
          <p:cNvPr id="77" name="TextBox 76"/>
          <p:cNvSpPr txBox="1"/>
          <p:nvPr/>
        </p:nvSpPr>
        <p:spPr>
          <a:xfrm>
            <a:off x="3794760" y="5879592"/>
            <a:ext cx="3840480" cy="274320"/>
          </a:xfrm>
          <a:prstGeom prst="rect">
            <a:avLst/>
          </a:prstGeom>
          <a:noFill/>
        </p:spPr>
        <p:txBody>
          <a:bodyPr wrap="square">
            <a:spAutoFit/>
          </a:bodyPr>
          <a:lstStyle/>
          <a:p>
            <a:pPr algn="l"/>
            <a:r>
              <a:rPr sz="1200" b="1" i="0">
                <a:solidFill>
                  <a:srgbClr val="D4597A"/>
                </a:solidFill>
              </a:rPr>
              <a:t>Why is it worth building?</a:t>
            </a:r>
          </a:p>
        </p:txBody>
      </p:sp>
      <p:sp>
        <p:nvSpPr>
          <p:cNvPr id="78" name="TextBox 77"/>
          <p:cNvSpPr txBox="1"/>
          <p:nvPr/>
        </p:nvSpPr>
        <p:spPr>
          <a:xfrm>
            <a:off x="3794760" y="6153912"/>
            <a:ext cx="3840480" cy="530352"/>
          </a:xfrm>
          <a:prstGeom prst="rect">
            <a:avLst/>
          </a:prstGeom>
          <a:noFill/>
        </p:spPr>
        <p:txBody>
          <a:bodyPr wrap="square">
            <a:spAutoFit/>
          </a:bodyPr>
          <a:lstStyle/>
          <a:p>
            <a:pPr algn="l"/>
            <a:r>
              <a:rPr sz="1050" b="0" i="0">
                <a:solidFill>
                  <a:srgbClr val="F5F0E8"/>
                </a:solidFill>
              </a:rPr>
              <a:t>300M+ women are excluded by every existing platform. Saheli closes that gap.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724"/>
        </a:solidFill>
        <a:effectLst/>
      </p:bgPr>
    </p:bg>
    <p:spTree>
      <p:nvGrpSpPr>
        <p:cNvPr id="1" name=""/>
        <p:cNvGrpSpPr/>
        <p:nvPr/>
      </p:nvGrpSpPr>
      <p:grpSpPr/>
      <p:sp>
        <p:nvSpPr>
          <p:cNvPr id="2" name="Rectangle 1"/>
          <p:cNvSpPr/>
          <p:nvPr/>
        </p:nvSpPr>
        <p:spPr>
          <a:xfrm>
            <a:off x="0" y="0"/>
            <a:ext cx="12188952" cy="896112"/>
          </a:xfrm>
          <a:prstGeom prst="rect">
            <a:avLst/>
          </a:prstGeom>
          <a:solidFill>
            <a:srgbClr val="180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96112"/>
            <a:ext cx="12188952" cy="36576"/>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78240" y="91440"/>
            <a:ext cx="3200400" cy="365760"/>
          </a:xfrm>
          <a:prstGeom prst="rect">
            <a:avLst/>
          </a:prstGeom>
          <a:noFill/>
        </p:spPr>
        <p:txBody>
          <a:bodyPr wrap="square">
            <a:spAutoFit/>
          </a:bodyPr>
          <a:lstStyle/>
          <a:p>
            <a:pPr algn="r"/>
            <a:r>
              <a:rPr sz="900" b="0" i="0">
                <a:solidFill>
                  <a:srgbClr val="C9836B"/>
                </a:solidFill>
              </a:rPr>
              <a:t>HopeWorks  ✦  AI4India</a:t>
            </a:r>
          </a:p>
        </p:txBody>
      </p:sp>
      <p:sp>
        <p:nvSpPr>
          <p:cNvPr id="5" name="Oval 4"/>
          <p:cNvSpPr/>
          <p:nvPr/>
        </p:nvSpPr>
        <p:spPr>
          <a:xfrm>
            <a:off x="109728" y="91440"/>
            <a:ext cx="621792" cy="621792"/>
          </a:xfrm>
          <a:prstGeom prst="ellipse">
            <a:avLst/>
          </a:prstGeom>
          <a:solidFill>
            <a:srgbClr val="5C0F26"/>
          </a:solidFill>
          <a:ln w="1905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 y="91440"/>
            <a:ext cx="621792" cy="621792"/>
          </a:xfrm>
          <a:prstGeom prst="rect">
            <a:avLst/>
          </a:prstGeom>
          <a:noFill/>
        </p:spPr>
        <p:txBody>
          <a:bodyPr wrap="square">
            <a:spAutoFit/>
          </a:bodyPr>
          <a:lstStyle/>
          <a:p>
            <a:pPr algn="ctr"/>
            <a:r>
              <a:rPr sz="1500" b="1" i="0">
                <a:solidFill>
                  <a:srgbClr val="E8920A"/>
                </a:solidFill>
              </a:rPr>
              <a:t>AI</a:t>
            </a:r>
          </a:p>
        </p:txBody>
      </p:sp>
      <p:sp>
        <p:nvSpPr>
          <p:cNvPr id="7" name="TextBox 6"/>
          <p:cNvSpPr txBox="1"/>
          <p:nvPr/>
        </p:nvSpPr>
        <p:spPr>
          <a:xfrm>
            <a:off x="914400" y="91440"/>
            <a:ext cx="8229600" cy="566928"/>
          </a:xfrm>
          <a:prstGeom prst="rect">
            <a:avLst/>
          </a:prstGeom>
          <a:noFill/>
        </p:spPr>
        <p:txBody>
          <a:bodyPr wrap="square">
            <a:spAutoFit/>
          </a:bodyPr>
          <a:lstStyle/>
          <a:p>
            <a:pPr algn="l"/>
            <a:r>
              <a:rPr sz="2600" b="1" i="0">
                <a:solidFill>
                  <a:srgbClr val="F5F0E8"/>
                </a:solidFill>
              </a:rPr>
              <a:t>Our Solution Continue</a:t>
            </a:r>
          </a:p>
        </p:txBody>
      </p:sp>
      <p:sp>
        <p:nvSpPr>
          <p:cNvPr id="8" name="TextBox 7"/>
          <p:cNvSpPr txBox="1"/>
          <p:nvPr/>
        </p:nvSpPr>
        <p:spPr>
          <a:xfrm>
            <a:off x="914400" y="603504"/>
            <a:ext cx="8229600" cy="256032"/>
          </a:xfrm>
          <a:prstGeom prst="rect">
            <a:avLst/>
          </a:prstGeom>
          <a:noFill/>
        </p:spPr>
        <p:txBody>
          <a:bodyPr wrap="square">
            <a:spAutoFit/>
          </a:bodyPr>
          <a:lstStyle/>
          <a:p>
            <a:pPr algn="l"/>
            <a:r>
              <a:rPr sz="1300" b="1" i="0">
                <a:solidFill>
                  <a:srgbClr val="E8920A"/>
                </a:solidFill>
              </a:rPr>
              <a:t>Five capabilities. One conversation.</a:t>
            </a:r>
          </a:p>
        </p:txBody>
      </p:sp>
      <p:sp>
        <p:nvSpPr>
          <p:cNvPr id="9" name="Rectangle 8"/>
          <p:cNvSpPr/>
          <p:nvPr/>
        </p:nvSpPr>
        <p:spPr>
          <a:xfrm>
            <a:off x="182880" y="987552"/>
            <a:ext cx="2423160" cy="3474720"/>
          </a:xfrm>
          <a:prstGeom prst="rect">
            <a:avLst/>
          </a:prstGeom>
          <a:solidFill>
            <a:srgbClr val="0F0528"/>
          </a:solid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21208" y="1856232"/>
            <a:ext cx="1737360" cy="1737360"/>
          </a:xfrm>
          <a:prstGeom prst="ellipse">
            <a:avLst/>
          </a:prstGeom>
          <a:noFill/>
          <a:ln w="22860">
            <a:solidFill>
              <a:srgbClr val="F5C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8378" y="2073402"/>
            <a:ext cx="1303019" cy="1303019"/>
          </a:xfrm>
          <a:prstGeom prst="ellipse">
            <a:avLst/>
          </a:prstGeom>
          <a:noFill/>
          <a:ln w="15240">
            <a:solidFill>
              <a:srgbClr val="C98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55547" y="2290572"/>
            <a:ext cx="868680" cy="868680"/>
          </a:xfrm>
          <a:prstGeom prst="ellipse">
            <a:avLst/>
          </a:prstGeom>
          <a:noFill/>
          <a:ln w="889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72718" y="2507742"/>
            <a:ext cx="434340" cy="434340"/>
          </a:xfrm>
          <a:prstGeom prst="ellipse">
            <a:avLst/>
          </a:prstGeom>
          <a:noFill/>
          <a:ln w="889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002536" y="2642616"/>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909431" y="2990088"/>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655064" y="3244455"/>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307592" y="3337560"/>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120" y="3244455"/>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05752" y="2990088"/>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12648" y="2642616"/>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5752" y="229514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60119" y="2040776"/>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307591" y="1947672"/>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655064" y="2040776"/>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909431" y="229514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523744" y="2642616"/>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431169" y="3108017"/>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167541" y="3502565"/>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772993" y="3766193"/>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307592" y="3858768"/>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42190" y="3766193"/>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47642" y="3502565"/>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84014" y="3108017"/>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440" y="2642616"/>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84014" y="2177214"/>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47642" y="1782666"/>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2190" y="1519038"/>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307591" y="1426464"/>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772993" y="1519038"/>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2167541" y="1782666"/>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2431169" y="2177214"/>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298448" y="2633472"/>
            <a:ext cx="182880" cy="182880"/>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788920" y="987552"/>
            <a:ext cx="9189720" cy="1143000"/>
          </a:xfrm>
          <a:prstGeom prst="rect">
            <a:avLst/>
          </a:prstGeom>
          <a:solidFill>
            <a:srgbClr val="120832"/>
          </a:solidFill>
          <a:ln w="1524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788920" y="987552"/>
            <a:ext cx="475488" cy="1143000"/>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98064" y="1335024"/>
            <a:ext cx="457200" cy="384048"/>
          </a:xfrm>
          <a:prstGeom prst="rect">
            <a:avLst/>
          </a:prstGeom>
          <a:noFill/>
        </p:spPr>
        <p:txBody>
          <a:bodyPr wrap="none">
            <a:spAutoFit/>
          </a:bodyPr>
          <a:lstStyle/>
          <a:p>
            <a:pPr algn="ctr"/>
            <a:r>
              <a:rPr sz="1600" b="1" i="0">
                <a:solidFill>
                  <a:srgbClr val="0B0724"/>
                </a:solidFill>
              </a:rPr>
              <a:t>01</a:t>
            </a:r>
          </a:p>
        </p:txBody>
      </p:sp>
      <p:sp>
        <p:nvSpPr>
          <p:cNvPr id="46" name="TextBox 45"/>
          <p:cNvSpPr txBox="1"/>
          <p:nvPr/>
        </p:nvSpPr>
        <p:spPr>
          <a:xfrm>
            <a:off x="3337560" y="1078992"/>
            <a:ext cx="8412480" cy="329184"/>
          </a:xfrm>
          <a:prstGeom prst="rect">
            <a:avLst/>
          </a:prstGeom>
          <a:noFill/>
        </p:spPr>
        <p:txBody>
          <a:bodyPr wrap="square">
            <a:spAutoFit/>
          </a:bodyPr>
          <a:lstStyle/>
          <a:p>
            <a:pPr algn="l"/>
            <a:r>
              <a:rPr sz="1300" b="1" i="0">
                <a:solidFill>
                  <a:srgbClr val="F5F0E8"/>
                </a:solidFill>
              </a:rPr>
              <a:t>Evidence Vault  (सबूत तिजोरी)</a:t>
            </a:r>
          </a:p>
        </p:txBody>
      </p:sp>
      <p:sp>
        <p:nvSpPr>
          <p:cNvPr id="47" name="TextBox 46"/>
          <p:cNvSpPr txBox="1"/>
          <p:nvPr/>
        </p:nvSpPr>
        <p:spPr>
          <a:xfrm>
            <a:off x="3337560" y="1444752"/>
            <a:ext cx="8412480" cy="621792"/>
          </a:xfrm>
          <a:prstGeom prst="rect">
            <a:avLst/>
          </a:prstGeom>
          <a:noFill/>
        </p:spPr>
        <p:txBody>
          <a:bodyPr wrap="square">
            <a:spAutoFit/>
          </a:bodyPr>
          <a:lstStyle/>
          <a:p>
            <a:pPr algn="l"/>
            <a:r>
              <a:rPr sz="1050" b="0" i="0">
                <a:solidFill>
                  <a:srgbClr val="C9836B"/>
                </a:solidFill>
              </a:rPr>
              <a:t>SHA-256 hashed photos, recordings, documents, GPS timestamps. Aligned to DV Act 2005, IPC 498A, POSH Act. Cover app shows nothing.</a:t>
            </a:r>
          </a:p>
        </p:txBody>
      </p:sp>
      <p:sp>
        <p:nvSpPr>
          <p:cNvPr id="48" name="Rectangle 47"/>
          <p:cNvSpPr/>
          <p:nvPr/>
        </p:nvSpPr>
        <p:spPr>
          <a:xfrm>
            <a:off x="2788920" y="2157984"/>
            <a:ext cx="9189720" cy="1143000"/>
          </a:xfrm>
          <a:prstGeom prst="rect">
            <a:avLst/>
          </a:prstGeom>
          <a:solidFill>
            <a:srgbClr val="120832"/>
          </a:solidFill>
          <a:ln w="1524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788920" y="2157984"/>
            <a:ext cx="475488" cy="1143000"/>
          </a:xfrm>
          <a:prstGeom prst="rect">
            <a:avLst/>
          </a:prstGeom>
          <a:solidFill>
            <a:srgbClr val="D459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98064" y="2505456"/>
            <a:ext cx="457200" cy="384048"/>
          </a:xfrm>
          <a:prstGeom prst="rect">
            <a:avLst/>
          </a:prstGeom>
          <a:noFill/>
        </p:spPr>
        <p:txBody>
          <a:bodyPr wrap="none">
            <a:spAutoFit/>
          </a:bodyPr>
          <a:lstStyle/>
          <a:p>
            <a:pPr algn="ctr"/>
            <a:r>
              <a:rPr sz="1600" b="1" i="0">
                <a:solidFill>
                  <a:srgbClr val="0B0724"/>
                </a:solidFill>
              </a:rPr>
              <a:t>02</a:t>
            </a:r>
          </a:p>
        </p:txBody>
      </p:sp>
      <p:sp>
        <p:nvSpPr>
          <p:cNvPr id="51" name="TextBox 50"/>
          <p:cNvSpPr txBox="1"/>
          <p:nvPr/>
        </p:nvSpPr>
        <p:spPr>
          <a:xfrm>
            <a:off x="3337560" y="2249424"/>
            <a:ext cx="8412480" cy="329184"/>
          </a:xfrm>
          <a:prstGeom prst="rect">
            <a:avLst/>
          </a:prstGeom>
          <a:noFill/>
        </p:spPr>
        <p:txBody>
          <a:bodyPr wrap="square">
            <a:spAutoFit/>
          </a:bodyPr>
          <a:lstStyle/>
          <a:p>
            <a:pPr algn="l"/>
            <a:r>
              <a:rPr sz="1300" b="1" i="0">
                <a:solidFill>
                  <a:srgbClr val="F5F0E8"/>
                </a:solidFill>
              </a:rPr>
              <a:t>Know Your Rights  (अधिकार)</a:t>
            </a:r>
          </a:p>
        </p:txBody>
      </p:sp>
      <p:sp>
        <p:nvSpPr>
          <p:cNvPr id="52" name="TextBox 51"/>
          <p:cNvSpPr txBox="1"/>
          <p:nvPr/>
        </p:nvSpPr>
        <p:spPr>
          <a:xfrm>
            <a:off x="3337560" y="2615184"/>
            <a:ext cx="8412480" cy="621792"/>
          </a:xfrm>
          <a:prstGeom prst="rect">
            <a:avLst/>
          </a:prstGeom>
          <a:noFill/>
        </p:spPr>
        <p:txBody>
          <a:bodyPr wrap="square">
            <a:spAutoFit/>
          </a:bodyPr>
          <a:lstStyle/>
          <a:p>
            <a:pPr algn="l"/>
            <a:r>
              <a:rPr sz="1050" b="0" i="0">
                <a:solidFill>
                  <a:srgbClr val="C9836B"/>
                </a:solidFill>
              </a:rPr>
              <a:t>RAG on PWDVA, POSH, Hindu Succession, maintenance, property. Voice delivery in Hindi/regional via Bulbul V3 TTS. Divorce calculator.</a:t>
            </a:r>
          </a:p>
        </p:txBody>
      </p:sp>
      <p:sp>
        <p:nvSpPr>
          <p:cNvPr id="53" name="Rectangle 52"/>
          <p:cNvSpPr/>
          <p:nvPr/>
        </p:nvSpPr>
        <p:spPr>
          <a:xfrm>
            <a:off x="2788920" y="3328416"/>
            <a:ext cx="9189720" cy="1143000"/>
          </a:xfrm>
          <a:prstGeom prst="rect">
            <a:avLst/>
          </a:prstGeom>
          <a:solidFill>
            <a:srgbClr val="120832"/>
          </a:solidFill>
          <a:ln w="1524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788920" y="3328416"/>
            <a:ext cx="475488" cy="1143000"/>
          </a:xfrm>
          <a:prstGeom prst="rect">
            <a:avLst/>
          </a:prstGeom>
          <a:solidFill>
            <a:srgbClr val="00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798064" y="3675888"/>
            <a:ext cx="457200" cy="384048"/>
          </a:xfrm>
          <a:prstGeom prst="rect">
            <a:avLst/>
          </a:prstGeom>
          <a:noFill/>
        </p:spPr>
        <p:txBody>
          <a:bodyPr wrap="none">
            <a:spAutoFit/>
          </a:bodyPr>
          <a:lstStyle/>
          <a:p>
            <a:pPr algn="ctr"/>
            <a:r>
              <a:rPr sz="1600" b="1" i="0">
                <a:solidFill>
                  <a:srgbClr val="0B0724"/>
                </a:solidFill>
              </a:rPr>
              <a:t>03</a:t>
            </a:r>
          </a:p>
        </p:txBody>
      </p:sp>
      <p:sp>
        <p:nvSpPr>
          <p:cNvPr id="56" name="TextBox 55"/>
          <p:cNvSpPr txBox="1"/>
          <p:nvPr/>
        </p:nvSpPr>
        <p:spPr>
          <a:xfrm>
            <a:off x="3337560" y="3419856"/>
            <a:ext cx="8412480" cy="329184"/>
          </a:xfrm>
          <a:prstGeom prst="rect">
            <a:avLst/>
          </a:prstGeom>
          <a:noFill/>
        </p:spPr>
        <p:txBody>
          <a:bodyPr wrap="square">
            <a:spAutoFit/>
          </a:bodyPr>
          <a:lstStyle/>
          <a:p>
            <a:pPr algn="l"/>
            <a:r>
              <a:rPr sz="1300" b="1" i="0">
                <a:solidFill>
                  <a:srgbClr val="F5F0E8"/>
                </a:solidFill>
              </a:rPr>
              <a:t>Safety Net  (सुरक्षा)</a:t>
            </a:r>
          </a:p>
        </p:txBody>
      </p:sp>
      <p:sp>
        <p:nvSpPr>
          <p:cNvPr id="57" name="TextBox 56"/>
          <p:cNvSpPr txBox="1"/>
          <p:nvPr/>
        </p:nvSpPr>
        <p:spPr>
          <a:xfrm>
            <a:off x="3337560" y="3785616"/>
            <a:ext cx="8412480" cy="621792"/>
          </a:xfrm>
          <a:prstGeom prst="rect">
            <a:avLst/>
          </a:prstGeom>
          <a:noFill/>
        </p:spPr>
        <p:txBody>
          <a:bodyPr wrap="square">
            <a:spAutoFit/>
          </a:bodyPr>
          <a:lstStyle/>
          <a:p>
            <a:pPr algn="l"/>
            <a:r>
              <a:rPr sz="1050" b="0" i="0">
                <a:solidFill>
                  <a:srgbClr val="C9836B"/>
                </a:solidFill>
              </a:rPr>
              <a:t>Stealth SOS from mala counter. GPS to 3 contacts, offline SMS fallback. 733+ One Stop Centre locator. Cached helplines: 181, 112, 1091.</a:t>
            </a:r>
          </a:p>
        </p:txBody>
      </p:sp>
      <p:sp>
        <p:nvSpPr>
          <p:cNvPr id="58" name="Rectangle 57"/>
          <p:cNvSpPr/>
          <p:nvPr/>
        </p:nvSpPr>
        <p:spPr>
          <a:xfrm>
            <a:off x="2788920" y="4498848"/>
            <a:ext cx="9189720" cy="1143000"/>
          </a:xfrm>
          <a:prstGeom prst="rect">
            <a:avLst/>
          </a:prstGeom>
          <a:solidFill>
            <a:srgbClr val="120832"/>
          </a:solidFill>
          <a:ln w="15240">
            <a:solidFill>
              <a:srgbClr val="F5C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2788920" y="4498848"/>
            <a:ext cx="475488" cy="1143000"/>
          </a:xfrm>
          <a:prstGeom prst="rect">
            <a:avLst/>
          </a:prstGeom>
          <a:solidFill>
            <a:srgbClr val="F5C5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798064" y="4846320"/>
            <a:ext cx="457200" cy="384048"/>
          </a:xfrm>
          <a:prstGeom prst="rect">
            <a:avLst/>
          </a:prstGeom>
          <a:noFill/>
        </p:spPr>
        <p:txBody>
          <a:bodyPr wrap="none">
            <a:spAutoFit/>
          </a:bodyPr>
          <a:lstStyle/>
          <a:p>
            <a:pPr algn="ctr"/>
            <a:r>
              <a:rPr sz="1600" b="1" i="0">
                <a:solidFill>
                  <a:srgbClr val="0B0724"/>
                </a:solidFill>
              </a:rPr>
              <a:t>04</a:t>
            </a:r>
          </a:p>
        </p:txBody>
      </p:sp>
      <p:sp>
        <p:nvSpPr>
          <p:cNvPr id="61" name="TextBox 60"/>
          <p:cNvSpPr txBox="1"/>
          <p:nvPr/>
        </p:nvSpPr>
        <p:spPr>
          <a:xfrm>
            <a:off x="3337560" y="4590288"/>
            <a:ext cx="8412480" cy="329184"/>
          </a:xfrm>
          <a:prstGeom prst="rect">
            <a:avLst/>
          </a:prstGeom>
          <a:noFill/>
        </p:spPr>
        <p:txBody>
          <a:bodyPr wrap="square">
            <a:spAutoFit/>
          </a:bodyPr>
          <a:lstStyle/>
          <a:p>
            <a:pPr algn="l"/>
            <a:r>
              <a:rPr sz="1300" b="1" i="0">
                <a:solidFill>
                  <a:srgbClr val="F5F0E8"/>
                </a:solidFill>
              </a:rPr>
              <a:t>Entitlements  (योजना)</a:t>
            </a:r>
          </a:p>
        </p:txBody>
      </p:sp>
      <p:sp>
        <p:nvSpPr>
          <p:cNvPr id="62" name="TextBox 61"/>
          <p:cNvSpPr txBox="1"/>
          <p:nvPr/>
        </p:nvSpPr>
        <p:spPr>
          <a:xfrm>
            <a:off x="3337560" y="4956048"/>
            <a:ext cx="8412480" cy="621792"/>
          </a:xfrm>
          <a:prstGeom prst="rect">
            <a:avLst/>
          </a:prstGeom>
          <a:noFill/>
        </p:spPr>
        <p:txBody>
          <a:bodyPr wrap="square">
            <a:spAutoFit/>
          </a:bodyPr>
          <a:lstStyle/>
          <a:p>
            <a:pPr algn="l"/>
            <a:r>
              <a:rPr sz="1050" b="0" i="0">
                <a:solidFill>
                  <a:srgbClr val="C9836B"/>
                </a:solidFill>
              </a:rPr>
              <a:t>20+ schemes: PMMVY, Ayushman Bharat, Mudra, Sukanya Samriddhi. OCR scan of Aadhaar/Ration Card → auto eligibility via Sarvam Vision.</a:t>
            </a:r>
          </a:p>
        </p:txBody>
      </p:sp>
      <p:sp>
        <p:nvSpPr>
          <p:cNvPr id="63" name="Rectangle 62"/>
          <p:cNvSpPr/>
          <p:nvPr/>
        </p:nvSpPr>
        <p:spPr>
          <a:xfrm>
            <a:off x="2788920" y="5669280"/>
            <a:ext cx="9189720" cy="1143000"/>
          </a:xfrm>
          <a:prstGeom prst="rect">
            <a:avLst/>
          </a:prstGeom>
          <a:solidFill>
            <a:srgbClr val="120832"/>
          </a:solidFill>
          <a:ln w="15240">
            <a:solidFill>
              <a:srgbClr val="C98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2788920" y="5669280"/>
            <a:ext cx="475488" cy="1143000"/>
          </a:xfrm>
          <a:prstGeom prst="rect">
            <a:avLst/>
          </a:prstGeom>
          <a:solidFill>
            <a:srgbClr val="C983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798064" y="6016752"/>
            <a:ext cx="457200" cy="384048"/>
          </a:xfrm>
          <a:prstGeom prst="rect">
            <a:avLst/>
          </a:prstGeom>
          <a:noFill/>
        </p:spPr>
        <p:txBody>
          <a:bodyPr wrap="none">
            <a:spAutoFit/>
          </a:bodyPr>
          <a:lstStyle/>
          <a:p>
            <a:pPr algn="ctr"/>
            <a:r>
              <a:rPr sz="1600" b="1" i="0">
                <a:solidFill>
                  <a:srgbClr val="0B0724"/>
                </a:solidFill>
              </a:rPr>
              <a:t>05</a:t>
            </a:r>
          </a:p>
        </p:txBody>
      </p:sp>
      <p:sp>
        <p:nvSpPr>
          <p:cNvPr id="66" name="TextBox 65"/>
          <p:cNvSpPr txBox="1"/>
          <p:nvPr/>
        </p:nvSpPr>
        <p:spPr>
          <a:xfrm>
            <a:off x="3337560" y="5760720"/>
            <a:ext cx="8412480" cy="329184"/>
          </a:xfrm>
          <a:prstGeom prst="rect">
            <a:avLst/>
          </a:prstGeom>
          <a:noFill/>
        </p:spPr>
        <p:txBody>
          <a:bodyPr wrap="square">
            <a:spAutoFit/>
          </a:bodyPr>
          <a:lstStyle/>
          <a:p>
            <a:pPr algn="l"/>
            <a:r>
              <a:rPr sz="1300" b="1" i="0">
                <a:solidFill>
                  <a:srgbClr val="F5F0E8"/>
                </a:solidFill>
              </a:rPr>
              <a:t>Health Journal  (सेहत)</a:t>
            </a:r>
          </a:p>
        </p:txBody>
      </p:sp>
      <p:sp>
        <p:nvSpPr>
          <p:cNvPr id="67" name="TextBox 66"/>
          <p:cNvSpPr txBox="1"/>
          <p:nvPr/>
        </p:nvSpPr>
        <p:spPr>
          <a:xfrm>
            <a:off x="3337560" y="6126480"/>
            <a:ext cx="8412480" cy="621792"/>
          </a:xfrm>
          <a:prstGeom prst="rect">
            <a:avLst/>
          </a:prstGeom>
          <a:noFill/>
        </p:spPr>
        <p:txBody>
          <a:bodyPr wrap="square">
            <a:spAutoFit/>
          </a:bodyPr>
          <a:lstStyle/>
          <a:p>
            <a:pPr algn="l"/>
            <a:r>
              <a:rPr sz="1050" b="0" i="0">
                <a:solidFill>
                  <a:srgbClr val="C9836B"/>
                </a:solidFill>
              </a:rPr>
              <a:t>Voice EPDS, PCOS, cervical risk screening. Evidence-based stretching (Frontiers Med 2025). Doctor Card generator. ABHA integration.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31A"/>
        </a:solidFill>
        <a:effectLst/>
      </p:bgPr>
    </p:bg>
    <p:spTree>
      <p:nvGrpSpPr>
        <p:cNvPr id="1" name=""/>
        <p:cNvGrpSpPr/>
        <p:nvPr/>
      </p:nvGrpSpPr>
      <p:grpSpPr/>
      <p:pic>
        <p:nvPicPr>
          <p:cNvPr id="2" name="Picture 1" descr="r_lotus_pink.jpg"/>
          <p:cNvPicPr>
            <a:picLocks noChangeAspect="1"/>
          </p:cNvPicPr>
          <p:nvPr/>
        </p:nvPicPr>
        <p:blipFill>
          <a:blip r:embed="rId2"/>
          <a:stretch>
            <a:fillRect/>
          </a:stretch>
        </p:blipFill>
        <p:spPr>
          <a:xfrm>
            <a:off x="0" y="0"/>
            <a:ext cx="4389120" cy="6858000"/>
          </a:xfrm>
          <a:prstGeom prst="rect">
            <a:avLst/>
          </a:prstGeom>
        </p:spPr>
      </p:pic>
      <p:sp>
        <p:nvSpPr>
          <p:cNvPr id="3" name="Oval 2"/>
          <p:cNvSpPr/>
          <p:nvPr/>
        </p:nvSpPr>
        <p:spPr>
          <a:xfrm>
            <a:off x="4123944" y="334670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3854429" y="435254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118104" y="5088869"/>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112264" y="535838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06424" y="5088869"/>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70098" y="435254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3" y="334670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70098" y="234086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06423" y="1604538"/>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112263" y="1335023"/>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118104" y="1604538"/>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854429" y="2340863"/>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0" y="91440"/>
            <a:ext cx="3200400" cy="365760"/>
          </a:xfrm>
          <a:prstGeom prst="rect">
            <a:avLst/>
          </a:prstGeom>
          <a:noFill/>
        </p:spPr>
        <p:txBody>
          <a:bodyPr wrap="square">
            <a:spAutoFit/>
          </a:bodyPr>
          <a:lstStyle/>
          <a:p>
            <a:pPr algn="r"/>
            <a:r>
              <a:rPr sz="900" b="0" i="0">
                <a:solidFill>
                  <a:srgbClr val="C9836B"/>
                </a:solidFill>
              </a:rPr>
              <a:t>HopeWorks  ✦  AI4India</a:t>
            </a:r>
          </a:p>
        </p:txBody>
      </p:sp>
      <p:sp>
        <p:nvSpPr>
          <p:cNvPr id="16" name="Oval 15"/>
          <p:cNvSpPr/>
          <p:nvPr/>
        </p:nvSpPr>
        <p:spPr>
          <a:xfrm>
            <a:off x="109728" y="91440"/>
            <a:ext cx="621792" cy="621792"/>
          </a:xfrm>
          <a:prstGeom prst="ellipse">
            <a:avLst/>
          </a:prstGeom>
          <a:solidFill>
            <a:srgbClr val="5C0F26"/>
          </a:solidFill>
          <a:ln w="1905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 y="91440"/>
            <a:ext cx="621792" cy="621792"/>
          </a:xfrm>
          <a:prstGeom prst="rect">
            <a:avLst/>
          </a:prstGeom>
          <a:noFill/>
        </p:spPr>
        <p:txBody>
          <a:bodyPr wrap="square">
            <a:spAutoFit/>
          </a:bodyPr>
          <a:lstStyle/>
          <a:p>
            <a:pPr algn="ctr"/>
            <a:r>
              <a:rPr sz="1500" b="1" i="0">
                <a:solidFill>
                  <a:srgbClr val="E8920A"/>
                </a:solidFill>
              </a:rPr>
              <a:t>AI</a:t>
            </a:r>
          </a:p>
        </p:txBody>
      </p:sp>
      <p:sp>
        <p:nvSpPr>
          <p:cNvPr id="18" name="TextBox 17"/>
          <p:cNvSpPr txBox="1"/>
          <p:nvPr/>
        </p:nvSpPr>
        <p:spPr>
          <a:xfrm>
            <a:off x="4389120" y="292608"/>
            <a:ext cx="1828800" cy="274320"/>
          </a:xfrm>
          <a:prstGeom prst="rect">
            <a:avLst/>
          </a:prstGeom>
          <a:noFill/>
        </p:spPr>
        <p:txBody>
          <a:bodyPr wrap="square">
            <a:spAutoFit/>
          </a:bodyPr>
          <a:lstStyle/>
          <a:p>
            <a:pPr algn="l"/>
            <a:r>
              <a:rPr sz="1000" b="1" i="0">
                <a:solidFill>
                  <a:srgbClr val="C9836B"/>
                </a:solidFill>
              </a:rPr>
              <a:t>USE OF</a:t>
            </a:r>
          </a:p>
        </p:txBody>
      </p:sp>
      <p:sp>
        <p:nvSpPr>
          <p:cNvPr id="19" name="TextBox 18"/>
          <p:cNvSpPr txBox="1"/>
          <p:nvPr/>
        </p:nvSpPr>
        <p:spPr>
          <a:xfrm>
            <a:off x="4526280" y="859536"/>
            <a:ext cx="7498079" cy="1920240"/>
          </a:xfrm>
          <a:prstGeom prst="rect">
            <a:avLst/>
          </a:prstGeom>
          <a:noFill/>
        </p:spPr>
        <p:txBody>
          <a:bodyPr wrap="square">
            <a:spAutoFit/>
          </a:bodyPr>
          <a:lstStyle/>
          <a:p>
            <a:pPr algn="l"/>
            <a:r>
              <a:rPr sz="5000" b="1" i="0">
                <a:solidFill>
                  <a:srgbClr val="F5F0E8"/>
                </a:solidFill>
              </a:rPr>
              <a:t>Artificial
Intelligence</a:t>
            </a:r>
          </a:p>
        </p:txBody>
      </p:sp>
      <p:sp>
        <p:nvSpPr>
          <p:cNvPr id="20" name="Rectangle 19"/>
          <p:cNvSpPr/>
          <p:nvPr/>
        </p:nvSpPr>
        <p:spPr>
          <a:xfrm>
            <a:off x="4526280" y="2816352"/>
            <a:ext cx="7406640" cy="36576"/>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26280" y="2944368"/>
            <a:ext cx="7406640" cy="1188720"/>
          </a:xfrm>
          <a:prstGeom prst="rect">
            <a:avLst/>
          </a:prstGeom>
          <a:noFill/>
        </p:spPr>
        <p:txBody>
          <a:bodyPr wrap="square">
            <a:spAutoFit/>
          </a:bodyPr>
          <a:lstStyle/>
          <a:p>
            <a:pPr algn="l"/>
            <a:r>
              <a:rPr sz="1300" b="0" i="1">
                <a:solidFill>
                  <a:srgbClr val="F5F0E8"/>
                </a:solidFill>
              </a:rPr>
              <a:t>AI is the interface layer, not the product. It converts complex legal, health, and scheme workflows into one sentence in Hindi. The outcomes — evidence, rights, safety — are real whether or not AI drafted the response.</a:t>
            </a:r>
          </a:p>
        </p:txBody>
      </p:sp>
      <p:sp>
        <p:nvSpPr>
          <p:cNvPr id="22" name="TextBox 21"/>
          <p:cNvSpPr txBox="1"/>
          <p:nvPr/>
        </p:nvSpPr>
        <p:spPr>
          <a:xfrm>
            <a:off x="4526280" y="4206240"/>
            <a:ext cx="2331720" cy="347472"/>
          </a:xfrm>
          <a:prstGeom prst="rect">
            <a:avLst/>
          </a:prstGeom>
          <a:noFill/>
        </p:spPr>
        <p:txBody>
          <a:bodyPr wrap="square">
            <a:spAutoFit/>
          </a:bodyPr>
          <a:lstStyle/>
          <a:p>
            <a:pPr algn="l"/>
            <a:r>
              <a:rPr sz="1100" b="1" i="0">
                <a:solidFill>
                  <a:srgbClr val="E8920A"/>
                </a:solidFill>
              </a:rPr>
              <a:t>✦  Saaras V3 STT</a:t>
            </a:r>
          </a:p>
        </p:txBody>
      </p:sp>
      <p:sp>
        <p:nvSpPr>
          <p:cNvPr id="23" name="TextBox 22"/>
          <p:cNvSpPr txBox="1"/>
          <p:nvPr/>
        </p:nvSpPr>
        <p:spPr>
          <a:xfrm>
            <a:off x="6812280" y="4206240"/>
            <a:ext cx="5074920" cy="347472"/>
          </a:xfrm>
          <a:prstGeom prst="rect">
            <a:avLst/>
          </a:prstGeom>
          <a:noFill/>
        </p:spPr>
        <p:txBody>
          <a:bodyPr wrap="square">
            <a:spAutoFit/>
          </a:bodyPr>
          <a:lstStyle/>
          <a:p>
            <a:pPr algn="l"/>
            <a:r>
              <a:rPr sz="1100" b="0" i="0">
                <a:solidFill>
                  <a:srgbClr val="F5F0E8"/>
                </a:solidFill>
              </a:rPr>
              <a:t>—  Hindi-first voice capture across 22+ Indian languages</a:t>
            </a:r>
          </a:p>
        </p:txBody>
      </p:sp>
      <p:sp>
        <p:nvSpPr>
          <p:cNvPr id="24" name="TextBox 23"/>
          <p:cNvSpPr txBox="1"/>
          <p:nvPr/>
        </p:nvSpPr>
        <p:spPr>
          <a:xfrm>
            <a:off x="4526280" y="4626864"/>
            <a:ext cx="2331720" cy="347472"/>
          </a:xfrm>
          <a:prstGeom prst="rect">
            <a:avLst/>
          </a:prstGeom>
          <a:noFill/>
        </p:spPr>
        <p:txBody>
          <a:bodyPr wrap="square">
            <a:spAutoFit/>
          </a:bodyPr>
          <a:lstStyle/>
          <a:p>
            <a:pPr algn="l"/>
            <a:r>
              <a:rPr sz="1100" b="1" i="0">
                <a:solidFill>
                  <a:srgbClr val="E8920A"/>
                </a:solidFill>
              </a:rPr>
              <a:t>✦  Bulbul V3 TTS</a:t>
            </a:r>
          </a:p>
        </p:txBody>
      </p:sp>
      <p:sp>
        <p:nvSpPr>
          <p:cNvPr id="25" name="TextBox 24"/>
          <p:cNvSpPr txBox="1"/>
          <p:nvPr/>
        </p:nvSpPr>
        <p:spPr>
          <a:xfrm>
            <a:off x="6812280" y="4626864"/>
            <a:ext cx="5074920" cy="347472"/>
          </a:xfrm>
          <a:prstGeom prst="rect">
            <a:avLst/>
          </a:prstGeom>
          <a:noFill/>
        </p:spPr>
        <p:txBody>
          <a:bodyPr wrap="square">
            <a:spAutoFit/>
          </a:bodyPr>
          <a:lstStyle/>
          <a:p>
            <a:pPr algn="l"/>
            <a:r>
              <a:rPr sz="1100" b="0" i="0">
                <a:solidFill>
                  <a:srgbClr val="F5F0E8"/>
                </a:solidFill>
              </a:rPr>
              <a:t>—  Empathetic spoken guidance — not robotic readout</a:t>
            </a:r>
          </a:p>
        </p:txBody>
      </p:sp>
      <p:sp>
        <p:nvSpPr>
          <p:cNvPr id="26" name="TextBox 25"/>
          <p:cNvSpPr txBox="1"/>
          <p:nvPr/>
        </p:nvSpPr>
        <p:spPr>
          <a:xfrm>
            <a:off x="4526280" y="5047488"/>
            <a:ext cx="2331720" cy="347472"/>
          </a:xfrm>
          <a:prstGeom prst="rect">
            <a:avLst/>
          </a:prstGeom>
          <a:noFill/>
        </p:spPr>
        <p:txBody>
          <a:bodyPr wrap="square">
            <a:spAutoFit/>
          </a:bodyPr>
          <a:lstStyle/>
          <a:p>
            <a:pPr algn="l"/>
            <a:r>
              <a:rPr sz="1100" b="1" i="0">
                <a:solidFill>
                  <a:srgbClr val="E8920A"/>
                </a:solidFill>
              </a:rPr>
              <a:t>✦  Sarvam LLM</a:t>
            </a:r>
          </a:p>
        </p:txBody>
      </p:sp>
      <p:sp>
        <p:nvSpPr>
          <p:cNvPr id="27" name="TextBox 26"/>
          <p:cNvSpPr txBox="1"/>
          <p:nvPr/>
        </p:nvSpPr>
        <p:spPr>
          <a:xfrm>
            <a:off x="6812280" y="5047488"/>
            <a:ext cx="5074920" cy="347472"/>
          </a:xfrm>
          <a:prstGeom prst="rect">
            <a:avLst/>
          </a:prstGeom>
          <a:noFill/>
        </p:spPr>
        <p:txBody>
          <a:bodyPr wrap="square">
            <a:spAutoFit/>
          </a:bodyPr>
          <a:lstStyle/>
          <a:p>
            <a:pPr algn="l"/>
            <a:r>
              <a:rPr sz="1100" b="0" i="0">
                <a:solidFill>
                  <a:srgbClr val="F5F0E8"/>
                </a:solidFill>
              </a:rPr>
              <a:t>—  Domain-specific RAG on Bare Acts, WHO protocols, NALSA</a:t>
            </a:r>
          </a:p>
        </p:txBody>
      </p:sp>
      <p:sp>
        <p:nvSpPr>
          <p:cNvPr id="28" name="TextBox 27"/>
          <p:cNvSpPr txBox="1"/>
          <p:nvPr/>
        </p:nvSpPr>
        <p:spPr>
          <a:xfrm>
            <a:off x="4526280" y="5468112"/>
            <a:ext cx="2331720" cy="347472"/>
          </a:xfrm>
          <a:prstGeom prst="rect">
            <a:avLst/>
          </a:prstGeom>
          <a:noFill/>
        </p:spPr>
        <p:txBody>
          <a:bodyPr wrap="square">
            <a:spAutoFit/>
          </a:bodyPr>
          <a:lstStyle/>
          <a:p>
            <a:pPr algn="l"/>
            <a:r>
              <a:rPr sz="1100" b="1" i="0">
                <a:solidFill>
                  <a:srgbClr val="E8920A"/>
                </a:solidFill>
              </a:rPr>
              <a:t>✦  Sarvam Vision</a:t>
            </a:r>
          </a:p>
        </p:txBody>
      </p:sp>
      <p:sp>
        <p:nvSpPr>
          <p:cNvPr id="29" name="TextBox 28"/>
          <p:cNvSpPr txBox="1"/>
          <p:nvPr/>
        </p:nvSpPr>
        <p:spPr>
          <a:xfrm>
            <a:off x="6812280" y="5468112"/>
            <a:ext cx="5074920" cy="347472"/>
          </a:xfrm>
          <a:prstGeom prst="rect">
            <a:avLst/>
          </a:prstGeom>
          <a:noFill/>
        </p:spPr>
        <p:txBody>
          <a:bodyPr wrap="square">
            <a:spAutoFit/>
          </a:bodyPr>
          <a:lstStyle/>
          <a:p>
            <a:pPr algn="l"/>
            <a:r>
              <a:rPr sz="1100" b="0" i="0">
                <a:solidFill>
                  <a:srgbClr val="F5F0E8"/>
                </a:solidFill>
              </a:rPr>
              <a:t>—  OCR on Aadhaar/Ration Card for scheme eligibility</a:t>
            </a:r>
          </a:p>
        </p:txBody>
      </p:sp>
      <p:sp>
        <p:nvSpPr>
          <p:cNvPr id="30" name="TextBox 29"/>
          <p:cNvSpPr txBox="1"/>
          <p:nvPr/>
        </p:nvSpPr>
        <p:spPr>
          <a:xfrm>
            <a:off x="4526280" y="5888736"/>
            <a:ext cx="2331720" cy="347472"/>
          </a:xfrm>
          <a:prstGeom prst="rect">
            <a:avLst/>
          </a:prstGeom>
          <a:noFill/>
        </p:spPr>
        <p:txBody>
          <a:bodyPr wrap="square">
            <a:spAutoFit/>
          </a:bodyPr>
          <a:lstStyle/>
          <a:p>
            <a:pPr algn="l"/>
            <a:r>
              <a:rPr sz="1100" b="1" i="0">
                <a:solidFill>
                  <a:srgbClr val="E8920A"/>
                </a:solidFill>
              </a:rPr>
              <a:t>✦  Edge AI</a:t>
            </a:r>
          </a:p>
        </p:txBody>
      </p:sp>
      <p:sp>
        <p:nvSpPr>
          <p:cNvPr id="31" name="TextBox 30"/>
          <p:cNvSpPr txBox="1"/>
          <p:nvPr/>
        </p:nvSpPr>
        <p:spPr>
          <a:xfrm>
            <a:off x="6812280" y="5888736"/>
            <a:ext cx="5074920" cy="347472"/>
          </a:xfrm>
          <a:prstGeom prst="rect">
            <a:avLst/>
          </a:prstGeom>
          <a:noFill/>
        </p:spPr>
        <p:txBody>
          <a:bodyPr wrap="square">
            <a:spAutoFit/>
          </a:bodyPr>
          <a:lstStyle/>
          <a:p>
            <a:pPr algn="l"/>
            <a:r>
              <a:rPr sz="1100" b="0" i="0">
                <a:solidFill>
                  <a:srgbClr val="F5F0E8"/>
                </a:solidFill>
              </a:rPr>
              <a:t>—  Full offline inference on low-RAM Android devices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31A"/>
        </a:solidFill>
        <a:effectLst/>
      </p:bgPr>
    </p:bg>
    <p:spTree>
      <p:nvGrpSpPr>
        <p:cNvPr id="1" name=""/>
        <p:cNvGrpSpPr/>
        <p:nvPr/>
      </p:nvGrpSpPr>
      <p:grpSpPr/>
      <p:sp>
        <p:nvSpPr>
          <p:cNvPr id="2" name="Rectangle 1"/>
          <p:cNvSpPr/>
          <p:nvPr/>
        </p:nvSpPr>
        <p:spPr>
          <a:xfrm>
            <a:off x="0" y="0"/>
            <a:ext cx="12188952" cy="1417320"/>
          </a:xfrm>
          <a:prstGeom prst="rect">
            <a:avLst/>
          </a:prstGeom>
          <a:solidFill>
            <a:srgbClr val="140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3712464" y="621792"/>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3598951" y="971148"/>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301771" y="1187061"/>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934436" y="1187061"/>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637256" y="971148"/>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523744" y="621792"/>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637256" y="272435"/>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934436" y="56522"/>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301771" y="56522"/>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98951" y="272435"/>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473184" y="621792"/>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359671" y="971148"/>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62491" y="1187061"/>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695156" y="1187061"/>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397976" y="971148"/>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84464" y="621792"/>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97976" y="272435"/>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695156" y="56522"/>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062491" y="56522"/>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359671" y="272435"/>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05740" y="406908"/>
            <a:ext cx="594360" cy="594360"/>
          </a:xfrm>
          <a:prstGeom prst="ellipse">
            <a:avLst/>
          </a:prstGeom>
          <a:noFill/>
          <a:ln w="10160">
            <a:solidFill>
              <a:srgbClr val="C98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04800" y="505968"/>
            <a:ext cx="396240" cy="396240"/>
          </a:xfrm>
          <a:prstGeom prst="ellipse">
            <a:avLst/>
          </a:prstGeom>
          <a:noFill/>
          <a:ln w="1905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03860" y="605028"/>
            <a:ext cx="198120" cy="198120"/>
          </a:xfrm>
          <a:prstGeom prst="ellipse">
            <a:avLst/>
          </a:prstGeom>
          <a:noFill/>
          <a:ln w="1905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38912" y="640080"/>
            <a:ext cx="128016" cy="128016"/>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361420" y="406908"/>
            <a:ext cx="594360" cy="594360"/>
          </a:xfrm>
          <a:prstGeom prst="ellipse">
            <a:avLst/>
          </a:prstGeom>
          <a:noFill/>
          <a:ln w="10160">
            <a:solidFill>
              <a:srgbClr val="C983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1460480" y="505968"/>
            <a:ext cx="396240" cy="396240"/>
          </a:xfrm>
          <a:prstGeom prst="ellipse">
            <a:avLst/>
          </a:prstGeom>
          <a:noFill/>
          <a:ln w="1905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1559540" y="605028"/>
            <a:ext cx="198120" cy="198120"/>
          </a:xfrm>
          <a:prstGeom prst="ellipse">
            <a:avLst/>
          </a:prstGeom>
          <a:noFill/>
          <a:ln w="1905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1594592" y="640080"/>
            <a:ext cx="128016" cy="128016"/>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0" y="548640"/>
            <a:ext cx="3931920" cy="365760"/>
          </a:xfrm>
          <a:prstGeom prst="rect">
            <a:avLst/>
          </a:prstGeom>
          <a:noFill/>
        </p:spPr>
        <p:txBody>
          <a:bodyPr wrap="square">
            <a:spAutoFit/>
          </a:bodyPr>
          <a:lstStyle/>
          <a:p>
            <a:pPr algn="ctr"/>
            <a:r>
              <a:rPr sz="1000" b="0" i="1">
                <a:solidFill>
                  <a:srgbClr val="C9836B"/>
                </a:solidFill>
              </a:rPr>
              <a:t>Challenges  ✦  Risks  ✦  Mitigations</a:t>
            </a:r>
          </a:p>
        </p:txBody>
      </p:sp>
      <p:sp>
        <p:nvSpPr>
          <p:cNvPr id="32" name="TextBox 31"/>
          <p:cNvSpPr txBox="1"/>
          <p:nvPr/>
        </p:nvSpPr>
        <p:spPr>
          <a:xfrm>
            <a:off x="8778240" y="91440"/>
            <a:ext cx="3200400" cy="365760"/>
          </a:xfrm>
          <a:prstGeom prst="rect">
            <a:avLst/>
          </a:prstGeom>
          <a:noFill/>
        </p:spPr>
        <p:txBody>
          <a:bodyPr wrap="square">
            <a:spAutoFit/>
          </a:bodyPr>
          <a:lstStyle/>
          <a:p>
            <a:pPr algn="r"/>
            <a:r>
              <a:rPr sz="900" b="0" i="0">
                <a:solidFill>
                  <a:srgbClr val="C9836B"/>
                </a:solidFill>
              </a:rPr>
              <a:t>HopeWorks  ✦  AI4India</a:t>
            </a:r>
          </a:p>
        </p:txBody>
      </p:sp>
      <p:sp>
        <p:nvSpPr>
          <p:cNvPr id="33" name="Rectangle 32"/>
          <p:cNvSpPr/>
          <p:nvPr/>
        </p:nvSpPr>
        <p:spPr>
          <a:xfrm>
            <a:off x="0" y="1417320"/>
            <a:ext cx="12188952" cy="36576"/>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760" y="1572768"/>
            <a:ext cx="4206240" cy="1417320"/>
          </a:xfrm>
          <a:prstGeom prst="rect">
            <a:avLst/>
          </a:prstGeom>
          <a:noFill/>
        </p:spPr>
        <p:txBody>
          <a:bodyPr wrap="square">
            <a:spAutoFit/>
          </a:bodyPr>
          <a:lstStyle/>
          <a:p>
            <a:pPr algn="l"/>
            <a:r>
              <a:rPr sz="3600" b="1" i="0">
                <a:solidFill>
                  <a:srgbClr val="F5F0E8"/>
                </a:solidFill>
              </a:rPr>
              <a:t>Challenges
and Risks</a:t>
            </a:r>
          </a:p>
        </p:txBody>
      </p:sp>
      <p:sp>
        <p:nvSpPr>
          <p:cNvPr id="35" name="Rectangle 34"/>
          <p:cNvSpPr/>
          <p:nvPr/>
        </p:nvSpPr>
        <p:spPr>
          <a:xfrm>
            <a:off x="365760" y="3017520"/>
            <a:ext cx="4023360" cy="27432"/>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74320" y="3127248"/>
            <a:ext cx="4206240" cy="3246120"/>
          </a:xfrm>
          <a:prstGeom prst="rect">
            <a:avLst/>
          </a:prstGeom>
          <a:solidFill>
            <a:srgbClr val="14062C"/>
          </a:solidFill>
          <a:ln w="12700">
            <a:solidFill>
              <a:srgbClr val="5C0F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3255264"/>
            <a:ext cx="3749039" cy="292608"/>
          </a:xfrm>
          <a:prstGeom prst="rect">
            <a:avLst/>
          </a:prstGeom>
          <a:noFill/>
        </p:spPr>
        <p:txBody>
          <a:bodyPr wrap="square">
            <a:spAutoFit/>
          </a:bodyPr>
          <a:lstStyle/>
          <a:p>
            <a:pPr algn="l"/>
            <a:r>
              <a:rPr sz="1000" b="1" i="0">
                <a:solidFill>
                  <a:srgbClr val="E8920A"/>
                </a:solidFill>
              </a:rPr>
              <a:t>Key Design Principle</a:t>
            </a:r>
          </a:p>
        </p:txBody>
      </p:sp>
      <p:sp>
        <p:nvSpPr>
          <p:cNvPr id="38" name="TextBox 37"/>
          <p:cNvSpPr txBox="1"/>
          <p:nvPr/>
        </p:nvSpPr>
        <p:spPr>
          <a:xfrm>
            <a:off x="502920" y="3611880"/>
            <a:ext cx="3657600" cy="1005840"/>
          </a:xfrm>
          <a:prstGeom prst="rect">
            <a:avLst/>
          </a:prstGeom>
          <a:noFill/>
        </p:spPr>
        <p:txBody>
          <a:bodyPr wrap="square">
            <a:spAutoFit/>
          </a:bodyPr>
          <a:lstStyle/>
          <a:p>
            <a:pPr algn="l"/>
            <a:r>
              <a:rPr sz="1300" b="0" i="1">
                <a:solidFill>
                  <a:srgbClr val="F5F0E8"/>
                </a:solidFill>
              </a:rPr>
              <a:t>"Build as if every
feature could get
someone hurt."</a:t>
            </a:r>
          </a:p>
        </p:txBody>
      </p:sp>
      <p:sp>
        <p:nvSpPr>
          <p:cNvPr id="39" name="Rectangle 38"/>
          <p:cNvSpPr/>
          <p:nvPr/>
        </p:nvSpPr>
        <p:spPr>
          <a:xfrm>
            <a:off x="502920" y="4681728"/>
            <a:ext cx="3474720" cy="22860"/>
          </a:xfrm>
          <a:prstGeom prst="rect">
            <a:avLst/>
          </a:prstGeom>
          <a:solidFill>
            <a:srgbClr val="5C0F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4754880"/>
            <a:ext cx="3657600" cy="804672"/>
          </a:xfrm>
          <a:prstGeom prst="rect">
            <a:avLst/>
          </a:prstGeom>
          <a:noFill/>
        </p:spPr>
        <p:txBody>
          <a:bodyPr wrap="square">
            <a:spAutoFit/>
          </a:bodyPr>
          <a:lstStyle/>
          <a:p>
            <a:pPr algn="l"/>
            <a:r>
              <a:rPr sz="1200" b="0" i="1">
                <a:solidFill>
                  <a:srgbClr val="C9836B"/>
                </a:solidFill>
              </a:rPr>
              <a:t>Safety is not a feature —
it is the constraint that
shapes every decision.</a:t>
            </a:r>
          </a:p>
        </p:txBody>
      </p:sp>
      <p:sp>
        <p:nvSpPr>
          <p:cNvPr id="41" name="Oval 40"/>
          <p:cNvSpPr/>
          <p:nvPr/>
        </p:nvSpPr>
        <p:spPr>
          <a:xfrm>
            <a:off x="2551176" y="5952744"/>
            <a:ext cx="164592" cy="164592"/>
          </a:xfrm>
          <a:prstGeom prst="ellipse">
            <a:avLst/>
          </a:prstGeom>
          <a:noFill/>
          <a:ln w="12700">
            <a:solidFill>
              <a:srgbClr val="5C0F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2476185" y="6133785"/>
            <a:ext cx="164592" cy="164592"/>
          </a:xfrm>
          <a:prstGeom prst="ellipse">
            <a:avLst/>
          </a:prstGeom>
          <a:noFill/>
          <a:ln w="12700">
            <a:solidFill>
              <a:srgbClr val="5C0F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295144" y="6208776"/>
            <a:ext cx="164592" cy="164592"/>
          </a:xfrm>
          <a:prstGeom prst="ellipse">
            <a:avLst/>
          </a:prstGeom>
          <a:noFill/>
          <a:ln w="12700">
            <a:solidFill>
              <a:srgbClr val="5C0F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114102" y="6133785"/>
            <a:ext cx="164592" cy="164592"/>
          </a:xfrm>
          <a:prstGeom prst="ellipse">
            <a:avLst/>
          </a:prstGeom>
          <a:noFill/>
          <a:ln w="12700">
            <a:solidFill>
              <a:srgbClr val="5C0F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2039112" y="5952744"/>
            <a:ext cx="164592" cy="164592"/>
          </a:xfrm>
          <a:prstGeom prst="ellipse">
            <a:avLst/>
          </a:prstGeom>
          <a:noFill/>
          <a:ln w="12700">
            <a:solidFill>
              <a:srgbClr val="5C0F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2114102" y="5771702"/>
            <a:ext cx="164592" cy="164592"/>
          </a:xfrm>
          <a:prstGeom prst="ellipse">
            <a:avLst/>
          </a:prstGeom>
          <a:noFill/>
          <a:ln w="12700">
            <a:solidFill>
              <a:srgbClr val="5C0F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295144" y="5696712"/>
            <a:ext cx="164592" cy="164592"/>
          </a:xfrm>
          <a:prstGeom prst="ellipse">
            <a:avLst/>
          </a:prstGeom>
          <a:noFill/>
          <a:ln w="12700">
            <a:solidFill>
              <a:srgbClr val="5C0F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2476185" y="5771702"/>
            <a:ext cx="164592" cy="164592"/>
          </a:xfrm>
          <a:prstGeom prst="ellipse">
            <a:avLst/>
          </a:prstGeom>
          <a:noFill/>
          <a:ln w="12700">
            <a:solidFill>
              <a:srgbClr val="5C0F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2194560" y="5852159"/>
            <a:ext cx="365760" cy="365760"/>
          </a:xfrm>
          <a:prstGeom prst="ellipse">
            <a:avLst/>
          </a:prstGeom>
          <a:noFill/>
          <a:ln w="1016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2286000" y="5943600"/>
            <a:ext cx="182880" cy="182880"/>
          </a:xfrm>
          <a:prstGeom prst="ellipse">
            <a:avLst/>
          </a:prstGeom>
          <a:noFill/>
          <a:ln w="1905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2313432" y="5971031"/>
            <a:ext cx="128016" cy="128016"/>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2920" y="6172200"/>
            <a:ext cx="3657600" cy="256032"/>
          </a:xfrm>
          <a:prstGeom prst="rect">
            <a:avLst/>
          </a:prstGeom>
          <a:noFill/>
        </p:spPr>
        <p:txBody>
          <a:bodyPr wrap="square">
            <a:spAutoFit/>
          </a:bodyPr>
          <a:lstStyle/>
          <a:p>
            <a:pPr algn="ctr"/>
            <a:r>
              <a:rPr sz="1000" b="0" i="1">
                <a:solidFill>
                  <a:srgbClr val="5C0F26"/>
                </a:solidFill>
              </a:rPr>
              <a:t>✦  सुरक्षा  ✦</a:t>
            </a:r>
          </a:p>
        </p:txBody>
      </p:sp>
      <p:sp>
        <p:nvSpPr>
          <p:cNvPr id="53" name="TextBox 52"/>
          <p:cNvSpPr txBox="1"/>
          <p:nvPr/>
        </p:nvSpPr>
        <p:spPr>
          <a:xfrm>
            <a:off x="4754880" y="1508760"/>
            <a:ext cx="7132320" cy="329184"/>
          </a:xfrm>
          <a:prstGeom prst="rect">
            <a:avLst/>
          </a:prstGeom>
          <a:noFill/>
        </p:spPr>
        <p:txBody>
          <a:bodyPr wrap="square">
            <a:spAutoFit/>
          </a:bodyPr>
          <a:lstStyle/>
          <a:p>
            <a:pPr algn="l"/>
            <a:r>
              <a:rPr sz="1300" b="1" i="0">
                <a:solidFill>
                  <a:srgbClr val="E8920A"/>
                </a:solidFill>
              </a:rPr>
              <a:t>✦  Trust &amp; Safety:</a:t>
            </a:r>
          </a:p>
        </p:txBody>
      </p:sp>
      <p:sp>
        <p:nvSpPr>
          <p:cNvPr id="54" name="TextBox 53"/>
          <p:cNvSpPr txBox="1"/>
          <p:nvPr/>
        </p:nvSpPr>
        <p:spPr>
          <a:xfrm>
            <a:off x="4754880" y="1837943"/>
            <a:ext cx="7132320" cy="713232"/>
          </a:xfrm>
          <a:prstGeom prst="rect">
            <a:avLst/>
          </a:prstGeom>
          <a:noFill/>
        </p:spPr>
        <p:txBody>
          <a:bodyPr wrap="square">
            <a:spAutoFit/>
          </a:bodyPr>
          <a:lstStyle/>
          <a:p>
            <a:pPr algn="l"/>
            <a:r>
              <a:rPr sz="1200" b="0" i="0">
                <a:solidFill>
                  <a:srgbClr val="F5F0E8"/>
                </a:solidFill>
              </a:rPr>
              <a:t>AI must never sound like legal or medical advice. Guardrails and escalation paths required at every response.</a:t>
            </a:r>
          </a:p>
        </p:txBody>
      </p:sp>
      <p:sp>
        <p:nvSpPr>
          <p:cNvPr id="55" name="TextBox 54"/>
          <p:cNvSpPr txBox="1"/>
          <p:nvPr/>
        </p:nvSpPr>
        <p:spPr>
          <a:xfrm>
            <a:off x="4754880" y="2587752"/>
            <a:ext cx="7132320" cy="329184"/>
          </a:xfrm>
          <a:prstGeom prst="rect">
            <a:avLst/>
          </a:prstGeom>
          <a:noFill/>
        </p:spPr>
        <p:txBody>
          <a:bodyPr wrap="square">
            <a:spAutoFit/>
          </a:bodyPr>
          <a:lstStyle/>
          <a:p>
            <a:pPr algn="l"/>
            <a:r>
              <a:rPr sz="1300" b="1" i="0">
                <a:solidFill>
                  <a:srgbClr val="D4597A"/>
                </a:solidFill>
              </a:rPr>
              <a:t>✦  Stealth Failure:</a:t>
            </a:r>
          </a:p>
        </p:txBody>
      </p:sp>
      <p:sp>
        <p:nvSpPr>
          <p:cNvPr id="56" name="TextBox 55"/>
          <p:cNvSpPr txBox="1"/>
          <p:nvPr/>
        </p:nvSpPr>
        <p:spPr>
          <a:xfrm>
            <a:off x="4754880" y="2916936"/>
            <a:ext cx="7132320" cy="713232"/>
          </a:xfrm>
          <a:prstGeom prst="rect">
            <a:avLst/>
          </a:prstGeom>
          <a:noFill/>
        </p:spPr>
        <p:txBody>
          <a:bodyPr wrap="square">
            <a:spAutoFit/>
          </a:bodyPr>
          <a:lstStyle/>
          <a:p>
            <a:pPr algn="l"/>
            <a:r>
              <a:rPr sz="1200" b="0" i="0">
                <a:solidFill>
                  <a:srgbClr val="F5F0E8"/>
                </a:solidFill>
              </a:rPr>
              <a:t>Any visible trace on a shared phone can endanger the user. Quick exit, hidden notifications, and cover-app integrity are non-negotiable.</a:t>
            </a:r>
          </a:p>
        </p:txBody>
      </p:sp>
      <p:sp>
        <p:nvSpPr>
          <p:cNvPr id="57" name="TextBox 56"/>
          <p:cNvSpPr txBox="1"/>
          <p:nvPr/>
        </p:nvSpPr>
        <p:spPr>
          <a:xfrm>
            <a:off x="4754880" y="3666744"/>
            <a:ext cx="7132320" cy="329184"/>
          </a:xfrm>
          <a:prstGeom prst="rect">
            <a:avLst/>
          </a:prstGeom>
          <a:noFill/>
        </p:spPr>
        <p:txBody>
          <a:bodyPr wrap="square">
            <a:spAutoFit/>
          </a:bodyPr>
          <a:lstStyle/>
          <a:p>
            <a:pPr algn="l"/>
            <a:r>
              <a:rPr sz="1300" b="1" i="0">
                <a:solidFill>
                  <a:srgbClr val="008888"/>
                </a:solidFill>
              </a:rPr>
              <a:t>✦  Localization Drift:</a:t>
            </a:r>
          </a:p>
        </p:txBody>
      </p:sp>
      <p:sp>
        <p:nvSpPr>
          <p:cNvPr id="58" name="TextBox 57"/>
          <p:cNvSpPr txBox="1"/>
          <p:nvPr/>
        </p:nvSpPr>
        <p:spPr>
          <a:xfrm>
            <a:off x="4754880" y="3995928"/>
            <a:ext cx="7132320" cy="713232"/>
          </a:xfrm>
          <a:prstGeom prst="rect">
            <a:avLst/>
          </a:prstGeom>
          <a:noFill/>
        </p:spPr>
        <p:txBody>
          <a:bodyPr wrap="square">
            <a:spAutoFit/>
          </a:bodyPr>
          <a:lstStyle/>
          <a:p>
            <a:pPr algn="l"/>
            <a:r>
              <a:rPr sz="1200" b="0" i="0">
                <a:solidFill>
                  <a:srgbClr val="F5F0E8"/>
                </a:solidFill>
              </a:rPr>
              <a:t>Dialect accuracy and cached legal/health knowledge can become stale. Curated update cycles are built into the roadmap.</a:t>
            </a:r>
          </a:p>
        </p:txBody>
      </p:sp>
      <p:sp>
        <p:nvSpPr>
          <p:cNvPr id="59" name="TextBox 58"/>
          <p:cNvSpPr txBox="1"/>
          <p:nvPr/>
        </p:nvSpPr>
        <p:spPr>
          <a:xfrm>
            <a:off x="4754880" y="4745736"/>
            <a:ext cx="7132320" cy="329184"/>
          </a:xfrm>
          <a:prstGeom prst="rect">
            <a:avLst/>
          </a:prstGeom>
          <a:noFill/>
        </p:spPr>
        <p:txBody>
          <a:bodyPr wrap="square">
            <a:spAutoFit/>
          </a:bodyPr>
          <a:lstStyle/>
          <a:p>
            <a:pPr algn="l"/>
            <a:r>
              <a:rPr sz="1300" b="1" i="0">
                <a:solidFill>
                  <a:srgbClr val="C9836B"/>
                </a:solidFill>
              </a:rPr>
              <a:t>✦  Last-Mile Reach:</a:t>
            </a:r>
          </a:p>
        </p:txBody>
      </p:sp>
      <p:sp>
        <p:nvSpPr>
          <p:cNvPr id="60" name="TextBox 59"/>
          <p:cNvSpPr txBox="1"/>
          <p:nvPr/>
        </p:nvSpPr>
        <p:spPr>
          <a:xfrm>
            <a:off x="4754880" y="5074920"/>
            <a:ext cx="7132320" cy="713232"/>
          </a:xfrm>
          <a:prstGeom prst="rect">
            <a:avLst/>
          </a:prstGeom>
          <a:noFill/>
        </p:spPr>
        <p:txBody>
          <a:bodyPr wrap="square">
            <a:spAutoFit/>
          </a:bodyPr>
          <a:lstStyle/>
          <a:p>
            <a:pPr algn="l"/>
            <a:r>
              <a:rPr sz="1200" b="0" i="0">
                <a:solidFill>
                  <a:srgbClr val="F5F0E8"/>
                </a:solidFill>
              </a:rPr>
              <a:t>SMS/USSD path must be maintained so feature-phone users are never cut off from safety-critical features.</a:t>
            </a:r>
          </a:p>
        </p:txBody>
      </p:sp>
      <p:sp>
        <p:nvSpPr>
          <p:cNvPr id="61" name="Rectangle 60"/>
          <p:cNvSpPr/>
          <p:nvPr/>
        </p:nvSpPr>
        <p:spPr>
          <a:xfrm>
            <a:off x="0" y="6492240"/>
            <a:ext cx="12188952" cy="347472"/>
          </a:xfrm>
          <a:prstGeom prst="rect">
            <a:avLst/>
          </a:prstGeom>
          <a:solidFill>
            <a:srgbClr val="5C0F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20040" y="6519672"/>
            <a:ext cx="11548872" cy="274320"/>
          </a:xfrm>
          <a:prstGeom prst="rect">
            <a:avLst/>
          </a:prstGeom>
          <a:noFill/>
        </p:spPr>
        <p:txBody>
          <a:bodyPr wrap="square">
            <a:spAutoFit/>
          </a:bodyPr>
          <a:lstStyle/>
          <a:p>
            <a:pPr algn="ctr"/>
            <a:r>
              <a:rPr sz="1000" b="0" i="1">
                <a:solidFill>
                  <a:srgbClr val="F5F0E8"/>
                </a:solidFill>
              </a:rPr>
              <a:t>The product only works if privacy, accuracy, and last-mile delivery outperform every existing safety app — simultaneously.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724"/>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80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88952" cy="36576"/>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78240" y="91440"/>
            <a:ext cx="3200400" cy="365760"/>
          </a:xfrm>
          <a:prstGeom prst="rect">
            <a:avLst/>
          </a:prstGeom>
          <a:noFill/>
        </p:spPr>
        <p:txBody>
          <a:bodyPr wrap="square">
            <a:spAutoFit/>
          </a:bodyPr>
          <a:lstStyle/>
          <a:p>
            <a:pPr algn="r"/>
            <a:r>
              <a:rPr sz="900" b="0" i="0">
                <a:solidFill>
                  <a:srgbClr val="C9836B"/>
                </a:solidFill>
              </a:rPr>
              <a:t>HopeWorks  ✦  AI4India</a:t>
            </a:r>
          </a:p>
        </p:txBody>
      </p:sp>
      <p:sp>
        <p:nvSpPr>
          <p:cNvPr id="5" name="Oval 4"/>
          <p:cNvSpPr/>
          <p:nvPr/>
        </p:nvSpPr>
        <p:spPr>
          <a:xfrm>
            <a:off x="109728" y="91440"/>
            <a:ext cx="621792" cy="621792"/>
          </a:xfrm>
          <a:prstGeom prst="ellipse">
            <a:avLst/>
          </a:prstGeom>
          <a:solidFill>
            <a:srgbClr val="5C0F26"/>
          </a:solidFill>
          <a:ln w="1905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 y="91440"/>
            <a:ext cx="621792" cy="621792"/>
          </a:xfrm>
          <a:prstGeom prst="rect">
            <a:avLst/>
          </a:prstGeom>
          <a:noFill/>
        </p:spPr>
        <p:txBody>
          <a:bodyPr wrap="square">
            <a:spAutoFit/>
          </a:bodyPr>
          <a:lstStyle/>
          <a:p>
            <a:pPr algn="ctr"/>
            <a:r>
              <a:rPr sz="1500" b="1" i="0">
                <a:solidFill>
                  <a:srgbClr val="E8920A"/>
                </a:solidFill>
              </a:rPr>
              <a:t>AI</a:t>
            </a:r>
          </a:p>
        </p:txBody>
      </p:sp>
      <p:sp>
        <p:nvSpPr>
          <p:cNvPr id="7" name="TextBox 6"/>
          <p:cNvSpPr txBox="1"/>
          <p:nvPr/>
        </p:nvSpPr>
        <p:spPr>
          <a:xfrm>
            <a:off x="822960" y="109728"/>
            <a:ext cx="10972800" cy="566928"/>
          </a:xfrm>
          <a:prstGeom prst="rect">
            <a:avLst/>
          </a:prstGeom>
          <a:noFill/>
        </p:spPr>
        <p:txBody>
          <a:bodyPr wrap="square">
            <a:spAutoFit/>
          </a:bodyPr>
          <a:lstStyle/>
          <a:p>
            <a:pPr algn="l"/>
            <a:r>
              <a:rPr sz="2200" b="1" i="0">
                <a:solidFill>
                  <a:srgbClr val="F5F0E8"/>
                </a:solidFill>
              </a:rPr>
              <a:t>Technical Request for Facilitated Datasets</a:t>
            </a:r>
          </a:p>
        </p:txBody>
      </p:sp>
      <p:sp>
        <p:nvSpPr>
          <p:cNvPr id="8" name="TextBox 7"/>
          <p:cNvSpPr txBox="1"/>
          <p:nvPr/>
        </p:nvSpPr>
        <p:spPr>
          <a:xfrm>
            <a:off x="822960" y="640080"/>
            <a:ext cx="10972800" cy="274320"/>
          </a:xfrm>
          <a:prstGeom prst="rect">
            <a:avLst/>
          </a:prstGeom>
          <a:noFill/>
        </p:spPr>
        <p:txBody>
          <a:bodyPr wrap="square">
            <a:spAutoFit/>
          </a:bodyPr>
          <a:lstStyle/>
          <a:p>
            <a:pPr algn="l"/>
            <a:r>
              <a:rPr sz="1100" b="0" i="1">
                <a:solidFill>
                  <a:srgbClr val="E8920A"/>
                </a:solidFill>
              </a:rPr>
              <a:t>Categorized parameters for AI4India facilitated data access:</a:t>
            </a:r>
          </a:p>
        </p:txBody>
      </p:sp>
      <p:sp>
        <p:nvSpPr>
          <p:cNvPr id="9" name="Rectangle 8"/>
          <p:cNvSpPr/>
          <p:nvPr/>
        </p:nvSpPr>
        <p:spPr>
          <a:xfrm>
            <a:off x="6053328" y="987552"/>
            <a:ext cx="45720" cy="5669280"/>
          </a:xfrm>
          <a:prstGeom prst="rect">
            <a:avLst/>
          </a:prstGeom>
          <a:solidFill>
            <a:srgbClr val="403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024128"/>
            <a:ext cx="5532120" cy="329184"/>
          </a:xfrm>
          <a:prstGeom prst="rect">
            <a:avLst/>
          </a:prstGeom>
          <a:noFill/>
        </p:spPr>
        <p:txBody>
          <a:bodyPr wrap="square">
            <a:spAutoFit/>
          </a:bodyPr>
          <a:lstStyle/>
          <a:p>
            <a:pPr algn="l"/>
            <a:r>
              <a:rPr sz="1200" b="1" i="0">
                <a:solidFill>
                  <a:srgbClr val="E8920A"/>
                </a:solidFill>
              </a:rPr>
              <a:t>Specification of Required Data</a:t>
            </a:r>
          </a:p>
        </p:txBody>
      </p:sp>
      <p:sp>
        <p:nvSpPr>
          <p:cNvPr id="11" name="Rectangle 10"/>
          <p:cNvSpPr/>
          <p:nvPr/>
        </p:nvSpPr>
        <p:spPr>
          <a:xfrm>
            <a:off x="365760" y="1353312"/>
            <a:ext cx="5532120" cy="20116"/>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1453896"/>
            <a:ext cx="1325880" cy="256032"/>
          </a:xfrm>
          <a:prstGeom prst="rect">
            <a:avLst/>
          </a:prstGeom>
          <a:noFill/>
        </p:spPr>
        <p:txBody>
          <a:bodyPr wrap="square">
            <a:spAutoFit/>
          </a:bodyPr>
          <a:lstStyle/>
          <a:p>
            <a:pPr algn="l"/>
            <a:r>
              <a:rPr sz="1000" b="1" i="0">
                <a:solidFill>
                  <a:srgbClr val="F5C542"/>
                </a:solidFill>
              </a:rPr>
              <a:t>Data Type:</a:t>
            </a:r>
          </a:p>
        </p:txBody>
      </p:sp>
      <p:sp>
        <p:nvSpPr>
          <p:cNvPr id="13" name="TextBox 12"/>
          <p:cNvSpPr txBox="1"/>
          <p:nvPr/>
        </p:nvSpPr>
        <p:spPr>
          <a:xfrm>
            <a:off x="1719072" y="1453896"/>
            <a:ext cx="4142231" cy="749808"/>
          </a:xfrm>
          <a:prstGeom prst="rect">
            <a:avLst/>
          </a:prstGeom>
          <a:noFill/>
        </p:spPr>
        <p:txBody>
          <a:bodyPr wrap="square">
            <a:spAutoFit/>
          </a:bodyPr>
          <a:lstStyle/>
          <a:p>
            <a:pPr algn="l"/>
            <a:r>
              <a:rPr sz="1000" b="0" i="0">
                <a:solidFill>
                  <a:srgbClr val="F5F0E8"/>
                </a:solidFill>
              </a:rPr>
              <a:t>Indic speech from women in low-resource dialects; verified OSC/PHC/ASHA directories; anonymized women's health records.</a:t>
            </a:r>
          </a:p>
        </p:txBody>
      </p:sp>
      <p:sp>
        <p:nvSpPr>
          <p:cNvPr id="14" name="TextBox 13"/>
          <p:cNvSpPr txBox="1"/>
          <p:nvPr/>
        </p:nvSpPr>
        <p:spPr>
          <a:xfrm>
            <a:off x="365760" y="2148840"/>
            <a:ext cx="1325880" cy="256032"/>
          </a:xfrm>
          <a:prstGeom prst="rect">
            <a:avLst/>
          </a:prstGeom>
          <a:noFill/>
        </p:spPr>
        <p:txBody>
          <a:bodyPr wrap="square">
            <a:spAutoFit/>
          </a:bodyPr>
          <a:lstStyle/>
          <a:p>
            <a:pPr algn="l"/>
            <a:r>
              <a:rPr sz="1000" b="1" i="0">
                <a:solidFill>
                  <a:srgbClr val="F5C542"/>
                </a:solidFill>
              </a:rPr>
              <a:t>Volume &amp; Depth:</a:t>
            </a:r>
          </a:p>
        </p:txBody>
      </p:sp>
      <p:sp>
        <p:nvSpPr>
          <p:cNvPr id="15" name="TextBox 14"/>
          <p:cNvSpPr txBox="1"/>
          <p:nvPr/>
        </p:nvSpPr>
        <p:spPr>
          <a:xfrm>
            <a:off x="1719072" y="2148840"/>
            <a:ext cx="4142231" cy="749808"/>
          </a:xfrm>
          <a:prstGeom prst="rect">
            <a:avLst/>
          </a:prstGeom>
          <a:noFill/>
        </p:spPr>
        <p:txBody>
          <a:bodyPr wrap="square">
            <a:spAutoFit/>
          </a:bodyPr>
          <a:lstStyle/>
          <a:p>
            <a:pPr algn="l"/>
            <a:r>
              <a:rPr sz="1000" b="0" i="0">
                <a:solidFill>
                  <a:srgbClr val="F5F0E8"/>
                </a:solidFill>
              </a:rPr>
              <a:t>10,000+ annotated audio clips; 5-year scheme data; district-level service coverage.</a:t>
            </a:r>
          </a:p>
        </p:txBody>
      </p:sp>
      <p:sp>
        <p:nvSpPr>
          <p:cNvPr id="16" name="TextBox 15"/>
          <p:cNvSpPr txBox="1"/>
          <p:nvPr/>
        </p:nvSpPr>
        <p:spPr>
          <a:xfrm>
            <a:off x="365760" y="2843784"/>
            <a:ext cx="1325880" cy="256032"/>
          </a:xfrm>
          <a:prstGeom prst="rect">
            <a:avLst/>
          </a:prstGeom>
          <a:noFill/>
        </p:spPr>
        <p:txBody>
          <a:bodyPr wrap="square">
            <a:spAutoFit/>
          </a:bodyPr>
          <a:lstStyle/>
          <a:p>
            <a:pPr algn="l"/>
            <a:r>
              <a:rPr sz="1000" b="1" i="0">
                <a:solidFill>
                  <a:srgbClr val="F5C542"/>
                </a:solidFill>
              </a:rPr>
              <a:t>Granularity:</a:t>
            </a:r>
          </a:p>
        </p:txBody>
      </p:sp>
      <p:sp>
        <p:nvSpPr>
          <p:cNvPr id="17" name="TextBox 16"/>
          <p:cNvSpPr txBox="1"/>
          <p:nvPr/>
        </p:nvSpPr>
        <p:spPr>
          <a:xfrm>
            <a:off x="1719072" y="2843784"/>
            <a:ext cx="4142231" cy="749808"/>
          </a:xfrm>
          <a:prstGeom prst="rect">
            <a:avLst/>
          </a:prstGeom>
          <a:noFill/>
        </p:spPr>
        <p:txBody>
          <a:bodyPr wrap="square">
            <a:spAutoFit/>
          </a:bodyPr>
          <a:lstStyle/>
          <a:p>
            <a:pPr algn="l"/>
            <a:r>
              <a:rPr sz="1000" b="0" i="0">
                <a:solidFill>
                  <a:srgbClr val="F5F0E8"/>
                </a:solidFill>
              </a:rPr>
              <a:t>Village-level service locations; daily scheme update feeds.</a:t>
            </a:r>
          </a:p>
        </p:txBody>
      </p:sp>
      <p:sp>
        <p:nvSpPr>
          <p:cNvPr id="18" name="TextBox 17"/>
          <p:cNvSpPr txBox="1"/>
          <p:nvPr/>
        </p:nvSpPr>
        <p:spPr>
          <a:xfrm>
            <a:off x="365760" y="3703320"/>
            <a:ext cx="5532120" cy="329184"/>
          </a:xfrm>
          <a:prstGeom prst="rect">
            <a:avLst/>
          </a:prstGeom>
          <a:noFill/>
        </p:spPr>
        <p:txBody>
          <a:bodyPr wrap="square">
            <a:spAutoFit/>
          </a:bodyPr>
          <a:lstStyle/>
          <a:p>
            <a:pPr algn="l"/>
            <a:r>
              <a:rPr sz="1200" b="1" i="0">
                <a:solidFill>
                  <a:srgbClr val="D4597A"/>
                </a:solidFill>
              </a:rPr>
              <a:t>The "Ask" vs. "Leveraged" Mapping</a:t>
            </a:r>
          </a:p>
        </p:txBody>
      </p:sp>
      <p:sp>
        <p:nvSpPr>
          <p:cNvPr id="19" name="Rectangle 18"/>
          <p:cNvSpPr/>
          <p:nvPr/>
        </p:nvSpPr>
        <p:spPr>
          <a:xfrm>
            <a:off x="365760" y="4032504"/>
            <a:ext cx="5532120" cy="20116"/>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4133087"/>
            <a:ext cx="1325880" cy="256032"/>
          </a:xfrm>
          <a:prstGeom prst="rect">
            <a:avLst/>
          </a:prstGeom>
          <a:noFill/>
        </p:spPr>
        <p:txBody>
          <a:bodyPr wrap="square">
            <a:spAutoFit/>
          </a:bodyPr>
          <a:lstStyle/>
          <a:p>
            <a:pPr algn="l"/>
            <a:r>
              <a:rPr sz="1000" b="1" i="0">
                <a:solidFill>
                  <a:srgbClr val="F5C542"/>
                </a:solidFill>
              </a:rPr>
              <a:t>What we have:</a:t>
            </a:r>
          </a:p>
        </p:txBody>
      </p:sp>
      <p:sp>
        <p:nvSpPr>
          <p:cNvPr id="21" name="TextBox 20"/>
          <p:cNvSpPr txBox="1"/>
          <p:nvPr/>
        </p:nvSpPr>
        <p:spPr>
          <a:xfrm>
            <a:off x="1719072" y="4133087"/>
            <a:ext cx="4142231" cy="749808"/>
          </a:xfrm>
          <a:prstGeom prst="rect">
            <a:avLst/>
          </a:prstGeom>
          <a:noFill/>
        </p:spPr>
        <p:txBody>
          <a:bodyPr wrap="square">
            <a:spAutoFit/>
          </a:bodyPr>
          <a:lstStyle/>
          <a:p>
            <a:pPr algn="l"/>
            <a:r>
              <a:rPr sz="1000" b="0" i="0">
                <a:solidFill>
                  <a:srgbClr val="F5F0E8"/>
                </a:solidFill>
              </a:rPr>
              <a:t>Bare Acts, NALSA, WHO/UNICEF protocols, open IndiaAI datasets, Bhashini corpora.</a:t>
            </a:r>
          </a:p>
        </p:txBody>
      </p:sp>
      <p:sp>
        <p:nvSpPr>
          <p:cNvPr id="22" name="TextBox 21"/>
          <p:cNvSpPr txBox="1"/>
          <p:nvPr/>
        </p:nvSpPr>
        <p:spPr>
          <a:xfrm>
            <a:off x="365760" y="4828031"/>
            <a:ext cx="1325880" cy="256032"/>
          </a:xfrm>
          <a:prstGeom prst="rect">
            <a:avLst/>
          </a:prstGeom>
          <a:noFill/>
        </p:spPr>
        <p:txBody>
          <a:bodyPr wrap="square">
            <a:spAutoFit/>
          </a:bodyPr>
          <a:lstStyle/>
          <a:p>
            <a:pPr algn="l"/>
            <a:r>
              <a:rPr sz="1000" b="1" i="0">
                <a:solidFill>
                  <a:srgbClr val="F5C542"/>
                </a:solidFill>
              </a:rPr>
              <a:t>What we need:</a:t>
            </a:r>
          </a:p>
        </p:txBody>
      </p:sp>
      <p:sp>
        <p:nvSpPr>
          <p:cNvPr id="23" name="TextBox 22"/>
          <p:cNvSpPr txBox="1"/>
          <p:nvPr/>
        </p:nvSpPr>
        <p:spPr>
          <a:xfrm>
            <a:off x="1719072" y="4828031"/>
            <a:ext cx="4142231" cy="749808"/>
          </a:xfrm>
          <a:prstGeom prst="rect">
            <a:avLst/>
          </a:prstGeom>
          <a:noFill/>
        </p:spPr>
        <p:txBody>
          <a:bodyPr wrap="square">
            <a:spAutoFit/>
          </a:bodyPr>
          <a:lstStyle/>
          <a:p>
            <a:pPr algn="l"/>
            <a:r>
              <a:rPr sz="1000" b="0" i="0">
                <a:solidFill>
                  <a:srgbClr val="F5F0E8"/>
                </a:solidFill>
              </a:rPr>
              <a:t>Facilitated dialect voice data and verified service directories — the missing piece for rural accuracy.</a:t>
            </a:r>
          </a:p>
        </p:txBody>
      </p:sp>
      <p:sp>
        <p:nvSpPr>
          <p:cNvPr id="24" name="TextBox 23"/>
          <p:cNvSpPr txBox="1"/>
          <p:nvPr/>
        </p:nvSpPr>
        <p:spPr>
          <a:xfrm>
            <a:off x="6236208" y="1024128"/>
            <a:ext cx="5532120" cy="329184"/>
          </a:xfrm>
          <a:prstGeom prst="rect">
            <a:avLst/>
          </a:prstGeom>
          <a:noFill/>
        </p:spPr>
        <p:txBody>
          <a:bodyPr wrap="square">
            <a:spAutoFit/>
          </a:bodyPr>
          <a:lstStyle/>
          <a:p>
            <a:pPr algn="l"/>
            <a:r>
              <a:rPr sz="1200" b="1" i="0">
                <a:solidFill>
                  <a:srgbClr val="008888"/>
                </a:solidFill>
              </a:rPr>
              <a:t>Technical Justification</a:t>
            </a:r>
          </a:p>
        </p:txBody>
      </p:sp>
      <p:sp>
        <p:nvSpPr>
          <p:cNvPr id="25" name="Rectangle 24"/>
          <p:cNvSpPr/>
          <p:nvPr/>
        </p:nvSpPr>
        <p:spPr>
          <a:xfrm>
            <a:off x="6236208" y="1353312"/>
            <a:ext cx="5532120" cy="20116"/>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36208" y="1453896"/>
            <a:ext cx="1325880" cy="256032"/>
          </a:xfrm>
          <a:prstGeom prst="rect">
            <a:avLst/>
          </a:prstGeom>
          <a:noFill/>
        </p:spPr>
        <p:txBody>
          <a:bodyPr wrap="square">
            <a:spAutoFit/>
          </a:bodyPr>
          <a:lstStyle/>
          <a:p>
            <a:pPr algn="l"/>
            <a:r>
              <a:rPr sz="1000" b="1" i="0">
                <a:solidFill>
                  <a:srgbClr val="F5C542"/>
                </a:solidFill>
              </a:rPr>
              <a:t>Accuracy:</a:t>
            </a:r>
          </a:p>
        </p:txBody>
      </p:sp>
      <p:sp>
        <p:nvSpPr>
          <p:cNvPr id="27" name="TextBox 26"/>
          <p:cNvSpPr txBox="1"/>
          <p:nvPr/>
        </p:nvSpPr>
        <p:spPr>
          <a:xfrm>
            <a:off x="7589520" y="1453896"/>
            <a:ext cx="4142231" cy="749808"/>
          </a:xfrm>
          <a:prstGeom prst="rect">
            <a:avLst/>
          </a:prstGeom>
          <a:noFill/>
        </p:spPr>
        <p:txBody>
          <a:bodyPr wrap="square">
            <a:spAutoFit/>
          </a:bodyPr>
          <a:lstStyle/>
          <a:p>
            <a:pPr algn="l"/>
            <a:r>
              <a:rPr sz="1000" b="0" i="0">
                <a:solidFill>
                  <a:srgbClr val="F5F0E8"/>
                </a:solidFill>
              </a:rPr>
              <a:t>Improves STT for rural voices and code-mixed Hindi queries.</a:t>
            </a:r>
          </a:p>
        </p:txBody>
      </p:sp>
      <p:sp>
        <p:nvSpPr>
          <p:cNvPr id="28" name="TextBox 27"/>
          <p:cNvSpPr txBox="1"/>
          <p:nvPr/>
        </p:nvSpPr>
        <p:spPr>
          <a:xfrm>
            <a:off x="6236208" y="2148840"/>
            <a:ext cx="1325880" cy="256032"/>
          </a:xfrm>
          <a:prstGeom prst="rect">
            <a:avLst/>
          </a:prstGeom>
          <a:noFill/>
        </p:spPr>
        <p:txBody>
          <a:bodyPr wrap="square">
            <a:spAutoFit/>
          </a:bodyPr>
          <a:lstStyle/>
          <a:p>
            <a:pPr algn="l"/>
            <a:r>
              <a:rPr sz="1000" b="1" i="0">
                <a:solidFill>
                  <a:srgbClr val="F5C542"/>
                </a:solidFill>
              </a:rPr>
              <a:t>Validation:</a:t>
            </a:r>
          </a:p>
        </p:txBody>
      </p:sp>
      <p:sp>
        <p:nvSpPr>
          <p:cNvPr id="29" name="TextBox 28"/>
          <p:cNvSpPr txBox="1"/>
          <p:nvPr/>
        </p:nvSpPr>
        <p:spPr>
          <a:xfrm>
            <a:off x="7589520" y="2148840"/>
            <a:ext cx="4142231" cy="749808"/>
          </a:xfrm>
          <a:prstGeom prst="rect">
            <a:avLst/>
          </a:prstGeom>
          <a:noFill/>
        </p:spPr>
        <p:txBody>
          <a:bodyPr wrap="square">
            <a:spAutoFit/>
          </a:bodyPr>
          <a:lstStyle/>
          <a:p>
            <a:pPr algn="l"/>
            <a:r>
              <a:rPr sz="1000" b="0" i="0">
                <a:solidFill>
                  <a:srgbClr val="F5F0E8"/>
                </a:solidFill>
              </a:rPr>
              <a:t>Grounds EPDS, PCOS, and cervical screening in verified clinical data.</a:t>
            </a:r>
          </a:p>
        </p:txBody>
      </p:sp>
      <p:sp>
        <p:nvSpPr>
          <p:cNvPr id="30" name="TextBox 29"/>
          <p:cNvSpPr txBox="1"/>
          <p:nvPr/>
        </p:nvSpPr>
        <p:spPr>
          <a:xfrm>
            <a:off x="6236208" y="2843784"/>
            <a:ext cx="1325880" cy="256032"/>
          </a:xfrm>
          <a:prstGeom prst="rect">
            <a:avLst/>
          </a:prstGeom>
          <a:noFill/>
        </p:spPr>
        <p:txBody>
          <a:bodyPr wrap="square">
            <a:spAutoFit/>
          </a:bodyPr>
          <a:lstStyle/>
          <a:p>
            <a:pPr algn="l"/>
            <a:r>
              <a:rPr sz="1000" b="1" i="0">
                <a:solidFill>
                  <a:srgbClr val="F5C542"/>
                </a:solidFill>
              </a:rPr>
              <a:t>Edge-Case Handling:</a:t>
            </a:r>
          </a:p>
        </p:txBody>
      </p:sp>
      <p:sp>
        <p:nvSpPr>
          <p:cNvPr id="31" name="TextBox 30"/>
          <p:cNvSpPr txBox="1"/>
          <p:nvPr/>
        </p:nvSpPr>
        <p:spPr>
          <a:xfrm>
            <a:off x="7589520" y="2843784"/>
            <a:ext cx="4142231" cy="749808"/>
          </a:xfrm>
          <a:prstGeom prst="rect">
            <a:avLst/>
          </a:prstGeom>
          <a:noFill/>
        </p:spPr>
        <p:txBody>
          <a:bodyPr wrap="square">
            <a:spAutoFit/>
          </a:bodyPr>
          <a:lstStyle/>
          <a:p>
            <a:pPr algn="l"/>
            <a:r>
              <a:rPr sz="1000" b="0" i="0">
                <a:solidFill>
                  <a:srgbClr val="F5F0E8"/>
                </a:solidFill>
              </a:rPr>
              <a:t>Dialect data ensures Meena-tier users are never excluded.</a:t>
            </a:r>
          </a:p>
        </p:txBody>
      </p:sp>
      <p:sp>
        <p:nvSpPr>
          <p:cNvPr id="32" name="TextBox 31"/>
          <p:cNvSpPr txBox="1"/>
          <p:nvPr/>
        </p:nvSpPr>
        <p:spPr>
          <a:xfrm>
            <a:off x="6236208" y="3703320"/>
            <a:ext cx="5532120" cy="329184"/>
          </a:xfrm>
          <a:prstGeom prst="rect">
            <a:avLst/>
          </a:prstGeom>
          <a:noFill/>
        </p:spPr>
        <p:txBody>
          <a:bodyPr wrap="square">
            <a:spAutoFit/>
          </a:bodyPr>
          <a:lstStyle/>
          <a:p>
            <a:pPr algn="l"/>
            <a:r>
              <a:rPr sz="1200" b="1" i="0">
                <a:solidFill>
                  <a:srgbClr val="C9836B"/>
                </a:solidFill>
              </a:rPr>
              <a:t>Environment &amp; Security Requirements</a:t>
            </a:r>
          </a:p>
        </p:txBody>
      </p:sp>
      <p:sp>
        <p:nvSpPr>
          <p:cNvPr id="33" name="Rectangle 32"/>
          <p:cNvSpPr/>
          <p:nvPr/>
        </p:nvSpPr>
        <p:spPr>
          <a:xfrm>
            <a:off x="6236208" y="4032504"/>
            <a:ext cx="5532120" cy="20116"/>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36208" y="4133087"/>
            <a:ext cx="1325880" cy="256032"/>
          </a:xfrm>
          <a:prstGeom prst="rect">
            <a:avLst/>
          </a:prstGeom>
          <a:noFill/>
        </p:spPr>
        <p:txBody>
          <a:bodyPr wrap="square">
            <a:spAutoFit/>
          </a:bodyPr>
          <a:lstStyle/>
          <a:p>
            <a:pPr algn="l"/>
            <a:r>
              <a:rPr sz="1000" b="1" i="0">
                <a:solidFill>
                  <a:srgbClr val="F5C542"/>
                </a:solidFill>
              </a:rPr>
              <a:t>Access Method:</a:t>
            </a:r>
          </a:p>
        </p:txBody>
      </p:sp>
      <p:sp>
        <p:nvSpPr>
          <p:cNvPr id="35" name="TextBox 34"/>
          <p:cNvSpPr txBox="1"/>
          <p:nvPr/>
        </p:nvSpPr>
        <p:spPr>
          <a:xfrm>
            <a:off x="7589520" y="4133087"/>
            <a:ext cx="4142231" cy="749808"/>
          </a:xfrm>
          <a:prstGeom prst="rect">
            <a:avLst/>
          </a:prstGeom>
          <a:noFill/>
        </p:spPr>
        <p:txBody>
          <a:bodyPr wrap="square">
            <a:spAutoFit/>
          </a:bodyPr>
          <a:lstStyle/>
          <a:p>
            <a:pPr algn="l"/>
            <a:r>
              <a:rPr sz="1000" b="0" i="0">
                <a:solidFill>
                  <a:srgbClr val="F5F0E8"/>
                </a:solidFill>
              </a:rPr>
              <a:t>Secure API, sandbox, or encrypted batch download.</a:t>
            </a:r>
          </a:p>
        </p:txBody>
      </p:sp>
      <p:sp>
        <p:nvSpPr>
          <p:cNvPr id="36" name="TextBox 35"/>
          <p:cNvSpPr txBox="1"/>
          <p:nvPr/>
        </p:nvSpPr>
        <p:spPr>
          <a:xfrm>
            <a:off x="6236208" y="4828031"/>
            <a:ext cx="1325880" cy="256032"/>
          </a:xfrm>
          <a:prstGeom prst="rect">
            <a:avLst/>
          </a:prstGeom>
          <a:noFill/>
        </p:spPr>
        <p:txBody>
          <a:bodyPr wrap="square">
            <a:spAutoFit/>
          </a:bodyPr>
          <a:lstStyle/>
          <a:p>
            <a:pPr algn="l"/>
            <a:r>
              <a:rPr sz="1000" b="1" i="0">
                <a:solidFill>
                  <a:srgbClr val="F5C542"/>
                </a:solidFill>
              </a:rPr>
              <a:t>Security:</a:t>
            </a:r>
          </a:p>
        </p:txBody>
      </p:sp>
      <p:sp>
        <p:nvSpPr>
          <p:cNvPr id="37" name="TextBox 36"/>
          <p:cNvSpPr txBox="1"/>
          <p:nvPr/>
        </p:nvSpPr>
        <p:spPr>
          <a:xfrm>
            <a:off x="7589520" y="4828031"/>
            <a:ext cx="4142231" cy="749808"/>
          </a:xfrm>
          <a:prstGeom prst="rect">
            <a:avLst/>
          </a:prstGeom>
          <a:noFill/>
        </p:spPr>
        <p:txBody>
          <a:bodyPr wrap="square">
            <a:spAutoFit/>
          </a:bodyPr>
          <a:lstStyle/>
          <a:p>
            <a:pPr algn="l"/>
            <a:r>
              <a:rPr sz="1000" b="0" i="0">
                <a:solidFill>
                  <a:srgbClr val="F5F0E8"/>
                </a:solidFill>
              </a:rPr>
              <a:t>Minimum-retention storage; DPDP-compliant pipeline; no PII retained in prompts.</a:t>
            </a:r>
          </a:p>
        </p:txBody>
      </p:sp>
      <p:sp>
        <p:nvSpPr>
          <p:cNvPr id="38" name="TextBox 37"/>
          <p:cNvSpPr txBox="1"/>
          <p:nvPr/>
        </p:nvSpPr>
        <p:spPr>
          <a:xfrm>
            <a:off x="365760" y="6510528"/>
            <a:ext cx="11430000" cy="274320"/>
          </a:xfrm>
          <a:prstGeom prst="rect">
            <a:avLst/>
          </a:prstGeom>
          <a:noFill/>
        </p:spPr>
        <p:txBody>
          <a:bodyPr wrap="square">
            <a:spAutoFit/>
          </a:bodyPr>
          <a:lstStyle/>
          <a:p>
            <a:pPr algn="ctr"/>
            <a:r>
              <a:rPr sz="1000" b="0" i="1">
                <a:solidFill>
                  <a:srgbClr val="C9836B"/>
                </a:solidFill>
              </a:rPr>
              <a:t>Request focus: voice accuracy  ✦  service routing  ✦  health validation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724"/>
        </a:solidFill>
        <a:effectLst/>
      </p:bgPr>
    </p:bg>
    <p:spTree>
      <p:nvGrpSpPr>
        <p:cNvPr id="1" name=""/>
        <p:cNvGrpSpPr/>
        <p:nvPr/>
      </p:nvGrpSpPr>
      <p:grpSpPr/>
      <p:sp>
        <p:nvSpPr>
          <p:cNvPr id="2" name="Rectangle 1"/>
          <p:cNvSpPr/>
          <p:nvPr/>
        </p:nvSpPr>
        <p:spPr>
          <a:xfrm>
            <a:off x="0" y="0"/>
            <a:ext cx="12188952" cy="896112"/>
          </a:xfrm>
          <a:prstGeom prst="rect">
            <a:avLst/>
          </a:prstGeom>
          <a:solidFill>
            <a:srgbClr val="1806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96112"/>
            <a:ext cx="12188952" cy="36576"/>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78240" y="91440"/>
            <a:ext cx="3200400" cy="365760"/>
          </a:xfrm>
          <a:prstGeom prst="rect">
            <a:avLst/>
          </a:prstGeom>
          <a:noFill/>
        </p:spPr>
        <p:txBody>
          <a:bodyPr wrap="square">
            <a:spAutoFit/>
          </a:bodyPr>
          <a:lstStyle/>
          <a:p>
            <a:pPr algn="r"/>
            <a:r>
              <a:rPr sz="900" b="0" i="0">
                <a:solidFill>
                  <a:srgbClr val="C9836B"/>
                </a:solidFill>
              </a:rPr>
              <a:t>HopeWorks  ✦  AI4India</a:t>
            </a:r>
          </a:p>
        </p:txBody>
      </p:sp>
      <p:sp>
        <p:nvSpPr>
          <p:cNvPr id="5" name="Oval 4"/>
          <p:cNvSpPr/>
          <p:nvPr/>
        </p:nvSpPr>
        <p:spPr>
          <a:xfrm>
            <a:off x="109728" y="91440"/>
            <a:ext cx="621792" cy="621792"/>
          </a:xfrm>
          <a:prstGeom prst="ellipse">
            <a:avLst/>
          </a:prstGeom>
          <a:solidFill>
            <a:srgbClr val="5C0F26"/>
          </a:solidFill>
          <a:ln w="1905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 y="91440"/>
            <a:ext cx="621792" cy="621792"/>
          </a:xfrm>
          <a:prstGeom prst="rect">
            <a:avLst/>
          </a:prstGeom>
          <a:noFill/>
        </p:spPr>
        <p:txBody>
          <a:bodyPr wrap="square">
            <a:spAutoFit/>
          </a:bodyPr>
          <a:lstStyle/>
          <a:p>
            <a:pPr algn="ctr"/>
            <a:r>
              <a:rPr sz="1500" b="1" i="0">
                <a:solidFill>
                  <a:srgbClr val="E8920A"/>
                </a:solidFill>
              </a:rPr>
              <a:t>AI</a:t>
            </a:r>
          </a:p>
        </p:txBody>
      </p:sp>
      <p:sp>
        <p:nvSpPr>
          <p:cNvPr id="7" name="TextBox 6"/>
          <p:cNvSpPr txBox="1"/>
          <p:nvPr/>
        </p:nvSpPr>
        <p:spPr>
          <a:xfrm>
            <a:off x="914400" y="91440"/>
            <a:ext cx="10360152" cy="566928"/>
          </a:xfrm>
          <a:prstGeom prst="rect">
            <a:avLst/>
          </a:prstGeom>
          <a:noFill/>
        </p:spPr>
        <p:txBody>
          <a:bodyPr wrap="square">
            <a:spAutoFit/>
          </a:bodyPr>
          <a:lstStyle/>
          <a:p>
            <a:pPr algn="ctr"/>
            <a:r>
              <a:rPr sz="3000" b="1" i="0">
                <a:solidFill>
                  <a:srgbClr val="F5F0E8"/>
                </a:solidFill>
              </a:rPr>
              <a:t>Anticipated Results</a:t>
            </a:r>
          </a:p>
        </p:txBody>
      </p:sp>
      <p:sp>
        <p:nvSpPr>
          <p:cNvPr id="8" name="TextBox 7"/>
          <p:cNvSpPr txBox="1"/>
          <p:nvPr/>
        </p:nvSpPr>
        <p:spPr>
          <a:xfrm>
            <a:off x="914400" y="640080"/>
            <a:ext cx="10360152" cy="256032"/>
          </a:xfrm>
          <a:prstGeom prst="rect">
            <a:avLst/>
          </a:prstGeom>
          <a:noFill/>
        </p:spPr>
        <p:txBody>
          <a:bodyPr wrap="square">
            <a:spAutoFit/>
          </a:bodyPr>
          <a:lstStyle/>
          <a:p>
            <a:pPr algn="ctr"/>
            <a:r>
              <a:rPr sz="1200" b="0" i="1">
                <a:solidFill>
                  <a:srgbClr val="E8920A"/>
                </a:solidFill>
              </a:rPr>
              <a:t>Year 1 targets anchored to documented action, not vanity metrics.</a:t>
            </a:r>
          </a:p>
        </p:txBody>
      </p:sp>
      <p:pic>
        <p:nvPicPr>
          <p:cNvPr id="9" name="Picture 8" descr="r_rangoli_festival.jpg"/>
          <p:cNvPicPr>
            <a:picLocks noChangeAspect="1"/>
          </p:cNvPicPr>
          <p:nvPr/>
        </p:nvPicPr>
        <p:blipFill>
          <a:blip r:embed="rId2"/>
          <a:stretch>
            <a:fillRect/>
          </a:stretch>
        </p:blipFill>
        <p:spPr>
          <a:xfrm>
            <a:off x="182880" y="987552"/>
            <a:ext cx="2651760" cy="3657600"/>
          </a:xfrm>
          <a:prstGeom prst="rect">
            <a:avLst/>
          </a:prstGeom>
        </p:spPr>
      </p:pic>
      <p:sp>
        <p:nvSpPr>
          <p:cNvPr id="10" name="Rectangle 9"/>
          <p:cNvSpPr/>
          <p:nvPr/>
        </p:nvSpPr>
        <p:spPr>
          <a:xfrm>
            <a:off x="182880" y="987552"/>
            <a:ext cx="2651760" cy="3657600"/>
          </a:xfrm>
          <a:prstGeom prst="rect">
            <a:avLst/>
          </a:prstGeom>
          <a:noFill/>
          <a:ln w="1905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154680" y="987552"/>
            <a:ext cx="45720" cy="5577840"/>
          </a:xfrm>
          <a:prstGeom prst="rect">
            <a:avLst/>
          </a:prstGeom>
          <a:solidFill>
            <a:srgbClr val="403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37560" y="1005840"/>
            <a:ext cx="8686800" cy="384048"/>
          </a:xfrm>
          <a:prstGeom prst="rect">
            <a:avLst/>
          </a:prstGeom>
          <a:noFill/>
        </p:spPr>
        <p:txBody>
          <a:bodyPr wrap="square">
            <a:spAutoFit/>
          </a:bodyPr>
          <a:lstStyle/>
          <a:p>
            <a:pPr algn="l"/>
            <a:r>
              <a:rPr sz="1500" b="1" i="0">
                <a:solidFill>
                  <a:srgbClr val="F5F0E8"/>
                </a:solidFill>
              </a:rPr>
              <a:t>Saheli Impact Model</a:t>
            </a:r>
          </a:p>
        </p:txBody>
      </p:sp>
      <p:sp>
        <p:nvSpPr>
          <p:cNvPr id="13" name="Oval 12"/>
          <p:cNvSpPr/>
          <p:nvPr/>
        </p:nvSpPr>
        <p:spPr>
          <a:xfrm>
            <a:off x="3063240" y="1545336"/>
            <a:ext cx="201168" cy="201168"/>
          </a:xfrm>
          <a:prstGeom prst="ellipse">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01568" y="1508760"/>
            <a:ext cx="8503920" cy="292608"/>
          </a:xfrm>
          <a:prstGeom prst="rect">
            <a:avLst/>
          </a:prstGeom>
          <a:noFill/>
        </p:spPr>
        <p:txBody>
          <a:bodyPr wrap="square">
            <a:spAutoFit/>
          </a:bodyPr>
          <a:lstStyle/>
          <a:p>
            <a:pPr algn="l"/>
            <a:r>
              <a:rPr sz="1300" b="1" i="0">
                <a:solidFill>
                  <a:srgbClr val="E8920A"/>
                </a:solidFill>
              </a:rPr>
              <a:t>Primary beneficiary  (Priya — DV Survivor)</a:t>
            </a:r>
          </a:p>
        </p:txBody>
      </p:sp>
      <p:sp>
        <p:nvSpPr>
          <p:cNvPr id="15" name="TextBox 14"/>
          <p:cNvSpPr txBox="1"/>
          <p:nvPr/>
        </p:nvSpPr>
        <p:spPr>
          <a:xfrm>
            <a:off x="3401568" y="1810512"/>
            <a:ext cx="8503920" cy="621792"/>
          </a:xfrm>
          <a:prstGeom prst="rect">
            <a:avLst/>
          </a:prstGeom>
          <a:noFill/>
        </p:spPr>
        <p:txBody>
          <a:bodyPr wrap="square">
            <a:spAutoFit/>
          </a:bodyPr>
          <a:lstStyle/>
          <a:p>
            <a:pPr algn="l"/>
            <a:r>
              <a:rPr sz="1100" b="0" i="0">
                <a:solidFill>
                  <a:srgbClr val="F5F0E8"/>
                </a:solidFill>
              </a:rPr>
              <a:t>Estimated 40% increase in evidence-backed DV filings. OSC case completion rate improved through guided documentation.</a:t>
            </a:r>
          </a:p>
        </p:txBody>
      </p:sp>
      <p:sp>
        <p:nvSpPr>
          <p:cNvPr id="16" name="Oval 15"/>
          <p:cNvSpPr/>
          <p:nvPr/>
        </p:nvSpPr>
        <p:spPr>
          <a:xfrm>
            <a:off x="3063240" y="2505456"/>
            <a:ext cx="201168" cy="201168"/>
          </a:xfrm>
          <a:prstGeom prst="ellipse">
            <a:avLst/>
          </a:prstGeom>
          <a:solidFill>
            <a:srgbClr val="D459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01568" y="2468880"/>
            <a:ext cx="8503920" cy="292608"/>
          </a:xfrm>
          <a:prstGeom prst="rect">
            <a:avLst/>
          </a:prstGeom>
          <a:noFill/>
        </p:spPr>
        <p:txBody>
          <a:bodyPr wrap="square">
            <a:spAutoFit/>
          </a:bodyPr>
          <a:lstStyle/>
          <a:p>
            <a:pPr algn="l"/>
            <a:r>
              <a:rPr sz="1300" b="1" i="0">
                <a:solidFill>
                  <a:srgbClr val="D4597A"/>
                </a:solidFill>
              </a:rPr>
              <a:t>Secondary beneficiary  (Sunita — Health Gap)</a:t>
            </a:r>
          </a:p>
        </p:txBody>
      </p:sp>
      <p:sp>
        <p:nvSpPr>
          <p:cNvPr id="18" name="TextBox 17"/>
          <p:cNvSpPr txBox="1"/>
          <p:nvPr/>
        </p:nvSpPr>
        <p:spPr>
          <a:xfrm>
            <a:off x="3401568" y="2770632"/>
            <a:ext cx="8503920" cy="621792"/>
          </a:xfrm>
          <a:prstGeom prst="rect">
            <a:avLst/>
          </a:prstGeom>
          <a:noFill/>
        </p:spPr>
        <p:txBody>
          <a:bodyPr wrap="square">
            <a:spAutoFit/>
          </a:bodyPr>
          <a:lstStyle/>
          <a:p>
            <a:pPr algn="l"/>
            <a:r>
              <a:rPr sz="1100" b="0" i="0">
                <a:solidFill>
                  <a:srgbClr val="F5F0E8"/>
                </a:solidFill>
              </a:rPr>
              <a:t>First structured screening for 50,000+ women in Year 1. Jan Aushadhi saves ~₹27/day per user.</a:t>
            </a:r>
          </a:p>
        </p:txBody>
      </p:sp>
      <p:sp>
        <p:nvSpPr>
          <p:cNvPr id="19" name="Oval 18"/>
          <p:cNvSpPr/>
          <p:nvPr/>
        </p:nvSpPr>
        <p:spPr>
          <a:xfrm>
            <a:off x="3063240" y="3465576"/>
            <a:ext cx="201168" cy="201168"/>
          </a:xfrm>
          <a:prstGeom prst="ellipse">
            <a:avLst/>
          </a:prstGeom>
          <a:solidFill>
            <a:srgbClr val="00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01568" y="3429000"/>
            <a:ext cx="8503920" cy="292608"/>
          </a:xfrm>
          <a:prstGeom prst="rect">
            <a:avLst/>
          </a:prstGeom>
          <a:noFill/>
        </p:spPr>
        <p:txBody>
          <a:bodyPr wrap="square">
            <a:spAutoFit/>
          </a:bodyPr>
          <a:lstStyle/>
          <a:p>
            <a:pPr algn="l"/>
            <a:r>
              <a:rPr sz="1300" b="1" i="0">
                <a:solidFill>
                  <a:srgbClr val="008888"/>
                </a:solidFill>
              </a:rPr>
              <a:t>Feature-phone reach  (Meena — Rural / Offline)</a:t>
            </a:r>
          </a:p>
        </p:txBody>
      </p:sp>
      <p:sp>
        <p:nvSpPr>
          <p:cNvPr id="21" name="TextBox 20"/>
          <p:cNvSpPr txBox="1"/>
          <p:nvPr/>
        </p:nvSpPr>
        <p:spPr>
          <a:xfrm>
            <a:off x="3401568" y="3730752"/>
            <a:ext cx="8503920" cy="621792"/>
          </a:xfrm>
          <a:prstGeom prst="rect">
            <a:avLst/>
          </a:prstGeom>
          <a:noFill/>
        </p:spPr>
        <p:txBody>
          <a:bodyPr wrap="square">
            <a:spAutoFit/>
          </a:bodyPr>
          <a:lstStyle/>
          <a:p>
            <a:pPr algn="l"/>
            <a:r>
              <a:rPr sz="1100" b="0" i="0">
                <a:solidFill>
                  <a:srgbClr val="F5F0E8"/>
                </a:solidFill>
              </a:rPr>
              <a:t>SMS/USSD path onboards users with zero internet. ASHA network drives last-mile coverage at no additional infrastructure cost.</a:t>
            </a:r>
          </a:p>
        </p:txBody>
      </p:sp>
      <p:sp>
        <p:nvSpPr>
          <p:cNvPr id="22" name="Oval 21"/>
          <p:cNvSpPr/>
          <p:nvPr/>
        </p:nvSpPr>
        <p:spPr>
          <a:xfrm>
            <a:off x="3063240" y="4425696"/>
            <a:ext cx="201168" cy="201168"/>
          </a:xfrm>
          <a:prstGeom prst="ellipse">
            <a:avLst/>
          </a:prstGeom>
          <a:solidFill>
            <a:srgbClr val="C983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01568" y="4389120"/>
            <a:ext cx="8503920" cy="292608"/>
          </a:xfrm>
          <a:prstGeom prst="rect">
            <a:avLst/>
          </a:prstGeom>
          <a:noFill/>
        </p:spPr>
        <p:txBody>
          <a:bodyPr wrap="square">
            <a:spAutoFit/>
          </a:bodyPr>
          <a:lstStyle/>
          <a:p>
            <a:pPr algn="l"/>
            <a:r>
              <a:rPr sz="1300" b="1" i="0">
                <a:solidFill>
                  <a:srgbClr val="C9836B"/>
                </a:solidFill>
              </a:rPr>
              <a:t>Solution scalability — operational and technical</a:t>
            </a:r>
          </a:p>
        </p:txBody>
      </p:sp>
      <p:sp>
        <p:nvSpPr>
          <p:cNvPr id="24" name="TextBox 23"/>
          <p:cNvSpPr txBox="1"/>
          <p:nvPr/>
        </p:nvSpPr>
        <p:spPr>
          <a:xfrm>
            <a:off x="3401568" y="4690872"/>
            <a:ext cx="8503920" cy="621792"/>
          </a:xfrm>
          <a:prstGeom prst="rect">
            <a:avLst/>
          </a:prstGeom>
          <a:noFill/>
        </p:spPr>
        <p:txBody>
          <a:bodyPr wrap="square">
            <a:spAutoFit/>
          </a:bodyPr>
          <a:lstStyle/>
          <a:p>
            <a:pPr algn="l"/>
            <a:r>
              <a:rPr sz="1100" b="0" i="0">
                <a:solidFill>
                  <a:srgbClr val="F5F0E8"/>
                </a:solidFill>
              </a:rPr>
              <a:t>ASHA/SHG distribution requires zero new infrastructure. Edge inference scales to ₹1,000 devices. B2G + B2B revenue sustains the free core.</a:t>
            </a:r>
          </a:p>
        </p:txBody>
      </p:sp>
      <p:sp>
        <p:nvSpPr>
          <p:cNvPr id="25" name="Rectangle 24"/>
          <p:cNvSpPr/>
          <p:nvPr/>
        </p:nvSpPr>
        <p:spPr>
          <a:xfrm>
            <a:off x="3017520" y="5669280"/>
            <a:ext cx="9006840" cy="1024128"/>
          </a:xfrm>
          <a:prstGeom prst="rect">
            <a:avLst/>
          </a:prstGeom>
          <a:solidFill>
            <a:srgbClr val="14062C"/>
          </a:solidFill>
          <a:ln w="1016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0" y="5742432"/>
            <a:ext cx="8595360" cy="274320"/>
          </a:xfrm>
          <a:prstGeom prst="rect">
            <a:avLst/>
          </a:prstGeom>
          <a:noFill/>
        </p:spPr>
        <p:txBody>
          <a:bodyPr wrap="square">
            <a:spAutoFit/>
          </a:bodyPr>
          <a:lstStyle/>
          <a:p>
            <a:pPr algn="l"/>
            <a:r>
              <a:rPr sz="1000" b="1" i="0">
                <a:solidFill>
                  <a:srgbClr val="008888"/>
                </a:solidFill>
              </a:rPr>
              <a:t>Distribution &amp; Sustainability</a:t>
            </a:r>
          </a:p>
        </p:txBody>
      </p:sp>
      <p:sp>
        <p:nvSpPr>
          <p:cNvPr id="27" name="TextBox 26"/>
          <p:cNvSpPr txBox="1"/>
          <p:nvPr/>
        </p:nvSpPr>
        <p:spPr>
          <a:xfrm>
            <a:off x="3200400" y="6053328"/>
            <a:ext cx="8732520" cy="566928"/>
          </a:xfrm>
          <a:prstGeom prst="rect">
            <a:avLst/>
          </a:prstGeom>
          <a:noFill/>
        </p:spPr>
        <p:txBody>
          <a:bodyPr wrap="square">
            <a:spAutoFit/>
          </a:bodyPr>
          <a:lstStyle/>
          <a:p>
            <a:pPr algn="l"/>
            <a:r>
              <a:rPr sz="1000" b="0" i="1">
                <a:solidFill>
                  <a:srgbClr val="F5F0E8"/>
                </a:solidFill>
              </a:rPr>
              <a:t>ASHA network (1M+) — primary distribution at zero infrastructure cost   ✦   SHG network (9M) — group sessions, leader runs Saheli for 10–15 women   ✦   Revenue: B2G (ASHA/OSC tools)  ✦  B2B (POSH compliance)  ✦  Grants — core always free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724"/>
        </a:solidFill>
        <a:effectLst/>
      </p:bgPr>
    </p:bg>
    <p:spTree>
      <p:nvGrpSpPr>
        <p:cNvPr id="1" name=""/>
        <p:cNvGrpSpPr/>
        <p:nvPr/>
      </p:nvGrpSpPr>
      <p:grpSpPr/>
      <p:sp>
        <p:nvSpPr>
          <p:cNvPr id="2" name="Oval 1"/>
          <p:cNvSpPr/>
          <p:nvPr/>
        </p:nvSpPr>
        <p:spPr>
          <a:xfrm>
            <a:off x="-1097280" y="-1097280"/>
            <a:ext cx="7315200" cy="8961120"/>
          </a:xfrm>
          <a:prstGeom prst="ellipse">
            <a:avLst/>
          </a:prstGeom>
          <a:noFill/>
          <a:ln w="19050">
            <a:solidFill>
              <a:srgbClr val="2010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74320" y="-274320"/>
            <a:ext cx="5486400" cy="7315200"/>
          </a:xfrm>
          <a:prstGeom prst="ellipse">
            <a:avLst/>
          </a:prstGeom>
          <a:noFill/>
          <a:ln w="12700">
            <a:solidFill>
              <a:srgbClr val="301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_warli_jivya.jpg"/>
          <p:cNvPicPr>
            <a:picLocks noChangeAspect="1"/>
          </p:cNvPicPr>
          <p:nvPr/>
        </p:nvPicPr>
        <p:blipFill>
          <a:blip r:embed="rId2"/>
          <a:stretch>
            <a:fillRect/>
          </a:stretch>
        </p:blipFill>
        <p:spPr>
          <a:xfrm>
            <a:off x="6858000" y="0"/>
            <a:ext cx="5330952" cy="6858000"/>
          </a:xfrm>
          <a:prstGeom prst="rect">
            <a:avLst/>
          </a:prstGeom>
        </p:spPr>
      </p:pic>
      <p:sp>
        <p:nvSpPr>
          <p:cNvPr id="5" name="Oval 4"/>
          <p:cNvSpPr/>
          <p:nvPr/>
        </p:nvSpPr>
        <p:spPr>
          <a:xfrm>
            <a:off x="12490704" y="3346704"/>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350084" y="4144199"/>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945185" y="4845504"/>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324844" y="5366032"/>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63882" y="5642999"/>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754085" y="5642999"/>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993124" y="5366032"/>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372782" y="4845504"/>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967883" y="4144199"/>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827263" y="3346704"/>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967883" y="2549208"/>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72782" y="1847903"/>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993124" y="1327375"/>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754085" y="1050408"/>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563882" y="1050408"/>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324843" y="1327375"/>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945185" y="1847903"/>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2350084" y="2549208"/>
            <a:ext cx="164592" cy="164592"/>
          </a:xfrm>
          <a:prstGeom prst="ellipse">
            <a:avLst/>
          </a:prstGeom>
          <a:noFill/>
          <a:ln w="1270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576304" y="334670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1386419" y="405536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867644" y="4574139"/>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158984" y="476402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450324" y="4574139"/>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931548" y="405536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741663" y="334670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931548" y="263804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450324" y="2119268"/>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58984" y="1929384"/>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867644" y="2119268"/>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386419" y="2638043"/>
            <a:ext cx="164592" cy="164592"/>
          </a:xfrm>
          <a:prstGeom prst="ellipse">
            <a:avLst/>
          </a:prstGeom>
          <a:noFill/>
          <a:ln w="12700">
            <a:solidFill>
              <a:srgbClr val="D459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0"/>
            <a:ext cx="109728" cy="6858000"/>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9728" y="0"/>
            <a:ext cx="54864" cy="6858000"/>
          </a:xfrm>
          <a:prstGeom prst="rect">
            <a:avLst/>
          </a:prstGeom>
          <a:solidFill>
            <a:srgbClr val="5C0F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78240" y="91440"/>
            <a:ext cx="3200400" cy="365760"/>
          </a:xfrm>
          <a:prstGeom prst="rect">
            <a:avLst/>
          </a:prstGeom>
          <a:noFill/>
        </p:spPr>
        <p:txBody>
          <a:bodyPr wrap="square">
            <a:spAutoFit/>
          </a:bodyPr>
          <a:lstStyle/>
          <a:p>
            <a:pPr algn="r"/>
            <a:r>
              <a:rPr sz="900" b="0" i="0">
                <a:solidFill>
                  <a:srgbClr val="C9836B"/>
                </a:solidFill>
              </a:rPr>
              <a:t>HopeWorks  ✦  AI4India</a:t>
            </a:r>
          </a:p>
        </p:txBody>
      </p:sp>
      <p:sp>
        <p:nvSpPr>
          <p:cNvPr id="38" name="Oval 37"/>
          <p:cNvSpPr/>
          <p:nvPr/>
        </p:nvSpPr>
        <p:spPr>
          <a:xfrm>
            <a:off x="109728" y="91440"/>
            <a:ext cx="621792" cy="621792"/>
          </a:xfrm>
          <a:prstGeom prst="ellipse">
            <a:avLst/>
          </a:prstGeom>
          <a:solidFill>
            <a:srgbClr val="5C0F26"/>
          </a:solidFill>
          <a:ln w="19050">
            <a:solidFill>
              <a:srgbClr val="E89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 y="91440"/>
            <a:ext cx="621792" cy="621792"/>
          </a:xfrm>
          <a:prstGeom prst="rect">
            <a:avLst/>
          </a:prstGeom>
          <a:noFill/>
        </p:spPr>
        <p:txBody>
          <a:bodyPr wrap="square">
            <a:spAutoFit/>
          </a:bodyPr>
          <a:lstStyle/>
          <a:p>
            <a:pPr algn="ctr"/>
            <a:r>
              <a:rPr sz="1500" b="1" i="0">
                <a:solidFill>
                  <a:srgbClr val="E8920A"/>
                </a:solidFill>
              </a:rPr>
              <a:t>AI</a:t>
            </a:r>
          </a:p>
        </p:txBody>
      </p:sp>
      <p:sp>
        <p:nvSpPr>
          <p:cNvPr id="40" name="TextBox 39"/>
          <p:cNvSpPr txBox="1"/>
          <p:nvPr/>
        </p:nvSpPr>
        <p:spPr>
          <a:xfrm>
            <a:off x="640080" y="1417320"/>
            <a:ext cx="7132320" cy="1691640"/>
          </a:xfrm>
          <a:prstGeom prst="rect">
            <a:avLst/>
          </a:prstGeom>
          <a:noFill/>
        </p:spPr>
        <p:txBody>
          <a:bodyPr wrap="square">
            <a:spAutoFit/>
          </a:bodyPr>
          <a:lstStyle/>
          <a:p>
            <a:pPr algn="l"/>
            <a:r>
              <a:rPr sz="8000" b="1" i="0">
                <a:solidFill>
                  <a:srgbClr val="F5F0E8"/>
                </a:solidFill>
              </a:rPr>
              <a:t>THANK YOU</a:t>
            </a:r>
          </a:p>
        </p:txBody>
      </p:sp>
      <p:sp>
        <p:nvSpPr>
          <p:cNvPr id="41" name="Rectangle 40"/>
          <p:cNvSpPr/>
          <p:nvPr/>
        </p:nvSpPr>
        <p:spPr>
          <a:xfrm>
            <a:off x="640080" y="3154680"/>
            <a:ext cx="6583680" cy="45720"/>
          </a:xfrm>
          <a:prstGeom prst="rect">
            <a:avLst/>
          </a:prstGeom>
          <a:solidFill>
            <a:srgbClr val="E892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3310128"/>
            <a:ext cx="6583680" cy="640080"/>
          </a:xfrm>
          <a:prstGeom prst="rect">
            <a:avLst/>
          </a:prstGeom>
          <a:noFill/>
        </p:spPr>
        <p:txBody>
          <a:bodyPr wrap="square">
            <a:spAutoFit/>
          </a:bodyPr>
          <a:lstStyle/>
          <a:p>
            <a:pPr algn="l"/>
            <a:r>
              <a:rPr sz="2200" b="0" i="0">
                <a:solidFill>
                  <a:srgbClr val="F5F0E8"/>
                </a:solidFill>
              </a:rPr>
              <a:t>for your time and attention</a:t>
            </a:r>
          </a:p>
        </p:txBody>
      </p:sp>
      <p:sp>
        <p:nvSpPr>
          <p:cNvPr id="43" name="TextBox 42"/>
          <p:cNvSpPr txBox="1"/>
          <p:nvPr/>
        </p:nvSpPr>
        <p:spPr>
          <a:xfrm>
            <a:off x="640080" y="4133087"/>
            <a:ext cx="6583680" cy="502920"/>
          </a:xfrm>
          <a:prstGeom prst="rect">
            <a:avLst/>
          </a:prstGeom>
          <a:noFill/>
        </p:spPr>
        <p:txBody>
          <a:bodyPr wrap="square">
            <a:spAutoFit/>
          </a:bodyPr>
          <a:lstStyle/>
          <a:p>
            <a:pPr algn="l"/>
            <a:r>
              <a:rPr sz="1800" b="1" i="0">
                <a:solidFill>
                  <a:srgbClr val="E8920A"/>
                </a:solidFill>
              </a:rPr>
              <a:t>Saheli  ✦  सहेली</a:t>
            </a:r>
          </a:p>
        </p:txBody>
      </p:sp>
      <p:sp>
        <p:nvSpPr>
          <p:cNvPr id="44" name="TextBox 43"/>
          <p:cNvSpPr txBox="1"/>
          <p:nvPr/>
        </p:nvSpPr>
        <p:spPr>
          <a:xfrm>
            <a:off x="640080" y="4709160"/>
            <a:ext cx="6583680" cy="502920"/>
          </a:xfrm>
          <a:prstGeom prst="rect">
            <a:avLst/>
          </a:prstGeom>
          <a:noFill/>
        </p:spPr>
        <p:txBody>
          <a:bodyPr wrap="square">
            <a:spAutoFit/>
          </a:bodyPr>
          <a:lstStyle/>
          <a:p>
            <a:pPr algn="l"/>
            <a:r>
              <a:rPr sz="1300" b="0" i="1">
                <a:solidFill>
                  <a:srgbClr val="C9836B"/>
                </a:solidFill>
              </a:rPr>
              <a:t>one conversation for every right, every scheme, and every tool</a:t>
            </a:r>
          </a:p>
        </p:txBody>
      </p:sp>
      <p:sp>
        <p:nvSpPr>
          <p:cNvPr id="45" name="TextBox 44"/>
          <p:cNvSpPr txBox="1"/>
          <p:nvPr/>
        </p:nvSpPr>
        <p:spPr>
          <a:xfrm>
            <a:off x="640080" y="5760720"/>
            <a:ext cx="6583680" cy="731520"/>
          </a:xfrm>
          <a:prstGeom prst="rect">
            <a:avLst/>
          </a:prstGeom>
          <a:noFill/>
        </p:spPr>
        <p:txBody>
          <a:bodyPr wrap="square">
            <a:spAutoFit/>
          </a:bodyPr>
          <a:lstStyle/>
          <a:p>
            <a:pPr algn="l"/>
            <a:r>
              <a:rPr sz="1000" b="0" i="0">
                <a:solidFill>
                  <a:srgbClr val="807090"/>
                </a:solidFill>
              </a:rPr>
              <a:t>WitchHunt 2026  |  HopeWorks Foundation × AI4India × Skills Café
Track: Health &amp; Well-Being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