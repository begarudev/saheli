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oppins"/>
      <p:regular r:id="rId21"/>
      <p:bold r:id="rId22"/>
      <p:italic r:id="rId23"/>
      <p:boldItalic r:id="rId24"/>
    </p:embeddedFont>
    <p:embeddedFont>
      <p:font typeface="Lato"/>
      <p:regular r:id="rId25"/>
      <p:bold r:id="rId26"/>
      <p:italic r:id="rId27"/>
      <p:boldItalic r:id="rId28"/>
    </p:embeddedFont>
    <p:embeddedFont>
      <p:font typeface="DM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jU14PCiDTW9ewq2DICf+B/zedx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italic.fntdata"/><Relationship Id="rId30" Type="http://schemas.openxmlformats.org/officeDocument/2006/relationships/font" Target="fonts/DMSans-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DM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ceea3162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bceea3162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5" name="Google Shape;3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jp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 name="Google Shape;13;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 name="Google Shape;14;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id="15" name="Google Shape;15;p16" title="Witch Hunt finalized logo-modified.png"/>
          <p:cNvPicPr preferRelativeResize="0"/>
          <p:nvPr/>
        </p:nvPicPr>
        <p:blipFill rotWithShape="1">
          <a:blip r:embed="rId2">
            <a:alphaModFix/>
          </a:blip>
          <a:srcRect b="0" l="0" r="0" t="0"/>
          <a:stretch/>
        </p:blipFill>
        <p:spPr>
          <a:xfrm>
            <a:off x="129475" y="110949"/>
            <a:ext cx="1009950" cy="1009950"/>
          </a:xfrm>
          <a:prstGeom prst="rect">
            <a:avLst/>
          </a:prstGeom>
          <a:noFill/>
          <a:ln>
            <a:noFill/>
          </a:ln>
        </p:spPr>
      </p:pic>
      <p:pic>
        <p:nvPicPr>
          <p:cNvPr id="16" name="Google Shape;16;p16" title="AI4India Logo.jpg"/>
          <p:cNvPicPr preferRelativeResize="0"/>
          <p:nvPr/>
        </p:nvPicPr>
        <p:blipFill rotWithShape="1">
          <a:blip r:embed="rId3">
            <a:alphaModFix/>
          </a:blip>
          <a:srcRect b="0" l="0" r="0" t="0"/>
          <a:stretch/>
        </p:blipFill>
        <p:spPr>
          <a:xfrm>
            <a:off x="8065624" y="267450"/>
            <a:ext cx="941724" cy="367825"/>
          </a:xfrm>
          <a:prstGeom prst="rect">
            <a:avLst/>
          </a:prstGeom>
          <a:noFill/>
          <a:ln>
            <a:noFill/>
          </a:ln>
        </p:spPr>
      </p:pic>
      <p:pic>
        <p:nvPicPr>
          <p:cNvPr id="17" name="Google Shape;17;p16" title="hopeworks logo.png"/>
          <p:cNvPicPr preferRelativeResize="0"/>
          <p:nvPr/>
        </p:nvPicPr>
        <p:blipFill rotWithShape="1">
          <a:blip r:embed="rId4">
            <a:alphaModFix/>
          </a:blip>
          <a:srcRect b="0" l="0" r="0" t="0"/>
          <a:stretch/>
        </p:blipFill>
        <p:spPr>
          <a:xfrm>
            <a:off x="7555296" y="203475"/>
            <a:ext cx="432575" cy="431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0" name="Google Shape;20;p17"/>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21" name="Google Shape;21;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2" name="Google Shape;22;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3" name="Google Shape;23;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6" name="Google Shape;26;p18"/>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27" name="Google Shape;27;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8" name="Google Shape;28;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19"/>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2" name="Google Shape;32;p19"/>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33" name="Google Shape;33;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4" name="Google Shape;34;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5" name="Google Shape;35;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8" name="Google Shape;38;p20"/>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9" name="Google Shape;39;p20"/>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40" name="Google Shape;40;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1" name="Google Shape;41;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2" name="Google Shape;42;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5" name="Google Shape;45;p21"/>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6" name="Google Shape;46;p21"/>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7" name="Google Shape;47;p21"/>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8" name="Google Shape;48;p21"/>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9" name="Google Shape;49;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0" name="Google Shape;50;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1" name="Google Shape;51;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22"/>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4" name="Google Shape;54;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5" name="Google Shape;55;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23"/>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60" name="Google Shape;60;p23"/>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1" name="Google Shape;61;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3" name="Google Shape;63;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6" name="Google Shape;66;p24"/>
          <p:cNvSpPr/>
          <p:nvPr>
            <p:ph idx="2" type="pic"/>
          </p:nvPr>
        </p:nvSpPr>
        <p:spPr>
          <a:xfrm>
            <a:off x="896144" y="306388"/>
            <a:ext cx="2743200" cy="2057400"/>
          </a:xfrm>
          <a:prstGeom prst="rect">
            <a:avLst/>
          </a:prstGeom>
          <a:noFill/>
          <a:ln>
            <a:noFill/>
          </a:ln>
        </p:spPr>
      </p:sp>
      <p:sp>
        <p:nvSpPr>
          <p:cNvPr id="67" name="Google Shape;67;p24"/>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8" name="Google Shape;68;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9" name="Google Shape;69;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2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3" name="Google Shape;73;p25"/>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4" name="Google Shape;74;p2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5" name="Google Shape;75;p2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2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26"/>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9" name="Google Shape;79;p26"/>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80" name="Google Shape;80;p2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1" name="Google Shape;81;p2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2" name="Google Shape;82;p2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24.png"/><Relationship Id="rId5" Type="http://schemas.openxmlformats.org/officeDocument/2006/relationships/image" Target="../media/image10.jp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24.png"/><Relationship Id="rId5" Type="http://schemas.openxmlformats.org/officeDocument/2006/relationships/image" Target="../media/image10.jp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 Id="rId4" Type="http://schemas.openxmlformats.org/officeDocument/2006/relationships/image" Target="../media/image17.png"/><Relationship Id="rId5"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g"/><Relationship Id="rId4" Type="http://schemas.openxmlformats.org/officeDocument/2006/relationships/image" Target="../media/image17.png"/><Relationship Id="rId5" Type="http://schemas.openxmlformats.org/officeDocument/2006/relationships/image" Target="../media/image21.jpg"/><Relationship Id="rId6"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6" name="Shape 86"/>
        <p:cNvGrpSpPr/>
        <p:nvPr/>
      </p:nvGrpSpPr>
      <p:grpSpPr>
        <a:xfrm>
          <a:off x="0" y="0"/>
          <a:ext cx="0" cy="0"/>
          <a:chOff x="0" y="0"/>
          <a:chExt cx="0" cy="0"/>
        </a:xfrm>
      </p:grpSpPr>
      <p:sp>
        <p:nvSpPr>
          <p:cNvPr id="87" name="Google Shape;87;p1"/>
          <p:cNvSpPr/>
          <p:nvPr/>
        </p:nvSpPr>
        <p:spPr>
          <a:xfrm>
            <a:off x="2825919" y="144667"/>
            <a:ext cx="6056255" cy="4353817"/>
          </a:xfrm>
          <a:custGeom>
            <a:rect b="b" l="l" r="r" t="t"/>
            <a:pathLst>
              <a:path extrusionOk="0" h="8707633" w="12112509">
                <a:moveTo>
                  <a:pt x="0" y="0"/>
                </a:moveTo>
                <a:lnTo>
                  <a:pt x="12112509" y="0"/>
                </a:lnTo>
                <a:lnTo>
                  <a:pt x="12112509" y="8707633"/>
                </a:lnTo>
                <a:lnTo>
                  <a:pt x="0" y="8707633"/>
                </a:lnTo>
                <a:lnTo>
                  <a:pt x="0" y="0"/>
                </a:lnTo>
                <a:close/>
              </a:path>
            </a:pathLst>
          </a:custGeom>
          <a:blipFill rotWithShape="1">
            <a:blip r:embed="rId3">
              <a:alphaModFix/>
            </a:blip>
            <a:stretch>
              <a:fillRect b="0" l="0" r="0" t="-498"/>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88" name="Google Shape;88;p1"/>
          <p:cNvSpPr/>
          <p:nvPr/>
        </p:nvSpPr>
        <p:spPr>
          <a:xfrm>
            <a:off x="7012873" y="1777787"/>
            <a:ext cx="264215" cy="264215"/>
          </a:xfrm>
          <a:custGeom>
            <a:rect b="b" l="l" r="r" t="t"/>
            <a:pathLst>
              <a:path extrusionOk="0" h="528429" w="528429">
                <a:moveTo>
                  <a:pt x="0" y="0"/>
                </a:moveTo>
                <a:lnTo>
                  <a:pt x="528429" y="0"/>
                </a:lnTo>
                <a:lnTo>
                  <a:pt x="528429" y="528429"/>
                </a:lnTo>
                <a:lnTo>
                  <a:pt x="0" y="528429"/>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89" name="Google Shape;89;p1"/>
          <p:cNvSpPr txBox="1"/>
          <p:nvPr/>
        </p:nvSpPr>
        <p:spPr>
          <a:xfrm>
            <a:off x="464324" y="1206775"/>
            <a:ext cx="6486600" cy="17241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4000"/>
              <a:buFont typeface="Arial"/>
              <a:buNone/>
            </a:pPr>
            <a:r>
              <a:rPr b="0" i="0" lang="en-GB" sz="4000" u="none" cap="none" strike="noStrike">
                <a:solidFill>
                  <a:srgbClr val="FBF9F1"/>
                </a:solidFill>
                <a:latin typeface="Poppins"/>
                <a:ea typeface="Poppins"/>
                <a:cs typeface="Poppins"/>
                <a:sym typeface="Poppins"/>
              </a:rPr>
              <a:t>Proposal by</a:t>
            </a:r>
            <a:br>
              <a:rPr b="0" i="0" lang="en-GB" sz="4000" u="none" cap="none" strike="noStrike">
                <a:solidFill>
                  <a:srgbClr val="FBF9F1"/>
                </a:solidFill>
                <a:latin typeface="Poppins"/>
                <a:ea typeface="Poppins"/>
                <a:cs typeface="Poppins"/>
                <a:sym typeface="Poppins"/>
              </a:rPr>
            </a:br>
            <a:r>
              <a:rPr b="0" i="0" lang="en-GB" sz="4000" u="none" cap="none" strike="noStrike">
                <a:solidFill>
                  <a:srgbClr val="FBF9F1"/>
                </a:solidFill>
                <a:latin typeface="Poppins"/>
                <a:ea typeface="Poppins"/>
                <a:cs typeface="Poppins"/>
                <a:sym typeface="Poppins"/>
              </a:rPr>
              <a:t> </a:t>
            </a:r>
            <a:r>
              <a:rPr b="1" i="0" lang="en-GB" sz="6800" u="none" cap="none" strike="noStrike">
                <a:solidFill>
                  <a:srgbClr val="A4C2F4"/>
                </a:solidFill>
                <a:latin typeface="Poppins"/>
                <a:ea typeface="Poppins"/>
                <a:cs typeface="Poppins"/>
                <a:sym typeface="Poppins"/>
              </a:rPr>
              <a:t>&lt;</a:t>
            </a:r>
            <a:r>
              <a:rPr b="1" i="1" lang="en-GB" sz="6800" u="none" cap="none" strike="noStrike">
                <a:solidFill>
                  <a:srgbClr val="A4C2F4"/>
                </a:solidFill>
                <a:latin typeface="Poppins"/>
                <a:ea typeface="Poppins"/>
                <a:cs typeface="Poppins"/>
                <a:sym typeface="Poppins"/>
              </a:rPr>
              <a:t>TEAM NAME</a:t>
            </a:r>
            <a:r>
              <a:rPr b="1" i="0" lang="en-GB" sz="6800" u="none" cap="none" strike="noStrike">
                <a:solidFill>
                  <a:srgbClr val="A4C2F4"/>
                </a:solidFill>
                <a:latin typeface="Poppins"/>
                <a:ea typeface="Poppins"/>
                <a:cs typeface="Poppins"/>
                <a:sym typeface="Poppins"/>
              </a:rPr>
              <a:t>&gt;</a:t>
            </a:r>
            <a:endParaRPr b="0" i="0" sz="200" u="none" cap="none" strike="noStrike">
              <a:solidFill>
                <a:srgbClr val="A4C2F4"/>
              </a:solidFill>
              <a:latin typeface="Arial"/>
              <a:ea typeface="Arial"/>
              <a:cs typeface="Arial"/>
              <a:sym typeface="Arial"/>
            </a:endParaRPr>
          </a:p>
        </p:txBody>
      </p:sp>
      <p:sp>
        <p:nvSpPr>
          <p:cNvPr id="90" name="Google Shape;90;p1"/>
          <p:cNvSpPr txBox="1"/>
          <p:nvPr/>
        </p:nvSpPr>
        <p:spPr>
          <a:xfrm>
            <a:off x="464325" y="3416925"/>
            <a:ext cx="3942000" cy="936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1" lang="en-GB" sz="1600" u="none" cap="none" strike="noStrike">
                <a:solidFill>
                  <a:srgbClr val="E5E1DA"/>
                </a:solidFill>
                <a:latin typeface="Poppins"/>
                <a:ea typeface="Poppins"/>
                <a:cs typeface="Poppins"/>
                <a:sym typeface="Poppins"/>
              </a:rPr>
              <a:t>Note: This is a reference Slide. Add as many details as you want. (New PPT should be created)</a:t>
            </a:r>
            <a:endParaRPr b="0" i="1" sz="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4" name="Shape 94"/>
        <p:cNvGrpSpPr/>
        <p:nvPr/>
      </p:nvGrpSpPr>
      <p:grpSpPr>
        <a:xfrm>
          <a:off x="0" y="0"/>
          <a:ext cx="0" cy="0"/>
          <a:chOff x="0" y="0"/>
          <a:chExt cx="0" cy="0"/>
        </a:xfrm>
      </p:grpSpPr>
      <p:sp>
        <p:nvSpPr>
          <p:cNvPr id="95" name="Google Shape;95;p2"/>
          <p:cNvSpPr/>
          <p:nvPr/>
        </p:nvSpPr>
        <p:spPr>
          <a:xfrm>
            <a:off x="416560" y="1428750"/>
            <a:ext cx="1311547" cy="142289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6" name="Google Shape;96;p2"/>
          <p:cNvSpPr/>
          <p:nvPr/>
        </p:nvSpPr>
        <p:spPr>
          <a:xfrm rot="-2227012">
            <a:off x="7779202" y="3286743"/>
            <a:ext cx="1174911" cy="1792448"/>
          </a:xfrm>
          <a:custGeom>
            <a:rect b="b" l="l" r="r" t="t"/>
            <a:pathLst>
              <a:path extrusionOk="0" h="10895890" w="10128448">
                <a:moveTo>
                  <a:pt x="0" y="0"/>
                </a:moveTo>
                <a:lnTo>
                  <a:pt x="10128447" y="0"/>
                </a:lnTo>
                <a:lnTo>
                  <a:pt x="10128447" y="10895890"/>
                </a:lnTo>
                <a:lnTo>
                  <a:pt x="0" y="10895890"/>
                </a:lnTo>
                <a:lnTo>
                  <a:pt x="0" y="0"/>
                </a:lnTo>
                <a:close/>
              </a:path>
            </a:pathLst>
          </a:custGeom>
          <a:blipFill rotWithShape="1">
            <a:blip r:embed="rId3">
              <a:alphaModFix/>
            </a:blip>
            <a:stretch>
              <a:fillRect b="0" l="-155" r="-153"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7" name="Google Shape;97;p2"/>
          <p:cNvSpPr txBox="1"/>
          <p:nvPr/>
        </p:nvSpPr>
        <p:spPr>
          <a:xfrm>
            <a:off x="430167" y="3333750"/>
            <a:ext cx="1433544" cy="1619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00"/>
              <a:buFont typeface="Arial"/>
              <a:buNone/>
            </a:pPr>
            <a:r>
              <a:rPr b="0" i="0" lang="en-GB" sz="1000" u="none" cap="none" strike="noStrike">
                <a:solidFill>
                  <a:srgbClr val="E5E1DA"/>
                </a:solidFill>
                <a:latin typeface="Lato"/>
                <a:ea typeface="Lato"/>
                <a:cs typeface="Lato"/>
                <a:sym typeface="Lato"/>
              </a:rPr>
              <a:t>About You</a:t>
            </a:r>
            <a:endParaRPr b="0" i="0" sz="700" u="none" cap="none" strike="noStrike">
              <a:solidFill>
                <a:srgbClr val="000000"/>
              </a:solidFill>
              <a:latin typeface="Arial"/>
              <a:ea typeface="Arial"/>
              <a:cs typeface="Arial"/>
              <a:sym typeface="Arial"/>
            </a:endParaRPr>
          </a:p>
        </p:txBody>
      </p:sp>
      <p:sp>
        <p:nvSpPr>
          <p:cNvPr id="98" name="Google Shape;98;p2"/>
          <p:cNvSpPr txBox="1"/>
          <p:nvPr/>
        </p:nvSpPr>
        <p:spPr>
          <a:xfrm>
            <a:off x="423364" y="3015140"/>
            <a:ext cx="1297939" cy="1853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rgbClr val="FBF9F1"/>
                </a:solidFill>
                <a:latin typeface="Lato"/>
                <a:ea typeface="Lato"/>
                <a:cs typeface="Lato"/>
                <a:sym typeface="Lato"/>
              </a:rPr>
              <a:t>Your Name</a:t>
            </a:r>
            <a:endParaRPr b="0" i="0" sz="700" u="none" cap="none" strike="noStrike">
              <a:solidFill>
                <a:srgbClr val="000000"/>
              </a:solidFill>
              <a:latin typeface="Arial"/>
              <a:ea typeface="Arial"/>
              <a:cs typeface="Arial"/>
              <a:sym typeface="Arial"/>
            </a:endParaRPr>
          </a:p>
        </p:txBody>
      </p:sp>
      <p:sp>
        <p:nvSpPr>
          <p:cNvPr id="99" name="Google Shape;99;p2"/>
          <p:cNvSpPr txBox="1"/>
          <p:nvPr/>
        </p:nvSpPr>
        <p:spPr>
          <a:xfrm>
            <a:off x="2361520" y="282877"/>
            <a:ext cx="3955800" cy="46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000"/>
              <a:buFont typeface="Arial"/>
              <a:buNone/>
            </a:pPr>
            <a:r>
              <a:rPr b="1" i="0" lang="en-GB" sz="3000" u="none" cap="none" strike="noStrike">
                <a:solidFill>
                  <a:srgbClr val="FBF9F1"/>
                </a:solidFill>
                <a:latin typeface="Poppins"/>
                <a:ea typeface="Poppins"/>
                <a:cs typeface="Poppins"/>
                <a:sym typeface="Poppins"/>
              </a:rPr>
              <a:t>MEET THE TEAM</a:t>
            </a:r>
            <a:endParaRPr b="0" i="0" sz="700" u="none" cap="none" strike="noStrike">
              <a:solidFill>
                <a:srgbClr val="000000"/>
              </a:solidFill>
              <a:latin typeface="Arial"/>
              <a:ea typeface="Arial"/>
              <a:cs typeface="Arial"/>
              <a:sym typeface="Arial"/>
            </a:endParaRPr>
          </a:p>
        </p:txBody>
      </p:sp>
      <p:sp>
        <p:nvSpPr>
          <p:cNvPr id="100" name="Google Shape;100;p2"/>
          <p:cNvSpPr/>
          <p:nvPr/>
        </p:nvSpPr>
        <p:spPr>
          <a:xfrm>
            <a:off x="1909558" y="1423307"/>
            <a:ext cx="1311547" cy="142289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01" name="Google Shape;101;p2"/>
          <p:cNvSpPr/>
          <p:nvPr/>
        </p:nvSpPr>
        <p:spPr>
          <a:xfrm>
            <a:off x="3351511" y="1423307"/>
            <a:ext cx="1311547" cy="142289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02" name="Google Shape;102;p2"/>
          <p:cNvSpPr/>
          <p:nvPr/>
        </p:nvSpPr>
        <p:spPr>
          <a:xfrm>
            <a:off x="4793465" y="1408134"/>
            <a:ext cx="1311547" cy="142289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03" name="Google Shape;103;p2"/>
          <p:cNvSpPr/>
          <p:nvPr/>
        </p:nvSpPr>
        <p:spPr>
          <a:xfrm>
            <a:off x="6239358" y="1399170"/>
            <a:ext cx="1311546" cy="142289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04" name="Google Shape;104;p2"/>
          <p:cNvSpPr txBox="1"/>
          <p:nvPr/>
        </p:nvSpPr>
        <p:spPr>
          <a:xfrm>
            <a:off x="1909558" y="3015140"/>
            <a:ext cx="1297940" cy="1853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rgbClr val="FBF9F1"/>
                </a:solidFill>
                <a:latin typeface="Lato"/>
                <a:ea typeface="Lato"/>
                <a:cs typeface="Lato"/>
                <a:sym typeface="Lato"/>
              </a:rPr>
              <a:t>Your Name</a:t>
            </a:r>
            <a:endParaRPr b="0" i="0" sz="700" u="none" cap="none" strike="noStrike">
              <a:solidFill>
                <a:srgbClr val="000000"/>
              </a:solidFill>
              <a:latin typeface="Arial"/>
              <a:ea typeface="Arial"/>
              <a:cs typeface="Arial"/>
              <a:sym typeface="Arial"/>
            </a:endParaRPr>
          </a:p>
        </p:txBody>
      </p:sp>
      <p:sp>
        <p:nvSpPr>
          <p:cNvPr id="105" name="Google Shape;105;p2"/>
          <p:cNvSpPr txBox="1"/>
          <p:nvPr/>
        </p:nvSpPr>
        <p:spPr>
          <a:xfrm>
            <a:off x="3395753" y="3015140"/>
            <a:ext cx="1297939" cy="1853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rgbClr val="FBF9F1"/>
                </a:solidFill>
                <a:latin typeface="Lato"/>
                <a:ea typeface="Lato"/>
                <a:cs typeface="Lato"/>
                <a:sym typeface="Lato"/>
              </a:rPr>
              <a:t>Your Name</a:t>
            </a:r>
            <a:endParaRPr b="0" i="0" sz="700" u="none" cap="none" strike="noStrike">
              <a:solidFill>
                <a:srgbClr val="000000"/>
              </a:solidFill>
              <a:latin typeface="Arial"/>
              <a:ea typeface="Arial"/>
              <a:cs typeface="Arial"/>
              <a:sym typeface="Arial"/>
            </a:endParaRPr>
          </a:p>
        </p:txBody>
      </p:sp>
      <p:sp>
        <p:nvSpPr>
          <p:cNvPr id="106" name="Google Shape;106;p2"/>
          <p:cNvSpPr txBox="1"/>
          <p:nvPr/>
        </p:nvSpPr>
        <p:spPr>
          <a:xfrm>
            <a:off x="4868339" y="3032249"/>
            <a:ext cx="1297940" cy="1853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rgbClr val="FBF9F1"/>
                </a:solidFill>
                <a:latin typeface="Lato"/>
                <a:ea typeface="Lato"/>
                <a:cs typeface="Lato"/>
                <a:sym typeface="Lato"/>
              </a:rPr>
              <a:t>Your Name</a:t>
            </a:r>
            <a:endParaRPr b="0" i="0" sz="700" u="none" cap="none" strike="noStrike">
              <a:solidFill>
                <a:srgbClr val="000000"/>
              </a:solidFill>
              <a:latin typeface="Arial"/>
              <a:ea typeface="Arial"/>
              <a:cs typeface="Arial"/>
              <a:sym typeface="Arial"/>
            </a:endParaRPr>
          </a:p>
        </p:txBody>
      </p:sp>
      <p:sp>
        <p:nvSpPr>
          <p:cNvPr id="107" name="Google Shape;107;p2"/>
          <p:cNvSpPr txBox="1"/>
          <p:nvPr/>
        </p:nvSpPr>
        <p:spPr>
          <a:xfrm>
            <a:off x="6288276" y="3017659"/>
            <a:ext cx="1297939" cy="1853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rgbClr val="FBF9F1"/>
                </a:solidFill>
                <a:latin typeface="Lato"/>
                <a:ea typeface="Lato"/>
                <a:cs typeface="Lato"/>
                <a:sym typeface="Lato"/>
              </a:rPr>
              <a:t>Your Name</a:t>
            </a:r>
            <a:endParaRPr b="0" i="0" sz="700" u="none" cap="none" strike="noStrike">
              <a:solidFill>
                <a:srgbClr val="000000"/>
              </a:solidFill>
              <a:latin typeface="Arial"/>
              <a:ea typeface="Arial"/>
              <a:cs typeface="Arial"/>
              <a:sym typeface="Arial"/>
            </a:endParaRPr>
          </a:p>
        </p:txBody>
      </p:sp>
      <p:sp>
        <p:nvSpPr>
          <p:cNvPr id="108" name="Google Shape;108;p2"/>
          <p:cNvSpPr txBox="1"/>
          <p:nvPr/>
        </p:nvSpPr>
        <p:spPr>
          <a:xfrm>
            <a:off x="1906837" y="3343977"/>
            <a:ext cx="1433544" cy="1619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00"/>
              <a:buFont typeface="Arial"/>
              <a:buNone/>
            </a:pPr>
            <a:r>
              <a:rPr b="0" i="0" lang="en-GB" sz="1000" u="none" cap="none" strike="noStrike">
                <a:solidFill>
                  <a:srgbClr val="E5E1DA"/>
                </a:solidFill>
                <a:latin typeface="Lato"/>
                <a:ea typeface="Lato"/>
                <a:cs typeface="Lato"/>
                <a:sym typeface="Lato"/>
              </a:rPr>
              <a:t>About You</a:t>
            </a:r>
            <a:endParaRPr b="0" i="0" sz="700" u="none" cap="none" strike="noStrike">
              <a:solidFill>
                <a:srgbClr val="000000"/>
              </a:solidFill>
              <a:latin typeface="Arial"/>
              <a:ea typeface="Arial"/>
              <a:cs typeface="Arial"/>
              <a:sym typeface="Arial"/>
            </a:endParaRPr>
          </a:p>
        </p:txBody>
      </p:sp>
      <p:sp>
        <p:nvSpPr>
          <p:cNvPr id="109" name="Google Shape;109;p2"/>
          <p:cNvSpPr txBox="1"/>
          <p:nvPr/>
        </p:nvSpPr>
        <p:spPr>
          <a:xfrm>
            <a:off x="3395753" y="3343977"/>
            <a:ext cx="1433543" cy="1619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00"/>
              <a:buFont typeface="Arial"/>
              <a:buNone/>
            </a:pPr>
            <a:r>
              <a:rPr b="0" i="0" lang="en-GB" sz="1000" u="none" cap="none" strike="noStrike">
                <a:solidFill>
                  <a:srgbClr val="E5E1DA"/>
                </a:solidFill>
                <a:latin typeface="Lato"/>
                <a:ea typeface="Lato"/>
                <a:cs typeface="Lato"/>
                <a:sym typeface="Lato"/>
              </a:rPr>
              <a:t>About You</a:t>
            </a:r>
            <a:endParaRPr b="0" i="0" sz="700" u="none" cap="none" strike="noStrike">
              <a:solidFill>
                <a:srgbClr val="000000"/>
              </a:solidFill>
              <a:latin typeface="Arial"/>
              <a:ea typeface="Arial"/>
              <a:cs typeface="Arial"/>
              <a:sym typeface="Arial"/>
            </a:endParaRPr>
          </a:p>
        </p:txBody>
      </p:sp>
      <p:sp>
        <p:nvSpPr>
          <p:cNvPr id="110" name="Google Shape;110;p2"/>
          <p:cNvSpPr txBox="1"/>
          <p:nvPr/>
        </p:nvSpPr>
        <p:spPr>
          <a:xfrm>
            <a:off x="4871061" y="3312537"/>
            <a:ext cx="1433543" cy="1619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00"/>
              <a:buFont typeface="Arial"/>
              <a:buNone/>
            </a:pPr>
            <a:r>
              <a:rPr b="0" i="0" lang="en-GB" sz="1000" u="none" cap="none" strike="noStrike">
                <a:solidFill>
                  <a:srgbClr val="E5E1DA"/>
                </a:solidFill>
                <a:latin typeface="Lato"/>
                <a:ea typeface="Lato"/>
                <a:cs typeface="Lato"/>
                <a:sym typeface="Lato"/>
              </a:rPr>
              <a:t>About You</a:t>
            </a:r>
            <a:endParaRPr b="0" i="0" sz="700" u="none" cap="none" strike="noStrike">
              <a:solidFill>
                <a:srgbClr val="000000"/>
              </a:solidFill>
              <a:latin typeface="Arial"/>
              <a:ea typeface="Arial"/>
              <a:cs typeface="Arial"/>
              <a:sym typeface="Arial"/>
            </a:endParaRPr>
          </a:p>
        </p:txBody>
      </p:sp>
      <p:sp>
        <p:nvSpPr>
          <p:cNvPr id="111" name="Google Shape;111;p2"/>
          <p:cNvSpPr txBox="1"/>
          <p:nvPr/>
        </p:nvSpPr>
        <p:spPr>
          <a:xfrm>
            <a:off x="6304604" y="3312536"/>
            <a:ext cx="1433544" cy="16196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00"/>
              <a:buFont typeface="Arial"/>
              <a:buNone/>
            </a:pPr>
            <a:r>
              <a:rPr b="0" i="0" lang="en-GB" sz="1000" u="none" cap="none" strike="noStrike">
                <a:solidFill>
                  <a:srgbClr val="E5E1DA"/>
                </a:solidFill>
                <a:latin typeface="Lato"/>
                <a:ea typeface="Lato"/>
                <a:cs typeface="Lato"/>
                <a:sym typeface="Lato"/>
              </a:rPr>
              <a:t>About You</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5" name="Shape 115"/>
        <p:cNvGrpSpPr/>
        <p:nvPr/>
      </p:nvGrpSpPr>
      <p:grpSpPr>
        <a:xfrm>
          <a:off x="0" y="0"/>
          <a:ext cx="0" cy="0"/>
          <a:chOff x="0" y="0"/>
          <a:chExt cx="0" cy="0"/>
        </a:xfrm>
      </p:grpSpPr>
      <p:grpSp>
        <p:nvGrpSpPr>
          <p:cNvPr id="116" name="Google Shape;116;p3"/>
          <p:cNvGrpSpPr/>
          <p:nvPr/>
        </p:nvGrpSpPr>
        <p:grpSpPr>
          <a:xfrm rot="5400000">
            <a:off x="1652654" y="2365177"/>
            <a:ext cx="4364465" cy="413136"/>
            <a:chOff x="0" y="-38100"/>
            <a:chExt cx="2299023" cy="217623"/>
          </a:xfrm>
        </p:grpSpPr>
        <p:sp>
          <p:nvSpPr>
            <p:cNvPr id="117" name="Google Shape;117;p3"/>
            <p:cNvSpPr/>
            <p:nvPr/>
          </p:nvSpPr>
          <p:spPr>
            <a:xfrm>
              <a:off x="0" y="0"/>
              <a:ext cx="2299023" cy="179523"/>
            </a:xfrm>
            <a:custGeom>
              <a:rect b="b" l="l" r="r" t="t"/>
              <a:pathLst>
                <a:path extrusionOk="0"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cap="rnd" cmpd="sng" w="38100">
              <a:solidFill>
                <a:srgbClr val="E5E1DA"/>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18" name="Google Shape;118;p3"/>
            <p:cNvSpPr txBox="1"/>
            <p:nvPr/>
          </p:nvSpPr>
          <p:spPr>
            <a:xfrm>
              <a:off x="0" y="-38100"/>
              <a:ext cx="2299023" cy="217623"/>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19" name="Google Shape;119;p3"/>
          <p:cNvSpPr/>
          <p:nvPr/>
        </p:nvSpPr>
        <p:spPr>
          <a:xfrm>
            <a:off x="3684419" y="463429"/>
            <a:ext cx="228600" cy="230327"/>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0" name="Google Shape;120;p3"/>
          <p:cNvSpPr/>
          <p:nvPr/>
        </p:nvSpPr>
        <p:spPr>
          <a:xfrm>
            <a:off x="3678719" y="1144239"/>
            <a:ext cx="228600" cy="230327"/>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1" name="Google Shape;121;p3"/>
          <p:cNvSpPr/>
          <p:nvPr/>
        </p:nvSpPr>
        <p:spPr>
          <a:xfrm>
            <a:off x="3692480" y="3857373"/>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2" name="Google Shape;122;p3"/>
          <p:cNvSpPr/>
          <p:nvPr/>
        </p:nvSpPr>
        <p:spPr>
          <a:xfrm rot="10435653">
            <a:off x="592375" y="763456"/>
            <a:ext cx="2818817" cy="2123513"/>
          </a:xfrm>
          <a:custGeom>
            <a:rect b="b" l="l" r="r" t="t"/>
            <a:pathLst>
              <a:path extrusionOk="0" h="8527373" w="7951775">
                <a:moveTo>
                  <a:pt x="0" y="0"/>
                </a:moveTo>
                <a:lnTo>
                  <a:pt x="7951775" y="0"/>
                </a:lnTo>
                <a:lnTo>
                  <a:pt x="7951775" y="8527373"/>
                </a:lnTo>
                <a:lnTo>
                  <a:pt x="0" y="8527373"/>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3" name="Google Shape;123;p3"/>
          <p:cNvSpPr txBox="1"/>
          <p:nvPr/>
        </p:nvSpPr>
        <p:spPr>
          <a:xfrm>
            <a:off x="4149253" y="359866"/>
            <a:ext cx="2599800" cy="20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300"/>
              <a:buFont typeface="Arial"/>
              <a:buNone/>
            </a:pPr>
            <a:r>
              <a:rPr b="1" i="0" lang="en-GB" sz="1300" u="none" cap="none" strike="noStrike">
                <a:solidFill>
                  <a:srgbClr val="FFD944"/>
                </a:solidFill>
                <a:latin typeface="Lato"/>
                <a:ea typeface="Lato"/>
                <a:cs typeface="Lato"/>
                <a:sym typeface="Lato"/>
              </a:rPr>
              <a:t>Problem Statement </a:t>
            </a:r>
            <a:endParaRPr b="0" i="0" sz="700" u="none" cap="none" strike="noStrike">
              <a:solidFill>
                <a:srgbClr val="000000"/>
              </a:solidFill>
              <a:latin typeface="Arial"/>
              <a:ea typeface="Arial"/>
              <a:cs typeface="Arial"/>
              <a:sym typeface="Arial"/>
            </a:endParaRPr>
          </a:p>
        </p:txBody>
      </p:sp>
      <p:sp>
        <p:nvSpPr>
          <p:cNvPr id="124" name="Google Shape;124;p3"/>
          <p:cNvSpPr txBox="1"/>
          <p:nvPr/>
        </p:nvSpPr>
        <p:spPr>
          <a:xfrm>
            <a:off x="4149253" y="559972"/>
            <a:ext cx="37305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Manual medical image analysis causes diagnostic delays</a:t>
            </a:r>
            <a:endParaRPr b="0" i="0" sz="1100" u="none" cap="none" strike="noStrike">
              <a:solidFill>
                <a:srgbClr val="E5E1DA"/>
              </a:solidFill>
              <a:latin typeface="Lato"/>
              <a:ea typeface="Lato"/>
              <a:cs typeface="Lato"/>
              <a:sym typeface="Lato"/>
            </a:endParaRPr>
          </a:p>
        </p:txBody>
      </p:sp>
      <p:sp>
        <p:nvSpPr>
          <p:cNvPr id="125" name="Google Shape;125;p3"/>
          <p:cNvSpPr txBox="1"/>
          <p:nvPr/>
        </p:nvSpPr>
        <p:spPr>
          <a:xfrm>
            <a:off x="264925" y="3029585"/>
            <a:ext cx="2926500" cy="969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000"/>
              <a:buFont typeface="Arial"/>
              <a:buNone/>
            </a:pPr>
            <a:r>
              <a:rPr b="1" i="0" lang="en-GB" sz="3000" u="none" cap="none" strike="noStrike">
                <a:solidFill>
                  <a:srgbClr val="FBF9F1"/>
                </a:solidFill>
                <a:latin typeface="Poppins"/>
                <a:ea typeface="Poppins"/>
                <a:cs typeface="Poppins"/>
                <a:sym typeface="Poppins"/>
              </a:rPr>
              <a:t>PROBLEM STATEMENT </a:t>
            </a:r>
            <a:endParaRPr b="0" i="0" sz="700" u="none" cap="none" strike="noStrike">
              <a:solidFill>
                <a:srgbClr val="000000"/>
              </a:solidFill>
              <a:latin typeface="Arial"/>
              <a:ea typeface="Arial"/>
              <a:cs typeface="Arial"/>
              <a:sym typeface="Arial"/>
            </a:endParaRPr>
          </a:p>
        </p:txBody>
      </p:sp>
      <p:sp>
        <p:nvSpPr>
          <p:cNvPr id="126" name="Google Shape;126;p3"/>
          <p:cNvSpPr txBox="1"/>
          <p:nvPr/>
        </p:nvSpPr>
        <p:spPr>
          <a:xfrm>
            <a:off x="4149253" y="751576"/>
            <a:ext cx="3150000" cy="20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300"/>
              <a:buFont typeface="Arial"/>
              <a:buNone/>
            </a:pPr>
            <a:r>
              <a:rPr b="1" i="0" lang="en-GB" sz="1300" u="none" cap="none" strike="noStrike">
                <a:solidFill>
                  <a:srgbClr val="FFD944"/>
                </a:solidFill>
                <a:latin typeface="Lato"/>
                <a:ea typeface="Lato"/>
                <a:cs typeface="Lato"/>
                <a:sym typeface="Lato"/>
              </a:rPr>
              <a:t>Problem Statement Expansion</a:t>
            </a:r>
            <a:endParaRPr b="0" i="0" sz="700" u="none" cap="none" strike="noStrike">
              <a:solidFill>
                <a:srgbClr val="000000"/>
              </a:solidFill>
              <a:latin typeface="Arial"/>
              <a:ea typeface="Arial"/>
              <a:cs typeface="Arial"/>
              <a:sym typeface="Arial"/>
            </a:endParaRPr>
          </a:p>
        </p:txBody>
      </p:sp>
      <p:sp>
        <p:nvSpPr>
          <p:cNvPr id="127" name="Google Shape;127;p3"/>
          <p:cNvSpPr txBox="1"/>
          <p:nvPr/>
        </p:nvSpPr>
        <p:spPr>
          <a:xfrm>
            <a:off x="4149253" y="1006660"/>
            <a:ext cx="41496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Manual medical image analysis creates significant diagnostic bottlenecks, leading to delayed treatments and increased clinician burnout. By the start of 2026, healthcare providers are increasingly adopting AI to automate anomaly detection, ensuring faster, more accurate results that improve patient survival rates and efficiency</a:t>
            </a:r>
            <a:endParaRPr b="0" i="0" sz="1100" u="none" cap="none" strike="noStrike">
              <a:solidFill>
                <a:srgbClr val="E5E1DA"/>
              </a:solidFill>
              <a:latin typeface="Lato"/>
              <a:ea typeface="Lato"/>
              <a:cs typeface="Lato"/>
              <a:sym typeface="Lato"/>
            </a:endParaRPr>
          </a:p>
        </p:txBody>
      </p:sp>
      <p:sp>
        <p:nvSpPr>
          <p:cNvPr id="128" name="Google Shape;128;p3"/>
          <p:cNvSpPr txBox="1"/>
          <p:nvPr/>
        </p:nvSpPr>
        <p:spPr>
          <a:xfrm>
            <a:off x="4149253" y="3609152"/>
            <a:ext cx="3483000" cy="20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300"/>
              <a:buFont typeface="Arial"/>
              <a:buNone/>
            </a:pPr>
            <a:r>
              <a:rPr b="1" i="0" lang="en-GB" sz="1300" u="none" cap="none" strike="noStrike">
                <a:solidFill>
                  <a:srgbClr val="FFD944"/>
                </a:solidFill>
                <a:latin typeface="Lato"/>
                <a:ea typeface="Lato"/>
                <a:cs typeface="Lato"/>
                <a:sym typeface="Lato"/>
              </a:rPr>
              <a:t>How it impacts the user or client</a:t>
            </a:r>
            <a:endParaRPr b="1" i="0" sz="1300" u="none" cap="none" strike="noStrike">
              <a:solidFill>
                <a:srgbClr val="FFD944"/>
              </a:solidFill>
              <a:latin typeface="Lato"/>
              <a:ea typeface="Lato"/>
              <a:cs typeface="Lato"/>
              <a:sym typeface="Lato"/>
            </a:endParaRPr>
          </a:p>
        </p:txBody>
      </p:sp>
      <p:sp>
        <p:nvSpPr>
          <p:cNvPr id="129" name="Google Shape;129;p3"/>
          <p:cNvSpPr txBox="1"/>
          <p:nvPr/>
        </p:nvSpPr>
        <p:spPr>
          <a:xfrm>
            <a:off x="4149253" y="3869754"/>
            <a:ext cx="41199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In</a:t>
            </a:r>
            <a:r>
              <a:rPr b="0" i="0" lang="en-GB" sz="900" u="none" cap="none" strike="noStrike">
                <a:solidFill>
                  <a:schemeClr val="dk1"/>
                </a:solidFill>
                <a:latin typeface="Calibri"/>
                <a:ea typeface="Calibri"/>
                <a:cs typeface="Calibri"/>
                <a:sym typeface="Calibri"/>
              </a:rPr>
              <a:t> </a:t>
            </a:r>
            <a:r>
              <a:rPr b="0" i="0" lang="en-GB" sz="1100" u="none" cap="none" strike="noStrike">
                <a:solidFill>
                  <a:srgbClr val="E5E1DA"/>
                </a:solidFill>
                <a:latin typeface="Lato"/>
                <a:ea typeface="Lato"/>
                <a:cs typeface="Lato"/>
                <a:sym typeface="Lato"/>
              </a:rPr>
              <a:t>2026, diagnostic delays cause irreversible health decline and massive financial loss for patients. For clinicians, the resulting workload triggers 80%+ burnout rates and fatigue-driven errors, compromising safety and forcing healthcare systems into a reactive, high-cost cycle of crisis management.</a:t>
            </a:r>
            <a:endParaRPr b="0" i="0" sz="1100" u="none" cap="none" strike="noStrike">
              <a:solidFill>
                <a:srgbClr val="E5E1DA"/>
              </a:solidFill>
              <a:latin typeface="Lato"/>
              <a:ea typeface="Lato"/>
              <a:cs typeface="Lato"/>
              <a:sym typeface="Lato"/>
            </a:endParaRPr>
          </a:p>
        </p:txBody>
      </p:sp>
      <p:sp>
        <p:nvSpPr>
          <p:cNvPr id="130" name="Google Shape;130;p3"/>
          <p:cNvSpPr/>
          <p:nvPr/>
        </p:nvSpPr>
        <p:spPr>
          <a:xfrm>
            <a:off x="3687928" y="2558388"/>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31" name="Google Shape;131;p3"/>
          <p:cNvSpPr txBox="1"/>
          <p:nvPr/>
        </p:nvSpPr>
        <p:spPr>
          <a:xfrm>
            <a:off x="4179178" y="2191100"/>
            <a:ext cx="3597300" cy="20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300"/>
              <a:buFont typeface="Arial"/>
              <a:buNone/>
            </a:pPr>
            <a:r>
              <a:rPr b="1" i="0" lang="en-GB" sz="1300" u="none" cap="none" strike="noStrike">
                <a:solidFill>
                  <a:srgbClr val="FFD944"/>
                </a:solidFill>
                <a:latin typeface="Lato"/>
                <a:ea typeface="Lato"/>
                <a:cs typeface="Lato"/>
                <a:sym typeface="Lato"/>
              </a:rPr>
              <a:t>How it manifests for the user or client</a:t>
            </a:r>
            <a:endParaRPr b="1" i="0" sz="1300" u="none" cap="none" strike="noStrike">
              <a:solidFill>
                <a:srgbClr val="FFD944"/>
              </a:solidFill>
              <a:latin typeface="Lato"/>
              <a:ea typeface="Lato"/>
              <a:cs typeface="Lato"/>
              <a:sym typeface="Lato"/>
            </a:endParaRPr>
          </a:p>
        </p:txBody>
      </p:sp>
      <p:sp>
        <p:nvSpPr>
          <p:cNvPr id="132" name="Google Shape;132;p3"/>
          <p:cNvSpPr txBox="1"/>
          <p:nvPr/>
        </p:nvSpPr>
        <p:spPr>
          <a:xfrm>
            <a:off x="4149243" y="2424709"/>
            <a:ext cx="41496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Manual medical image analysis creates significant diagnostic bottlenecks, leading to delayed treatments and increased clinician burnout. By the start of 2026, healthcare providers are increasingly adopting AI to automate anomaly detection, ensuring faster, more accurate results that improve patient survival rates and efficiency</a:t>
            </a:r>
            <a:endParaRPr b="0" i="0" sz="1100" u="none" cap="none" strike="noStrike">
              <a:solidFill>
                <a:srgbClr val="E5E1DA"/>
              </a:solidFill>
              <a:latin typeface="Lato"/>
              <a:ea typeface="Lato"/>
              <a:cs typeface="Lato"/>
              <a:sym typeface="Lato"/>
            </a:endParaRPr>
          </a:p>
        </p:txBody>
      </p:sp>
      <p:sp>
        <p:nvSpPr>
          <p:cNvPr id="133" name="Google Shape;133;p3"/>
          <p:cNvSpPr txBox="1"/>
          <p:nvPr/>
        </p:nvSpPr>
        <p:spPr>
          <a:xfrm>
            <a:off x="264924" y="4084950"/>
            <a:ext cx="3255600" cy="87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1" i="1" lang="en-GB" sz="1500" u="none" cap="none" strike="noStrike">
                <a:solidFill>
                  <a:srgbClr val="F9CB9C"/>
                </a:solidFill>
                <a:latin typeface="Lato"/>
                <a:ea typeface="Lato"/>
                <a:cs typeface="Lato"/>
                <a:sym typeface="Lato"/>
              </a:rPr>
              <a:t>Note: This is just a sample for your understanding. Change it as per your details. Don’t change the header.</a:t>
            </a:r>
            <a:endParaRPr b="1" i="1" sz="1500" u="none" cap="none" strike="noStrike">
              <a:solidFill>
                <a:srgbClr val="F9CB9C"/>
              </a:solidFill>
              <a:latin typeface="Lato"/>
              <a:ea typeface="Lato"/>
              <a:cs typeface="Lato"/>
              <a:sym typeface="Lato"/>
            </a:endParaRPr>
          </a:p>
        </p:txBody>
      </p:sp>
      <p:sp>
        <p:nvSpPr>
          <p:cNvPr id="134" name="Google Shape;134;p3"/>
          <p:cNvSpPr txBox="1"/>
          <p:nvPr/>
        </p:nvSpPr>
        <p:spPr>
          <a:xfrm rot="-1716536">
            <a:off x="3001675" y="2224807"/>
            <a:ext cx="6263410" cy="430943"/>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your project details</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sp>
        <p:nvSpPr>
          <p:cNvPr id="139" name="Google Shape;139;p4"/>
          <p:cNvSpPr/>
          <p:nvPr/>
        </p:nvSpPr>
        <p:spPr>
          <a:xfrm>
            <a:off x="5765413" y="575"/>
            <a:ext cx="3451296" cy="5142356"/>
          </a:xfrm>
          <a:custGeom>
            <a:rect b="b" l="l" r="r" t="t"/>
            <a:pathLst>
              <a:path extrusionOk="0" h="1415652" w="950116">
                <a:moveTo>
                  <a:pt x="0" y="0"/>
                </a:moveTo>
                <a:lnTo>
                  <a:pt x="950116" y="0"/>
                </a:lnTo>
                <a:lnTo>
                  <a:pt x="950116" y="1415652"/>
                </a:lnTo>
                <a:lnTo>
                  <a:pt x="0" y="1415652"/>
                </a:lnTo>
                <a:close/>
              </a:path>
            </a:pathLst>
          </a:custGeom>
          <a:blipFill rotWithShape="1">
            <a:blip r:embed="rId3">
              <a:alphaModFix/>
            </a:blip>
            <a:stretch>
              <a:fillRect b="0" l="0" r="-8448" t="-9238"/>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40" name="Google Shape;140;p4"/>
          <p:cNvGrpSpPr/>
          <p:nvPr/>
        </p:nvGrpSpPr>
        <p:grpSpPr>
          <a:xfrm>
            <a:off x="713750" y="1146150"/>
            <a:ext cx="6089128" cy="3663836"/>
            <a:chOff x="0" y="-38100"/>
            <a:chExt cx="3312549" cy="2181244"/>
          </a:xfrm>
        </p:grpSpPr>
        <p:sp>
          <p:nvSpPr>
            <p:cNvPr id="141" name="Google Shape;141;p4"/>
            <p:cNvSpPr/>
            <p:nvPr/>
          </p:nvSpPr>
          <p:spPr>
            <a:xfrm>
              <a:off x="0" y="0"/>
              <a:ext cx="3312549" cy="2143144"/>
            </a:xfrm>
            <a:custGeom>
              <a:rect b="b" l="l" r="r" t="t"/>
              <a:pathLst>
                <a:path extrusionOk="0"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cap="sq" cmpd="sng" w="36900">
              <a:solidFill>
                <a:srgbClr val="E5E1DA"/>
              </a:solidFill>
              <a:prstDash val="solid"/>
              <a:miter lim="8000"/>
              <a:headEnd len="sm" w="sm" type="none"/>
              <a:tailEnd len="sm" w="sm" type="none"/>
            </a:ln>
          </p:spPr>
          <p:txBody>
            <a:bodyPr anchorCtr="0" anchor="t" bIns="22125" lIns="44275" spcFirstLastPara="1" rIns="44275" wrap="square" tIns="22125">
              <a:noAutofit/>
            </a:bodyPr>
            <a:lstStyle/>
            <a:p>
              <a:pPr indent="0" lvl="0" marL="0" marR="0" rtl="0" algn="l">
                <a:lnSpc>
                  <a:spcPct val="100000"/>
                </a:lnSpc>
                <a:spcBef>
                  <a:spcPts val="0"/>
                </a:spcBef>
                <a:spcAft>
                  <a:spcPts val="0"/>
                </a:spcAft>
                <a:buClr>
                  <a:srgbClr val="000000"/>
                </a:buClr>
                <a:buSzPts val="871"/>
                <a:buFont typeface="Arial"/>
                <a:buNone/>
              </a:pPr>
              <a:r>
                <a:t/>
              </a:r>
              <a:endParaRPr b="0" i="0" sz="871" u="none" cap="none" strike="noStrike">
                <a:solidFill>
                  <a:schemeClr val="dk1"/>
                </a:solidFill>
                <a:latin typeface="Calibri"/>
                <a:ea typeface="Calibri"/>
                <a:cs typeface="Calibri"/>
                <a:sym typeface="Calibri"/>
              </a:endParaRPr>
            </a:p>
          </p:txBody>
        </p:sp>
        <p:sp>
          <p:nvSpPr>
            <p:cNvPr id="142" name="Google Shape;142;p4"/>
            <p:cNvSpPr txBox="1"/>
            <p:nvPr/>
          </p:nvSpPr>
          <p:spPr>
            <a:xfrm>
              <a:off x="0" y="-38100"/>
              <a:ext cx="3312548" cy="2181244"/>
            </a:xfrm>
            <a:prstGeom prst="rect">
              <a:avLst/>
            </a:prstGeom>
            <a:noFill/>
            <a:ln>
              <a:noFill/>
            </a:ln>
          </p:spPr>
          <p:txBody>
            <a:bodyPr anchorCtr="0" anchor="ctr" bIns="24600" lIns="24600" spcFirstLastPara="1" rIns="24600" wrap="square" tIns="24600">
              <a:noAutofit/>
            </a:bodyPr>
            <a:lstStyle/>
            <a:p>
              <a:pPr indent="0" lvl="0" marL="0" marR="0" rtl="0" algn="ctr">
                <a:lnSpc>
                  <a:spcPct val="147722"/>
                </a:lnSpc>
                <a:spcBef>
                  <a:spcPts val="0"/>
                </a:spcBef>
                <a:spcAft>
                  <a:spcPts val="0"/>
                </a:spcAft>
                <a:buClr>
                  <a:srgbClr val="000000"/>
                </a:buClr>
                <a:buSzPts val="871"/>
                <a:buFont typeface="Arial"/>
                <a:buNone/>
              </a:pPr>
              <a:r>
                <a:t/>
              </a:r>
              <a:endParaRPr b="0" i="0" sz="871" u="none" cap="none" strike="noStrike">
                <a:solidFill>
                  <a:schemeClr val="dk1"/>
                </a:solidFill>
                <a:latin typeface="Calibri"/>
                <a:ea typeface="Calibri"/>
                <a:cs typeface="Calibri"/>
                <a:sym typeface="Calibri"/>
              </a:endParaRPr>
            </a:p>
          </p:txBody>
        </p:sp>
      </p:grpSp>
      <p:sp>
        <p:nvSpPr>
          <p:cNvPr id="143" name="Google Shape;143;p4"/>
          <p:cNvSpPr/>
          <p:nvPr/>
        </p:nvSpPr>
        <p:spPr>
          <a:xfrm>
            <a:off x="5106316" y="189145"/>
            <a:ext cx="325205" cy="325205"/>
          </a:xfrm>
          <a:custGeom>
            <a:rect b="b" l="l" r="r" t="t"/>
            <a:pathLst>
              <a:path extrusionOk="0" h="650410" w="650410">
                <a:moveTo>
                  <a:pt x="0" y="0"/>
                </a:moveTo>
                <a:lnTo>
                  <a:pt x="650410" y="0"/>
                </a:lnTo>
                <a:lnTo>
                  <a:pt x="650410" y="650410"/>
                </a:lnTo>
                <a:lnTo>
                  <a:pt x="0" y="650410"/>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44" name="Google Shape;144;p4"/>
          <p:cNvSpPr txBox="1"/>
          <p:nvPr/>
        </p:nvSpPr>
        <p:spPr>
          <a:xfrm>
            <a:off x="1169511" y="2141615"/>
            <a:ext cx="42621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Describe your project (Try to keep under 100  words)</a:t>
            </a:r>
            <a:endParaRPr b="0" i="0" sz="700" u="none" cap="none" strike="noStrike">
              <a:solidFill>
                <a:srgbClr val="000000"/>
              </a:solidFill>
              <a:latin typeface="Arial"/>
              <a:ea typeface="Arial"/>
              <a:cs typeface="Arial"/>
              <a:sym typeface="Arial"/>
            </a:endParaRPr>
          </a:p>
        </p:txBody>
      </p:sp>
      <p:sp>
        <p:nvSpPr>
          <p:cNvPr id="145" name="Google Shape;145;p4"/>
          <p:cNvSpPr txBox="1"/>
          <p:nvPr/>
        </p:nvSpPr>
        <p:spPr>
          <a:xfrm>
            <a:off x="1169511" y="1216129"/>
            <a:ext cx="45960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GB" sz="3300" u="none" cap="none" strike="noStrike">
                <a:solidFill>
                  <a:srgbClr val="FBF9F1"/>
                </a:solidFill>
                <a:latin typeface="Poppins"/>
                <a:ea typeface="Poppins"/>
                <a:cs typeface="Poppins"/>
                <a:sym typeface="Poppins"/>
              </a:rPr>
              <a:t>Project Details</a:t>
            </a:r>
            <a:endParaRPr b="0" i="0" sz="700" u="none" cap="none" strike="noStrike">
              <a:solidFill>
                <a:srgbClr val="000000"/>
              </a:solidFill>
              <a:latin typeface="Arial"/>
              <a:ea typeface="Arial"/>
              <a:cs typeface="Arial"/>
              <a:sym typeface="Arial"/>
            </a:endParaRPr>
          </a:p>
        </p:txBody>
      </p:sp>
      <p:sp>
        <p:nvSpPr>
          <p:cNvPr id="146" name="Google Shape;146;p4"/>
          <p:cNvSpPr txBox="1"/>
          <p:nvPr/>
        </p:nvSpPr>
        <p:spPr>
          <a:xfrm>
            <a:off x="1169498" y="1784450"/>
            <a:ext cx="3726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GB" sz="1400" u="none" cap="none" strike="noStrike">
                <a:solidFill>
                  <a:srgbClr val="E5E1DA"/>
                </a:solidFill>
                <a:latin typeface="Lato"/>
                <a:ea typeface="Lato"/>
                <a:cs typeface="Lato"/>
                <a:sym typeface="Lato"/>
              </a:rPr>
              <a:t>Project Name (Try to keep it under 5 words)</a:t>
            </a:r>
            <a:endParaRPr b="0" i="0" sz="1000" u="none" cap="none" strike="noStrike">
              <a:solidFill>
                <a:srgbClr val="000000"/>
              </a:solidFill>
              <a:latin typeface="Arial"/>
              <a:ea typeface="Arial"/>
              <a:cs typeface="Arial"/>
              <a:sym typeface="Arial"/>
            </a:endParaRPr>
          </a:p>
        </p:txBody>
      </p:sp>
      <p:sp>
        <p:nvSpPr>
          <p:cNvPr id="147" name="Google Shape;147;p4"/>
          <p:cNvSpPr txBox="1"/>
          <p:nvPr/>
        </p:nvSpPr>
        <p:spPr>
          <a:xfrm>
            <a:off x="1169511" y="2498792"/>
            <a:ext cx="21072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n-GB" sz="1100" u="none" cap="none" strike="noStrike">
                <a:solidFill>
                  <a:srgbClr val="E5E1DA"/>
                </a:solidFill>
                <a:latin typeface="Lato"/>
                <a:ea typeface="Lato"/>
                <a:cs typeface="Lato"/>
                <a:sym typeface="Lato"/>
              </a:rPr>
              <a:t>Demographic it Impacts</a:t>
            </a:r>
            <a:endParaRPr b="0" i="0" sz="700" u="none" cap="none" strike="noStrike">
              <a:solidFill>
                <a:srgbClr val="000000"/>
              </a:solidFill>
              <a:latin typeface="Arial"/>
              <a:ea typeface="Arial"/>
              <a:cs typeface="Arial"/>
              <a:sym typeface="Arial"/>
            </a:endParaRPr>
          </a:p>
        </p:txBody>
      </p:sp>
      <p:pic>
        <p:nvPicPr>
          <p:cNvPr id="148" name="Google Shape;148;p4" title="AI4India Logo.jpg"/>
          <p:cNvPicPr preferRelativeResize="0"/>
          <p:nvPr/>
        </p:nvPicPr>
        <p:blipFill rotWithShape="1">
          <a:blip r:embed="rId5">
            <a:alphaModFix/>
          </a:blip>
          <a:srcRect b="0" l="0" r="0" t="0"/>
          <a:stretch/>
        </p:blipFill>
        <p:spPr>
          <a:xfrm>
            <a:off x="8065624" y="267450"/>
            <a:ext cx="941724" cy="367825"/>
          </a:xfrm>
          <a:prstGeom prst="rect">
            <a:avLst/>
          </a:prstGeom>
          <a:noFill/>
          <a:ln>
            <a:noFill/>
          </a:ln>
        </p:spPr>
      </p:pic>
      <p:pic>
        <p:nvPicPr>
          <p:cNvPr id="149" name="Google Shape;149;p4" title="hopeworks logo.png"/>
          <p:cNvPicPr preferRelativeResize="0"/>
          <p:nvPr/>
        </p:nvPicPr>
        <p:blipFill rotWithShape="1">
          <a:blip r:embed="rId6">
            <a:alphaModFix/>
          </a:blip>
          <a:srcRect b="0" l="0" r="0" t="0"/>
          <a:stretch/>
        </p:blipFill>
        <p:spPr>
          <a:xfrm>
            <a:off x="7555296" y="203475"/>
            <a:ext cx="432575" cy="431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g3bceea31623_0_0"/>
          <p:cNvSpPr/>
          <p:nvPr/>
        </p:nvSpPr>
        <p:spPr>
          <a:xfrm>
            <a:off x="5765413" y="575"/>
            <a:ext cx="3451296" cy="5142356"/>
          </a:xfrm>
          <a:custGeom>
            <a:rect b="b" l="l" r="r" t="t"/>
            <a:pathLst>
              <a:path extrusionOk="0" h="1415652" w="950116">
                <a:moveTo>
                  <a:pt x="0" y="0"/>
                </a:moveTo>
                <a:lnTo>
                  <a:pt x="950116" y="0"/>
                </a:lnTo>
                <a:lnTo>
                  <a:pt x="950116" y="1415652"/>
                </a:lnTo>
                <a:lnTo>
                  <a:pt x="0" y="1415652"/>
                </a:lnTo>
                <a:close/>
              </a:path>
            </a:pathLst>
          </a:custGeom>
          <a:blipFill rotWithShape="1">
            <a:blip r:embed="rId3">
              <a:alphaModFix/>
            </a:blip>
            <a:stretch>
              <a:fillRect b="0" l="0" r="-8449" t="-9239"/>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55" name="Google Shape;155;g3bceea31623_0_0"/>
          <p:cNvSpPr/>
          <p:nvPr/>
        </p:nvSpPr>
        <p:spPr>
          <a:xfrm>
            <a:off x="384075" y="1104650"/>
            <a:ext cx="5382892" cy="3600482"/>
          </a:xfrm>
          <a:custGeom>
            <a:rect b="b" l="l" r="r" t="t"/>
            <a:pathLst>
              <a:path extrusionOk="0"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chemeClr val="dk1"/>
          </a:solidFill>
          <a:ln cap="sq" cmpd="sng" w="36900">
            <a:solidFill>
              <a:srgbClr val="F2F2F2"/>
            </a:solidFill>
            <a:prstDash val="solid"/>
            <a:miter lim="8000"/>
            <a:headEnd len="sm" w="sm" type="none"/>
            <a:tailEnd len="sm" w="sm" type="none"/>
          </a:ln>
        </p:spPr>
        <p:txBody>
          <a:bodyPr anchorCtr="0" anchor="t" bIns="22125" lIns="44275" spcFirstLastPara="1" rIns="44275" wrap="square" tIns="22125">
            <a:noAutofit/>
          </a:bodyPr>
          <a:lstStyle/>
          <a:p>
            <a:pPr indent="-328358" lvl="0" marL="457200" rtl="0" algn="l">
              <a:lnSpc>
                <a:spcPct val="138000"/>
              </a:lnSpc>
              <a:spcBef>
                <a:spcPts val="0"/>
              </a:spcBef>
              <a:spcAft>
                <a:spcPts val="0"/>
              </a:spcAft>
              <a:buClr>
                <a:schemeClr val="lt1"/>
              </a:buClr>
              <a:buSzPts val="1571"/>
              <a:buFont typeface="Calibri"/>
              <a:buAutoNum type="arabicPeriod"/>
            </a:pPr>
            <a:r>
              <a:rPr lang="en-GB" sz="1571">
                <a:solidFill>
                  <a:schemeClr val="lt1"/>
                </a:solidFill>
                <a:latin typeface="Calibri"/>
                <a:ea typeface="Calibri"/>
                <a:cs typeface="Calibri"/>
                <a:sym typeface="Calibri"/>
              </a:rPr>
              <a:t>Build for “real humans, not hypothetical users”</a:t>
            </a:r>
            <a:endParaRPr sz="1571">
              <a:solidFill>
                <a:schemeClr val="lt1"/>
              </a:solidFill>
              <a:latin typeface="Calibri"/>
              <a:ea typeface="Calibri"/>
              <a:cs typeface="Calibri"/>
              <a:sym typeface="Calibri"/>
            </a:endParaRPr>
          </a:p>
          <a:p>
            <a:pPr indent="-328358" lvl="0" marL="457200" rtl="0" algn="l">
              <a:lnSpc>
                <a:spcPct val="138000"/>
              </a:lnSpc>
              <a:spcBef>
                <a:spcPts val="0"/>
              </a:spcBef>
              <a:spcAft>
                <a:spcPts val="0"/>
              </a:spcAft>
              <a:buClr>
                <a:schemeClr val="lt1"/>
              </a:buClr>
              <a:buSzPts val="1571"/>
              <a:buFont typeface="Calibri"/>
              <a:buAutoNum type="arabicPeriod"/>
            </a:pPr>
            <a:r>
              <a:rPr lang="en-GB" sz="1571">
                <a:solidFill>
                  <a:schemeClr val="lt1"/>
                </a:solidFill>
                <a:latin typeface="Calibri"/>
                <a:ea typeface="Calibri"/>
                <a:cs typeface="Calibri"/>
                <a:sym typeface="Calibri"/>
              </a:rPr>
              <a:t>Start with people who face “real friction in everyday life”</a:t>
            </a:r>
            <a:endParaRPr sz="1571">
              <a:solidFill>
                <a:schemeClr val="lt1"/>
              </a:solidFill>
              <a:latin typeface="Calibri"/>
              <a:ea typeface="Calibri"/>
              <a:cs typeface="Calibri"/>
              <a:sym typeface="Calibri"/>
            </a:endParaRPr>
          </a:p>
          <a:p>
            <a:pPr indent="-328358" lvl="0" marL="457200" rtl="0" algn="l">
              <a:lnSpc>
                <a:spcPct val="138000"/>
              </a:lnSpc>
              <a:spcBef>
                <a:spcPts val="0"/>
              </a:spcBef>
              <a:spcAft>
                <a:spcPts val="0"/>
              </a:spcAft>
              <a:buClr>
                <a:schemeClr val="lt1"/>
              </a:buClr>
              <a:buSzPts val="1571"/>
              <a:buFont typeface="Calibri"/>
              <a:buAutoNum type="arabicPeriod"/>
            </a:pPr>
            <a:r>
              <a:rPr lang="en-GB" sz="1571">
                <a:solidFill>
                  <a:schemeClr val="lt1"/>
                </a:solidFill>
                <a:latin typeface="Calibri"/>
                <a:ea typeface="Calibri"/>
                <a:cs typeface="Calibri"/>
                <a:sym typeface="Calibri"/>
              </a:rPr>
              <a:t>Think beyond comfort and convenience — focus on “need and necessity”</a:t>
            </a:r>
            <a:endParaRPr sz="1571">
              <a:solidFill>
                <a:schemeClr val="lt1"/>
              </a:solidFill>
              <a:latin typeface="Calibri"/>
              <a:ea typeface="Calibri"/>
              <a:cs typeface="Calibri"/>
              <a:sym typeface="Calibri"/>
            </a:endParaRPr>
          </a:p>
          <a:p>
            <a:pPr indent="-328358" lvl="0" marL="457200" rtl="0" algn="l">
              <a:lnSpc>
                <a:spcPct val="138000"/>
              </a:lnSpc>
              <a:spcBef>
                <a:spcPts val="0"/>
              </a:spcBef>
              <a:spcAft>
                <a:spcPts val="0"/>
              </a:spcAft>
              <a:buClr>
                <a:schemeClr val="lt1"/>
              </a:buClr>
              <a:buSzPts val="1571"/>
              <a:buFont typeface="Calibri"/>
              <a:buAutoNum type="arabicPeriod"/>
            </a:pPr>
            <a:r>
              <a:rPr lang="en-GB" sz="1571">
                <a:solidFill>
                  <a:schemeClr val="lt1"/>
                </a:solidFill>
                <a:latin typeface="Calibri"/>
                <a:ea typeface="Calibri"/>
                <a:cs typeface="Calibri"/>
                <a:sym typeface="Calibri"/>
              </a:rPr>
              <a:t>Assume “constraints”, not perfect conditions</a:t>
            </a:r>
            <a:endParaRPr sz="1571">
              <a:solidFill>
                <a:schemeClr val="lt1"/>
              </a:solidFill>
              <a:latin typeface="Calibri"/>
              <a:ea typeface="Calibri"/>
              <a:cs typeface="Calibri"/>
              <a:sym typeface="Calibri"/>
            </a:endParaRPr>
          </a:p>
          <a:p>
            <a:pPr indent="-328358" lvl="0" marL="457200" rtl="0" algn="l">
              <a:lnSpc>
                <a:spcPct val="138000"/>
              </a:lnSpc>
              <a:spcBef>
                <a:spcPts val="0"/>
              </a:spcBef>
              <a:spcAft>
                <a:spcPts val="0"/>
              </a:spcAft>
              <a:buClr>
                <a:schemeClr val="lt1"/>
              </a:buClr>
              <a:buSzPts val="1571"/>
              <a:buFont typeface="Calibri"/>
              <a:buAutoNum type="arabicPeriod"/>
            </a:pPr>
            <a:r>
              <a:rPr lang="en-GB" sz="1571">
                <a:solidFill>
                  <a:schemeClr val="lt1"/>
                </a:solidFill>
                <a:latin typeface="Calibri"/>
                <a:ea typeface="Calibri"/>
                <a:cs typeface="Calibri"/>
                <a:sym typeface="Calibri"/>
              </a:rPr>
              <a:t>Design for “simplicity, empathy, and dignity”</a:t>
            </a:r>
            <a:endParaRPr sz="1571">
              <a:solidFill>
                <a:schemeClr val="lt1"/>
              </a:solidFill>
              <a:latin typeface="Calibri"/>
              <a:ea typeface="Calibri"/>
              <a:cs typeface="Calibri"/>
              <a:sym typeface="Calibri"/>
            </a:endParaRPr>
          </a:p>
          <a:p>
            <a:pPr indent="-315658" lvl="0" marL="457200" rtl="0" algn="l">
              <a:lnSpc>
                <a:spcPct val="138000"/>
              </a:lnSpc>
              <a:spcBef>
                <a:spcPts val="0"/>
              </a:spcBef>
              <a:spcAft>
                <a:spcPts val="0"/>
              </a:spcAft>
              <a:buClr>
                <a:schemeClr val="lt1"/>
              </a:buClr>
              <a:buSzPts val="1371"/>
              <a:buFont typeface="Calibri"/>
              <a:buAutoNum type="arabicPeriod"/>
            </a:pPr>
            <a:r>
              <a:rPr lang="en-GB" sz="1571">
                <a:solidFill>
                  <a:schemeClr val="lt1"/>
                </a:solidFill>
                <a:latin typeface="Calibri"/>
                <a:ea typeface="Calibri"/>
                <a:cs typeface="Calibri"/>
                <a:sym typeface="Calibri"/>
              </a:rPr>
              <a:t>Aim for solutions that “actually change someone’s day-to-day reality”</a:t>
            </a:r>
            <a:r>
              <a:rPr lang="en-GB" sz="1371">
                <a:solidFill>
                  <a:schemeClr val="dk1"/>
                </a:solidFill>
                <a:latin typeface="Calibri"/>
                <a:ea typeface="Calibri"/>
                <a:cs typeface="Calibri"/>
                <a:sym typeface="Calibri"/>
              </a:rPr>
              <a:t>*</a:t>
            </a:r>
            <a:endParaRPr sz="1371">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71"/>
              <a:buFont typeface="Arial"/>
              <a:buNone/>
            </a:pPr>
            <a:r>
              <a:t/>
            </a:r>
            <a:endParaRPr sz="871">
              <a:solidFill>
                <a:schemeClr val="dk1"/>
              </a:solidFill>
              <a:latin typeface="Calibri"/>
              <a:ea typeface="Calibri"/>
              <a:cs typeface="Calibri"/>
              <a:sym typeface="Calibri"/>
            </a:endParaRPr>
          </a:p>
        </p:txBody>
      </p:sp>
      <p:sp>
        <p:nvSpPr>
          <p:cNvPr id="156" name="Google Shape;156;g3bceea31623_0_0"/>
          <p:cNvSpPr/>
          <p:nvPr/>
        </p:nvSpPr>
        <p:spPr>
          <a:xfrm>
            <a:off x="5106316" y="189145"/>
            <a:ext cx="325205" cy="325205"/>
          </a:xfrm>
          <a:custGeom>
            <a:rect b="b" l="l" r="r" t="t"/>
            <a:pathLst>
              <a:path extrusionOk="0" h="650410" w="650410">
                <a:moveTo>
                  <a:pt x="0" y="0"/>
                </a:moveTo>
                <a:lnTo>
                  <a:pt x="650410" y="0"/>
                </a:lnTo>
                <a:lnTo>
                  <a:pt x="650410" y="650410"/>
                </a:lnTo>
                <a:lnTo>
                  <a:pt x="0" y="650410"/>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57" name="Google Shape;157;g3bceea31623_0_0"/>
          <p:cNvSpPr txBox="1"/>
          <p:nvPr/>
        </p:nvSpPr>
        <p:spPr>
          <a:xfrm>
            <a:off x="952287" y="332475"/>
            <a:ext cx="4952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en-GB" sz="3300">
                <a:solidFill>
                  <a:srgbClr val="FBF9F1"/>
                </a:solidFill>
                <a:latin typeface="Poppins"/>
                <a:ea typeface="Poppins"/>
                <a:cs typeface="Poppins"/>
                <a:sym typeface="Poppins"/>
              </a:rPr>
              <a:t>User Persona Mindset</a:t>
            </a:r>
            <a:endParaRPr b="0" i="0" sz="700" u="none" cap="none" strike="noStrike">
              <a:solidFill>
                <a:srgbClr val="000000"/>
              </a:solidFill>
              <a:latin typeface="Arial"/>
              <a:ea typeface="Arial"/>
              <a:cs typeface="Arial"/>
              <a:sym typeface="Arial"/>
            </a:endParaRPr>
          </a:p>
        </p:txBody>
      </p:sp>
      <p:pic>
        <p:nvPicPr>
          <p:cNvPr id="158" name="Google Shape;158;g3bceea31623_0_0" title="AI4India Logo.jpg"/>
          <p:cNvPicPr preferRelativeResize="0"/>
          <p:nvPr/>
        </p:nvPicPr>
        <p:blipFill rotWithShape="1">
          <a:blip r:embed="rId5">
            <a:alphaModFix/>
          </a:blip>
          <a:srcRect b="0" l="0" r="0" t="0"/>
          <a:stretch/>
        </p:blipFill>
        <p:spPr>
          <a:xfrm>
            <a:off x="8065624" y="267450"/>
            <a:ext cx="941724" cy="367825"/>
          </a:xfrm>
          <a:prstGeom prst="rect">
            <a:avLst/>
          </a:prstGeom>
          <a:noFill/>
          <a:ln>
            <a:noFill/>
          </a:ln>
        </p:spPr>
      </p:pic>
      <p:pic>
        <p:nvPicPr>
          <p:cNvPr id="159" name="Google Shape;159;g3bceea31623_0_0" title="hopeworks logo.png"/>
          <p:cNvPicPr preferRelativeResize="0"/>
          <p:nvPr/>
        </p:nvPicPr>
        <p:blipFill rotWithShape="1">
          <a:blip r:embed="rId6">
            <a:alphaModFix/>
          </a:blip>
          <a:srcRect b="0" l="0" r="0" t="0"/>
          <a:stretch/>
        </p:blipFill>
        <p:spPr>
          <a:xfrm>
            <a:off x="7555296" y="203475"/>
            <a:ext cx="432575" cy="431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p:nvPr/>
        </p:nvSpPr>
        <p:spPr>
          <a:xfrm>
            <a:off x="0" y="-187228"/>
            <a:ext cx="1996742" cy="5505337"/>
          </a:xfrm>
          <a:custGeom>
            <a:rect b="b" l="l" r="r" t="t"/>
            <a:pathLst>
              <a:path extrusionOk="0" h="7035574" w="2551747">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65" name="Google Shape;165;p5"/>
          <p:cNvSpPr txBox="1"/>
          <p:nvPr/>
        </p:nvSpPr>
        <p:spPr>
          <a:xfrm>
            <a:off x="249991" y="3412770"/>
            <a:ext cx="1496700" cy="890700"/>
          </a:xfrm>
          <a:prstGeom prst="rect">
            <a:avLst/>
          </a:prstGeom>
          <a:noFill/>
          <a:ln>
            <a:noFill/>
          </a:ln>
        </p:spPr>
        <p:txBody>
          <a:bodyPr anchorCtr="0" anchor="t" bIns="0" lIns="0" spcFirstLastPara="1" rIns="0" wrap="square" tIns="0">
            <a:spAutoFit/>
          </a:bodyPr>
          <a:lstStyle/>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28 years old</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Salguerro</a:t>
            </a:r>
            <a:endParaRPr b="0" i="0" sz="1100" u="none" cap="none" strike="noStrike">
              <a:solidFill>
                <a:srgbClr val="FFFFFF"/>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Designer</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$45,000 - $139,999</a:t>
            </a:r>
            <a:endParaRPr b="0" i="0" sz="700" u="none" cap="none" strike="noStrike">
              <a:solidFill>
                <a:srgbClr val="000000"/>
              </a:solidFill>
              <a:latin typeface="Arial"/>
              <a:ea typeface="Arial"/>
              <a:cs typeface="Arial"/>
              <a:sym typeface="Arial"/>
            </a:endParaRPr>
          </a:p>
        </p:txBody>
      </p:sp>
      <p:sp>
        <p:nvSpPr>
          <p:cNvPr id="166" name="Google Shape;166;p5"/>
          <p:cNvSpPr txBox="1"/>
          <p:nvPr/>
        </p:nvSpPr>
        <p:spPr>
          <a:xfrm>
            <a:off x="2595898" y="1163002"/>
            <a:ext cx="3508200" cy="1028100"/>
          </a:xfrm>
          <a:prstGeom prst="rect">
            <a:avLst/>
          </a:prstGeom>
          <a:noFill/>
          <a:ln>
            <a:noFill/>
          </a:ln>
        </p:spPr>
        <p:txBody>
          <a:bodyPr anchorCtr="0" anchor="t" bIns="0" lIns="0" spcFirstLastPara="1" rIns="0" wrap="square" tIns="0">
            <a:spAutoFit/>
          </a:bodyPr>
          <a:lstStyle/>
          <a:p>
            <a:pPr indent="0" lvl="0" marL="0" marR="0" rtl="0" algn="l">
              <a:lnSpc>
                <a:spcPct val="142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Derek is a confident graphic designer who runs his own freelance business. He works with writers, photographers, and other creative professionals to deliver captivating designs to clients. Derek dreams of growing his solopreneur venture into a design agency.</a:t>
            </a:r>
            <a:endParaRPr b="0" i="0" sz="700" u="none" cap="none" strike="noStrike">
              <a:solidFill>
                <a:srgbClr val="000000"/>
              </a:solidFill>
              <a:latin typeface="Arial"/>
              <a:ea typeface="Arial"/>
              <a:cs typeface="Arial"/>
              <a:sym typeface="Arial"/>
            </a:endParaRPr>
          </a:p>
        </p:txBody>
      </p:sp>
      <p:grpSp>
        <p:nvGrpSpPr>
          <p:cNvPr id="167" name="Google Shape;167;p5"/>
          <p:cNvGrpSpPr/>
          <p:nvPr/>
        </p:nvGrpSpPr>
        <p:grpSpPr>
          <a:xfrm>
            <a:off x="2434160" y="791787"/>
            <a:ext cx="3831127" cy="309441"/>
            <a:chOff x="0" y="-28575"/>
            <a:chExt cx="5385335" cy="434975"/>
          </a:xfrm>
        </p:grpSpPr>
        <p:sp>
          <p:nvSpPr>
            <p:cNvPr id="168" name="Google Shape;168;p5"/>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69" name="Google Shape;169;p5"/>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0" name="Google Shape;170;p5"/>
          <p:cNvSpPr txBox="1"/>
          <p:nvPr/>
        </p:nvSpPr>
        <p:spPr>
          <a:xfrm>
            <a:off x="2595898" y="799523"/>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171" name="Google Shape;171;p5"/>
          <p:cNvSpPr txBox="1"/>
          <p:nvPr/>
        </p:nvSpPr>
        <p:spPr>
          <a:xfrm>
            <a:off x="6535426" y="1163002"/>
            <a:ext cx="1971300" cy="10281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Down-to-earth</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Easy-going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Reliable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Inspiring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Problem solver</a:t>
            </a:r>
            <a:endParaRPr b="0" i="0" sz="700" u="none" cap="none" strike="noStrike">
              <a:solidFill>
                <a:srgbClr val="000000"/>
              </a:solidFill>
              <a:latin typeface="Arial"/>
              <a:ea typeface="Arial"/>
              <a:cs typeface="Arial"/>
              <a:sym typeface="Arial"/>
            </a:endParaRPr>
          </a:p>
        </p:txBody>
      </p:sp>
      <p:grpSp>
        <p:nvGrpSpPr>
          <p:cNvPr id="172" name="Google Shape;172;p5"/>
          <p:cNvGrpSpPr/>
          <p:nvPr/>
        </p:nvGrpSpPr>
        <p:grpSpPr>
          <a:xfrm>
            <a:off x="6449675" y="791787"/>
            <a:ext cx="2218070" cy="309441"/>
            <a:chOff x="0" y="-28575"/>
            <a:chExt cx="3117894" cy="434975"/>
          </a:xfrm>
        </p:grpSpPr>
        <p:sp>
          <p:nvSpPr>
            <p:cNvPr id="173" name="Google Shape;173;p5"/>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74" name="Google Shape;174;p5"/>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75" name="Google Shape;175;p5"/>
          <p:cNvSpPr txBox="1"/>
          <p:nvPr/>
        </p:nvSpPr>
        <p:spPr>
          <a:xfrm>
            <a:off x="6625629" y="799523"/>
            <a:ext cx="18810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176" name="Google Shape;176;p5"/>
          <p:cNvSpPr txBox="1"/>
          <p:nvPr/>
        </p:nvSpPr>
        <p:spPr>
          <a:xfrm>
            <a:off x="2505695" y="2788963"/>
            <a:ext cx="35985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Presenting his work to a wider audience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Expressing his ideas in words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Keeping his designs and freelancing business relevant</a:t>
            </a:r>
            <a:endParaRPr b="0" i="0" sz="700" u="none" cap="none" strike="noStrike">
              <a:solidFill>
                <a:srgbClr val="000000"/>
              </a:solidFill>
              <a:latin typeface="Arial"/>
              <a:ea typeface="Arial"/>
              <a:cs typeface="Arial"/>
              <a:sym typeface="Arial"/>
            </a:endParaRPr>
          </a:p>
        </p:txBody>
      </p:sp>
      <p:grpSp>
        <p:nvGrpSpPr>
          <p:cNvPr id="177" name="Google Shape;177;p5"/>
          <p:cNvGrpSpPr/>
          <p:nvPr/>
        </p:nvGrpSpPr>
        <p:grpSpPr>
          <a:xfrm>
            <a:off x="2434160" y="2412104"/>
            <a:ext cx="3831127" cy="309441"/>
            <a:chOff x="0" y="-28575"/>
            <a:chExt cx="5385335" cy="434975"/>
          </a:xfrm>
        </p:grpSpPr>
        <p:sp>
          <p:nvSpPr>
            <p:cNvPr id="178" name="Google Shape;178;p5"/>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79" name="Google Shape;179;p5"/>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80" name="Google Shape;180;p5"/>
          <p:cNvGrpSpPr/>
          <p:nvPr/>
        </p:nvGrpSpPr>
        <p:grpSpPr>
          <a:xfrm>
            <a:off x="6449675" y="2412104"/>
            <a:ext cx="2218070" cy="309441"/>
            <a:chOff x="0" y="-28575"/>
            <a:chExt cx="3117894" cy="434975"/>
          </a:xfrm>
        </p:grpSpPr>
        <p:sp>
          <p:nvSpPr>
            <p:cNvPr id="181" name="Google Shape;181;p5"/>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2" name="Google Shape;182;p5"/>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3" name="Google Shape;183;p5"/>
          <p:cNvSpPr txBox="1"/>
          <p:nvPr/>
        </p:nvSpPr>
        <p:spPr>
          <a:xfrm>
            <a:off x="2595898" y="2425484"/>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PROBLEMS</a:t>
            </a:r>
            <a:endParaRPr b="0" i="0" sz="700" u="none" cap="none" strike="noStrike">
              <a:solidFill>
                <a:srgbClr val="000000"/>
              </a:solidFill>
              <a:latin typeface="Arial"/>
              <a:ea typeface="Arial"/>
              <a:cs typeface="Arial"/>
              <a:sym typeface="Arial"/>
            </a:endParaRPr>
          </a:p>
        </p:txBody>
      </p:sp>
      <p:sp>
        <p:nvSpPr>
          <p:cNvPr id="184" name="Google Shape;184;p5"/>
          <p:cNvSpPr txBox="1"/>
          <p:nvPr/>
        </p:nvSpPr>
        <p:spPr>
          <a:xfrm>
            <a:off x="2576220" y="4101334"/>
            <a:ext cx="35991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Following up with clients on feedback</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Billing clients on time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Managing his notes, clippings, and resources</a:t>
            </a:r>
            <a:endParaRPr b="0" i="0" sz="700" u="none" cap="none" strike="noStrike">
              <a:solidFill>
                <a:srgbClr val="000000"/>
              </a:solidFill>
              <a:latin typeface="Arial"/>
              <a:ea typeface="Arial"/>
              <a:cs typeface="Arial"/>
              <a:sym typeface="Arial"/>
            </a:endParaRPr>
          </a:p>
        </p:txBody>
      </p:sp>
      <p:grpSp>
        <p:nvGrpSpPr>
          <p:cNvPr id="185" name="Google Shape;185;p5"/>
          <p:cNvGrpSpPr/>
          <p:nvPr/>
        </p:nvGrpSpPr>
        <p:grpSpPr>
          <a:xfrm>
            <a:off x="2505696" y="3730118"/>
            <a:ext cx="3831127" cy="309441"/>
            <a:chOff x="0" y="-28575"/>
            <a:chExt cx="5385335" cy="434975"/>
          </a:xfrm>
        </p:grpSpPr>
        <p:sp>
          <p:nvSpPr>
            <p:cNvPr id="186" name="Google Shape;186;p5"/>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87" name="Google Shape;187;p5"/>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8" name="Google Shape;188;p5"/>
          <p:cNvSpPr txBox="1"/>
          <p:nvPr/>
        </p:nvSpPr>
        <p:spPr>
          <a:xfrm>
            <a:off x="2667097" y="3737855"/>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CHALLENGES</a:t>
            </a:r>
            <a:endParaRPr b="0" i="0" sz="700" u="none" cap="none" strike="noStrike">
              <a:solidFill>
                <a:srgbClr val="000000"/>
              </a:solidFill>
              <a:latin typeface="Arial"/>
              <a:ea typeface="Arial"/>
              <a:cs typeface="Arial"/>
              <a:sym typeface="Arial"/>
            </a:endParaRPr>
          </a:p>
        </p:txBody>
      </p:sp>
      <p:sp>
        <p:nvSpPr>
          <p:cNvPr id="189" name="Google Shape;189;p5"/>
          <p:cNvSpPr txBox="1"/>
          <p:nvPr/>
        </p:nvSpPr>
        <p:spPr>
          <a:xfrm>
            <a:off x="6588850" y="2788963"/>
            <a:ext cx="1864500" cy="12468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express his creativity and vision to others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develop a successful freelance business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find inspiration from the world around him</a:t>
            </a:r>
            <a:endParaRPr b="0" i="0" sz="700" u="none" cap="none" strike="noStrike">
              <a:solidFill>
                <a:srgbClr val="000000"/>
              </a:solidFill>
              <a:latin typeface="Arial"/>
              <a:ea typeface="Arial"/>
              <a:cs typeface="Arial"/>
              <a:sym typeface="Arial"/>
            </a:endParaRPr>
          </a:p>
        </p:txBody>
      </p:sp>
      <p:sp>
        <p:nvSpPr>
          <p:cNvPr id="190" name="Google Shape;190;p5"/>
          <p:cNvSpPr txBox="1"/>
          <p:nvPr/>
        </p:nvSpPr>
        <p:spPr>
          <a:xfrm>
            <a:off x="6625629" y="2430246"/>
            <a:ext cx="18645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GOALS AND NEEDS</a:t>
            </a:r>
            <a:endParaRPr b="0" i="0" sz="700" u="none" cap="none" strike="noStrike">
              <a:solidFill>
                <a:srgbClr val="000000"/>
              </a:solidFill>
              <a:latin typeface="Arial"/>
              <a:ea typeface="Arial"/>
              <a:cs typeface="Arial"/>
              <a:sym typeface="Arial"/>
            </a:endParaRPr>
          </a:p>
        </p:txBody>
      </p:sp>
      <p:grpSp>
        <p:nvGrpSpPr>
          <p:cNvPr id="191" name="Google Shape;191;p5"/>
          <p:cNvGrpSpPr/>
          <p:nvPr/>
        </p:nvGrpSpPr>
        <p:grpSpPr>
          <a:xfrm>
            <a:off x="255186" y="2807244"/>
            <a:ext cx="1486343" cy="472872"/>
            <a:chOff x="0" y="-82839"/>
            <a:chExt cx="3963580" cy="1260992"/>
          </a:xfrm>
        </p:grpSpPr>
        <p:grpSp>
          <p:nvGrpSpPr>
            <p:cNvPr id="192" name="Google Shape;192;p5"/>
            <p:cNvGrpSpPr/>
            <p:nvPr/>
          </p:nvGrpSpPr>
          <p:grpSpPr>
            <a:xfrm>
              <a:off x="0" y="-82839"/>
              <a:ext cx="3963580" cy="1260992"/>
              <a:chOff x="0" y="-28575"/>
              <a:chExt cx="1367224" cy="434975"/>
            </a:xfrm>
          </p:grpSpPr>
          <p:sp>
            <p:nvSpPr>
              <p:cNvPr id="193" name="Google Shape;193;p5"/>
              <p:cNvSpPr/>
              <p:nvPr/>
            </p:nvSpPr>
            <p:spPr>
              <a:xfrm>
                <a:off x="0" y="0"/>
                <a:ext cx="1367224" cy="406400"/>
              </a:xfrm>
              <a:custGeom>
                <a:rect b="b" l="l" r="r" t="t"/>
                <a:pathLst>
                  <a:path extrusionOk="0" h="406400" w="1367224">
                    <a:moveTo>
                      <a:pt x="1164024" y="0"/>
                    </a:moveTo>
                    <a:cubicBezTo>
                      <a:pt x="1276248" y="0"/>
                      <a:pt x="1367224" y="90976"/>
                      <a:pt x="1367224" y="203200"/>
                    </a:cubicBezTo>
                    <a:cubicBezTo>
                      <a:pt x="1367224" y="315424"/>
                      <a:pt x="1276248" y="406400"/>
                      <a:pt x="1164024" y="406400"/>
                    </a:cubicBezTo>
                    <a:lnTo>
                      <a:pt x="203200" y="406400"/>
                    </a:lnTo>
                    <a:cubicBezTo>
                      <a:pt x="90976" y="406400"/>
                      <a:pt x="0" y="315424"/>
                      <a:pt x="0" y="203200"/>
                    </a:cubicBezTo>
                    <a:cubicBezTo>
                      <a:pt x="0" y="90976"/>
                      <a:pt x="90976" y="0"/>
                      <a:pt x="203200" y="0"/>
                    </a:cubicBezTo>
                    <a:close/>
                  </a:path>
                </a:pathLst>
              </a:custGeom>
              <a:solidFill>
                <a:srgbClr val="BDFF7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94" name="Google Shape;194;p5"/>
              <p:cNvSpPr txBox="1"/>
              <p:nvPr/>
            </p:nvSpPr>
            <p:spPr>
              <a:xfrm>
                <a:off x="0" y="-28575"/>
                <a:ext cx="136722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95" name="Google Shape;195;p5"/>
            <p:cNvSpPr txBox="1"/>
            <p:nvPr/>
          </p:nvSpPr>
          <p:spPr>
            <a:xfrm>
              <a:off x="346387" y="81113"/>
              <a:ext cx="3243000" cy="903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2200"/>
                <a:buFont typeface="Arial"/>
                <a:buNone/>
              </a:pPr>
              <a:r>
                <a:rPr b="1" i="0" lang="en-GB" sz="2200" u="none" cap="none" strike="noStrike">
                  <a:solidFill>
                    <a:srgbClr val="012B1B"/>
                  </a:solidFill>
                  <a:latin typeface="Arial"/>
                  <a:ea typeface="Arial"/>
                  <a:cs typeface="Arial"/>
                  <a:sym typeface="Arial"/>
                </a:rPr>
                <a:t>DEREK</a:t>
              </a:r>
              <a:endParaRPr b="0" i="0" sz="700" u="none" cap="none" strike="noStrike">
                <a:solidFill>
                  <a:srgbClr val="000000"/>
                </a:solidFill>
                <a:latin typeface="Arial"/>
                <a:ea typeface="Arial"/>
                <a:cs typeface="Arial"/>
                <a:sym typeface="Arial"/>
              </a:endParaRPr>
            </a:p>
          </p:txBody>
        </p:sp>
      </p:grpSp>
      <p:pic>
        <p:nvPicPr>
          <p:cNvPr id="196" name="Google Shape;196;p5"/>
          <p:cNvPicPr preferRelativeResize="0"/>
          <p:nvPr/>
        </p:nvPicPr>
        <p:blipFill rotWithShape="1">
          <a:blip r:embed="rId3">
            <a:alphaModFix/>
          </a:blip>
          <a:srcRect b="40400" l="22973" r="17909" t="11713"/>
          <a:stretch/>
        </p:blipFill>
        <p:spPr>
          <a:xfrm>
            <a:off x="255186" y="867493"/>
            <a:ext cx="1486343" cy="1807080"/>
          </a:xfrm>
          <a:prstGeom prst="rect">
            <a:avLst/>
          </a:prstGeom>
          <a:noFill/>
          <a:ln>
            <a:noFill/>
          </a:ln>
        </p:spPr>
      </p:pic>
      <p:sp>
        <p:nvSpPr>
          <p:cNvPr id="197" name="Google Shape;197;p5"/>
          <p:cNvSpPr txBox="1"/>
          <p:nvPr/>
        </p:nvSpPr>
        <p:spPr>
          <a:xfrm>
            <a:off x="3791408" y="165041"/>
            <a:ext cx="38793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GB" sz="3300" u="none" cap="none" strike="noStrike">
                <a:solidFill>
                  <a:schemeClr val="dk1"/>
                </a:solidFill>
                <a:latin typeface="Poppins"/>
                <a:ea typeface="Poppins"/>
                <a:cs typeface="Poppins"/>
                <a:sym typeface="Poppins"/>
              </a:rPr>
              <a:t>USER PERSONA 1</a:t>
            </a:r>
            <a:endParaRPr b="0" i="0" sz="700" u="none" cap="none" strike="noStrike">
              <a:solidFill>
                <a:srgbClr val="000000"/>
              </a:solidFill>
              <a:latin typeface="Arial"/>
              <a:ea typeface="Arial"/>
              <a:cs typeface="Arial"/>
              <a:sym typeface="Arial"/>
            </a:endParaRPr>
          </a:p>
        </p:txBody>
      </p:sp>
      <p:pic>
        <p:nvPicPr>
          <p:cNvPr id="198" name="Google Shape;198;p5" title="Witch Hunt finalized logo-modified.png"/>
          <p:cNvPicPr preferRelativeResize="0"/>
          <p:nvPr/>
        </p:nvPicPr>
        <p:blipFill rotWithShape="1">
          <a:blip r:embed="rId4">
            <a:alphaModFix/>
          </a:blip>
          <a:srcRect b="0" l="0" r="0" t="0"/>
          <a:stretch/>
        </p:blipFill>
        <p:spPr>
          <a:xfrm>
            <a:off x="129475" y="110938"/>
            <a:ext cx="680849" cy="680849"/>
          </a:xfrm>
          <a:prstGeom prst="rect">
            <a:avLst/>
          </a:prstGeom>
          <a:noFill/>
          <a:ln>
            <a:noFill/>
          </a:ln>
        </p:spPr>
      </p:pic>
      <p:sp>
        <p:nvSpPr>
          <p:cNvPr id="199" name="Google Shape;199;p5"/>
          <p:cNvSpPr txBox="1"/>
          <p:nvPr/>
        </p:nvSpPr>
        <p:spPr>
          <a:xfrm rot="-1716536">
            <a:off x="1218300" y="2828207"/>
            <a:ext cx="6263410" cy="430943"/>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your project details</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6"/>
          <p:cNvSpPr/>
          <p:nvPr/>
        </p:nvSpPr>
        <p:spPr>
          <a:xfrm>
            <a:off x="0" y="-212628"/>
            <a:ext cx="1996742" cy="5505337"/>
          </a:xfrm>
          <a:custGeom>
            <a:rect b="b" l="l" r="r" t="t"/>
            <a:pathLst>
              <a:path extrusionOk="0" h="7035574" w="2551747">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05" name="Google Shape;205;p6"/>
          <p:cNvSpPr txBox="1"/>
          <p:nvPr/>
        </p:nvSpPr>
        <p:spPr>
          <a:xfrm>
            <a:off x="256791" y="3385982"/>
            <a:ext cx="1496700" cy="890700"/>
          </a:xfrm>
          <a:prstGeom prst="rect">
            <a:avLst/>
          </a:prstGeom>
          <a:noFill/>
          <a:ln>
            <a:noFill/>
          </a:ln>
        </p:spPr>
        <p:txBody>
          <a:bodyPr anchorCtr="0" anchor="t" bIns="0" lIns="0" spcFirstLastPara="1" rIns="0" wrap="square" tIns="0">
            <a:spAutoFit/>
          </a:bodyPr>
          <a:lstStyle/>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28 years old</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Salguerro</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Designer</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$45,000 - $139,999</a:t>
            </a:r>
            <a:endParaRPr b="0" i="0" sz="700" u="none" cap="none" strike="noStrike">
              <a:solidFill>
                <a:srgbClr val="000000"/>
              </a:solidFill>
              <a:latin typeface="Arial"/>
              <a:ea typeface="Arial"/>
              <a:cs typeface="Arial"/>
              <a:sym typeface="Arial"/>
            </a:endParaRPr>
          </a:p>
        </p:txBody>
      </p:sp>
      <p:sp>
        <p:nvSpPr>
          <p:cNvPr id="206" name="Google Shape;206;p6"/>
          <p:cNvSpPr txBox="1"/>
          <p:nvPr/>
        </p:nvSpPr>
        <p:spPr>
          <a:xfrm>
            <a:off x="2595898" y="1122452"/>
            <a:ext cx="3508200" cy="1028100"/>
          </a:xfrm>
          <a:prstGeom prst="rect">
            <a:avLst/>
          </a:prstGeom>
          <a:noFill/>
          <a:ln>
            <a:noFill/>
          </a:ln>
        </p:spPr>
        <p:txBody>
          <a:bodyPr anchorCtr="0" anchor="t" bIns="0" lIns="0" spcFirstLastPara="1" rIns="0" wrap="square" tIns="0">
            <a:spAutoFit/>
          </a:bodyPr>
          <a:lstStyle/>
          <a:p>
            <a:pPr indent="0" lvl="0" marL="0" marR="0" rtl="0" algn="l">
              <a:lnSpc>
                <a:spcPct val="142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Derek is a confident graphic designer who runs his own freelance business. He works with writers, photographers, and other creative professionals to deliver captivating designs to clients. Derek dreams of growing his solopreneur venture into a design agency.</a:t>
            </a:r>
            <a:endParaRPr b="0" i="0" sz="700" u="none" cap="none" strike="noStrike">
              <a:solidFill>
                <a:srgbClr val="000000"/>
              </a:solidFill>
              <a:latin typeface="Arial"/>
              <a:ea typeface="Arial"/>
              <a:cs typeface="Arial"/>
              <a:sym typeface="Arial"/>
            </a:endParaRPr>
          </a:p>
        </p:txBody>
      </p:sp>
      <p:grpSp>
        <p:nvGrpSpPr>
          <p:cNvPr id="207" name="Google Shape;207;p6"/>
          <p:cNvGrpSpPr/>
          <p:nvPr/>
        </p:nvGrpSpPr>
        <p:grpSpPr>
          <a:xfrm>
            <a:off x="2434160" y="751237"/>
            <a:ext cx="3831127" cy="309441"/>
            <a:chOff x="0" y="-28575"/>
            <a:chExt cx="5385335" cy="434975"/>
          </a:xfrm>
        </p:grpSpPr>
        <p:sp>
          <p:nvSpPr>
            <p:cNvPr id="208" name="Google Shape;208;p6"/>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09" name="Google Shape;209;p6"/>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0" name="Google Shape;210;p6"/>
          <p:cNvSpPr txBox="1"/>
          <p:nvPr/>
        </p:nvSpPr>
        <p:spPr>
          <a:xfrm>
            <a:off x="2595898" y="758973"/>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211" name="Google Shape;211;p6"/>
          <p:cNvSpPr txBox="1"/>
          <p:nvPr/>
        </p:nvSpPr>
        <p:spPr>
          <a:xfrm>
            <a:off x="6535426" y="1122452"/>
            <a:ext cx="1971300" cy="10281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Down-to-earth</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Easy-going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Reliable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Inspiring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Problem solver</a:t>
            </a:r>
            <a:endParaRPr b="0" i="0" sz="700" u="none" cap="none" strike="noStrike">
              <a:solidFill>
                <a:srgbClr val="000000"/>
              </a:solidFill>
              <a:latin typeface="Arial"/>
              <a:ea typeface="Arial"/>
              <a:cs typeface="Arial"/>
              <a:sym typeface="Arial"/>
            </a:endParaRPr>
          </a:p>
        </p:txBody>
      </p:sp>
      <p:grpSp>
        <p:nvGrpSpPr>
          <p:cNvPr id="212" name="Google Shape;212;p6"/>
          <p:cNvGrpSpPr/>
          <p:nvPr/>
        </p:nvGrpSpPr>
        <p:grpSpPr>
          <a:xfrm>
            <a:off x="6449675" y="751237"/>
            <a:ext cx="2218070" cy="309441"/>
            <a:chOff x="0" y="-28575"/>
            <a:chExt cx="3117894" cy="434975"/>
          </a:xfrm>
        </p:grpSpPr>
        <p:sp>
          <p:nvSpPr>
            <p:cNvPr id="213" name="Google Shape;213;p6"/>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14" name="Google Shape;214;p6"/>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5" name="Google Shape;215;p6"/>
          <p:cNvSpPr txBox="1"/>
          <p:nvPr/>
        </p:nvSpPr>
        <p:spPr>
          <a:xfrm>
            <a:off x="6625629" y="758973"/>
            <a:ext cx="18810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216" name="Google Shape;216;p6"/>
          <p:cNvSpPr txBox="1"/>
          <p:nvPr/>
        </p:nvSpPr>
        <p:spPr>
          <a:xfrm>
            <a:off x="2505695" y="2748413"/>
            <a:ext cx="35985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Presenting his work to a wider audience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Expressing his ideas in words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Keeping his designs and freelancing business relevant</a:t>
            </a:r>
            <a:endParaRPr b="0" i="0" sz="700" u="none" cap="none" strike="noStrike">
              <a:solidFill>
                <a:srgbClr val="000000"/>
              </a:solidFill>
              <a:latin typeface="Arial"/>
              <a:ea typeface="Arial"/>
              <a:cs typeface="Arial"/>
              <a:sym typeface="Arial"/>
            </a:endParaRPr>
          </a:p>
        </p:txBody>
      </p:sp>
      <p:grpSp>
        <p:nvGrpSpPr>
          <p:cNvPr id="217" name="Google Shape;217;p6"/>
          <p:cNvGrpSpPr/>
          <p:nvPr/>
        </p:nvGrpSpPr>
        <p:grpSpPr>
          <a:xfrm>
            <a:off x="2434160" y="2371554"/>
            <a:ext cx="3831127" cy="309441"/>
            <a:chOff x="0" y="-28575"/>
            <a:chExt cx="5385335" cy="434975"/>
          </a:xfrm>
        </p:grpSpPr>
        <p:sp>
          <p:nvSpPr>
            <p:cNvPr id="218" name="Google Shape;218;p6"/>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19" name="Google Shape;219;p6"/>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20" name="Google Shape;220;p6"/>
          <p:cNvGrpSpPr/>
          <p:nvPr/>
        </p:nvGrpSpPr>
        <p:grpSpPr>
          <a:xfrm>
            <a:off x="6449675" y="2371554"/>
            <a:ext cx="2218070" cy="309441"/>
            <a:chOff x="0" y="-28575"/>
            <a:chExt cx="3117894" cy="434975"/>
          </a:xfrm>
        </p:grpSpPr>
        <p:sp>
          <p:nvSpPr>
            <p:cNvPr id="221" name="Google Shape;221;p6"/>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22" name="Google Shape;222;p6"/>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3" name="Google Shape;223;p6"/>
          <p:cNvSpPr txBox="1"/>
          <p:nvPr/>
        </p:nvSpPr>
        <p:spPr>
          <a:xfrm>
            <a:off x="2595898" y="2384934"/>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PROBLEMS</a:t>
            </a:r>
            <a:endParaRPr b="0" i="0" sz="700" u="none" cap="none" strike="noStrike">
              <a:solidFill>
                <a:srgbClr val="000000"/>
              </a:solidFill>
              <a:latin typeface="Arial"/>
              <a:ea typeface="Arial"/>
              <a:cs typeface="Arial"/>
              <a:sym typeface="Arial"/>
            </a:endParaRPr>
          </a:p>
        </p:txBody>
      </p:sp>
      <p:sp>
        <p:nvSpPr>
          <p:cNvPr id="224" name="Google Shape;224;p6"/>
          <p:cNvSpPr txBox="1"/>
          <p:nvPr/>
        </p:nvSpPr>
        <p:spPr>
          <a:xfrm>
            <a:off x="2504957" y="4048084"/>
            <a:ext cx="35991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Following up with clients on feedback</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Billing clients on time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Managing his notes, clippings, and resources</a:t>
            </a:r>
            <a:endParaRPr b="0" i="0" sz="700" u="none" cap="none" strike="noStrike">
              <a:solidFill>
                <a:srgbClr val="000000"/>
              </a:solidFill>
              <a:latin typeface="Arial"/>
              <a:ea typeface="Arial"/>
              <a:cs typeface="Arial"/>
              <a:sym typeface="Arial"/>
            </a:endParaRPr>
          </a:p>
        </p:txBody>
      </p:sp>
      <p:grpSp>
        <p:nvGrpSpPr>
          <p:cNvPr id="225" name="Google Shape;225;p6"/>
          <p:cNvGrpSpPr/>
          <p:nvPr/>
        </p:nvGrpSpPr>
        <p:grpSpPr>
          <a:xfrm>
            <a:off x="2434433" y="3676868"/>
            <a:ext cx="3831127" cy="309441"/>
            <a:chOff x="0" y="-28575"/>
            <a:chExt cx="5385335" cy="434975"/>
          </a:xfrm>
        </p:grpSpPr>
        <p:sp>
          <p:nvSpPr>
            <p:cNvPr id="226" name="Google Shape;226;p6"/>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27" name="Google Shape;227;p6"/>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28" name="Google Shape;228;p6"/>
          <p:cNvSpPr txBox="1"/>
          <p:nvPr/>
        </p:nvSpPr>
        <p:spPr>
          <a:xfrm>
            <a:off x="2595835" y="3684605"/>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CHALLENGES</a:t>
            </a:r>
            <a:endParaRPr b="0" i="0" sz="700" u="none" cap="none" strike="noStrike">
              <a:solidFill>
                <a:srgbClr val="000000"/>
              </a:solidFill>
              <a:latin typeface="Arial"/>
              <a:ea typeface="Arial"/>
              <a:cs typeface="Arial"/>
              <a:sym typeface="Arial"/>
            </a:endParaRPr>
          </a:p>
        </p:txBody>
      </p:sp>
      <p:sp>
        <p:nvSpPr>
          <p:cNvPr id="229" name="Google Shape;229;p6"/>
          <p:cNvSpPr txBox="1"/>
          <p:nvPr/>
        </p:nvSpPr>
        <p:spPr>
          <a:xfrm>
            <a:off x="6588850" y="2748413"/>
            <a:ext cx="1864500" cy="12468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express his creativity and vision to others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develop a successful freelance business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find inspiration from the world around him</a:t>
            </a:r>
            <a:endParaRPr b="0" i="0" sz="700" u="none" cap="none" strike="noStrike">
              <a:solidFill>
                <a:srgbClr val="000000"/>
              </a:solidFill>
              <a:latin typeface="Arial"/>
              <a:ea typeface="Arial"/>
              <a:cs typeface="Arial"/>
              <a:sym typeface="Arial"/>
            </a:endParaRPr>
          </a:p>
        </p:txBody>
      </p:sp>
      <p:sp>
        <p:nvSpPr>
          <p:cNvPr id="230" name="Google Shape;230;p6"/>
          <p:cNvSpPr txBox="1"/>
          <p:nvPr/>
        </p:nvSpPr>
        <p:spPr>
          <a:xfrm>
            <a:off x="6625629" y="2389696"/>
            <a:ext cx="18645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GOALS AND NEEDS</a:t>
            </a:r>
            <a:endParaRPr b="0" i="0" sz="700" u="none" cap="none" strike="noStrike">
              <a:solidFill>
                <a:srgbClr val="000000"/>
              </a:solidFill>
              <a:latin typeface="Arial"/>
              <a:ea typeface="Arial"/>
              <a:cs typeface="Arial"/>
              <a:sym typeface="Arial"/>
            </a:endParaRPr>
          </a:p>
        </p:txBody>
      </p:sp>
      <p:grpSp>
        <p:nvGrpSpPr>
          <p:cNvPr id="231" name="Google Shape;231;p6"/>
          <p:cNvGrpSpPr/>
          <p:nvPr/>
        </p:nvGrpSpPr>
        <p:grpSpPr>
          <a:xfrm>
            <a:off x="256786" y="2811932"/>
            <a:ext cx="1486343" cy="472872"/>
            <a:chOff x="0" y="-82839"/>
            <a:chExt cx="3963580" cy="1260992"/>
          </a:xfrm>
        </p:grpSpPr>
        <p:grpSp>
          <p:nvGrpSpPr>
            <p:cNvPr id="232" name="Google Shape;232;p6"/>
            <p:cNvGrpSpPr/>
            <p:nvPr/>
          </p:nvGrpSpPr>
          <p:grpSpPr>
            <a:xfrm>
              <a:off x="0" y="-82839"/>
              <a:ext cx="3963580" cy="1260992"/>
              <a:chOff x="0" y="-28575"/>
              <a:chExt cx="1367224" cy="434975"/>
            </a:xfrm>
          </p:grpSpPr>
          <p:sp>
            <p:nvSpPr>
              <p:cNvPr id="233" name="Google Shape;233;p6"/>
              <p:cNvSpPr/>
              <p:nvPr/>
            </p:nvSpPr>
            <p:spPr>
              <a:xfrm>
                <a:off x="0" y="0"/>
                <a:ext cx="1367224" cy="406400"/>
              </a:xfrm>
              <a:custGeom>
                <a:rect b="b" l="l" r="r" t="t"/>
                <a:pathLst>
                  <a:path extrusionOk="0" h="406400" w="1367224">
                    <a:moveTo>
                      <a:pt x="1164024" y="0"/>
                    </a:moveTo>
                    <a:cubicBezTo>
                      <a:pt x="1276248" y="0"/>
                      <a:pt x="1367224" y="90976"/>
                      <a:pt x="1367224" y="203200"/>
                    </a:cubicBezTo>
                    <a:cubicBezTo>
                      <a:pt x="1367224" y="315424"/>
                      <a:pt x="1276248" y="406400"/>
                      <a:pt x="1164024" y="406400"/>
                    </a:cubicBezTo>
                    <a:lnTo>
                      <a:pt x="203200" y="406400"/>
                    </a:lnTo>
                    <a:cubicBezTo>
                      <a:pt x="90976" y="406400"/>
                      <a:pt x="0" y="315424"/>
                      <a:pt x="0" y="203200"/>
                    </a:cubicBezTo>
                    <a:cubicBezTo>
                      <a:pt x="0" y="90976"/>
                      <a:pt x="90976" y="0"/>
                      <a:pt x="203200" y="0"/>
                    </a:cubicBezTo>
                    <a:close/>
                  </a:path>
                </a:pathLst>
              </a:custGeom>
              <a:solidFill>
                <a:srgbClr val="BDFF7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34" name="Google Shape;234;p6"/>
              <p:cNvSpPr txBox="1"/>
              <p:nvPr/>
            </p:nvSpPr>
            <p:spPr>
              <a:xfrm>
                <a:off x="0" y="-28575"/>
                <a:ext cx="136722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35" name="Google Shape;235;p6"/>
            <p:cNvSpPr txBox="1"/>
            <p:nvPr/>
          </p:nvSpPr>
          <p:spPr>
            <a:xfrm>
              <a:off x="346387" y="81113"/>
              <a:ext cx="3243000" cy="903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2200"/>
                <a:buFont typeface="Arial"/>
                <a:buNone/>
              </a:pPr>
              <a:r>
                <a:rPr b="1" i="0" lang="en-GB" sz="2200" u="none" cap="none" strike="noStrike">
                  <a:solidFill>
                    <a:srgbClr val="012B1B"/>
                  </a:solidFill>
                  <a:latin typeface="Arial"/>
                  <a:ea typeface="Arial"/>
                  <a:cs typeface="Arial"/>
                  <a:sym typeface="Arial"/>
                </a:rPr>
                <a:t>DEREK</a:t>
              </a:r>
              <a:endParaRPr b="0" i="0" sz="700" u="none" cap="none" strike="noStrike">
                <a:solidFill>
                  <a:srgbClr val="000000"/>
                </a:solidFill>
                <a:latin typeface="Arial"/>
                <a:ea typeface="Arial"/>
                <a:cs typeface="Arial"/>
                <a:sym typeface="Arial"/>
              </a:endParaRPr>
            </a:p>
          </p:txBody>
        </p:sp>
      </p:grpSp>
      <p:pic>
        <p:nvPicPr>
          <p:cNvPr id="236" name="Google Shape;236;p6"/>
          <p:cNvPicPr preferRelativeResize="0"/>
          <p:nvPr/>
        </p:nvPicPr>
        <p:blipFill rotWithShape="1">
          <a:blip r:embed="rId3">
            <a:alphaModFix/>
          </a:blip>
          <a:srcRect b="40400" l="22973" r="17909" t="11713"/>
          <a:stretch/>
        </p:blipFill>
        <p:spPr>
          <a:xfrm>
            <a:off x="261986" y="791769"/>
            <a:ext cx="1486343" cy="1807080"/>
          </a:xfrm>
          <a:prstGeom prst="rect">
            <a:avLst/>
          </a:prstGeom>
          <a:noFill/>
          <a:ln>
            <a:noFill/>
          </a:ln>
        </p:spPr>
      </p:pic>
      <p:sp>
        <p:nvSpPr>
          <p:cNvPr id="237" name="Google Shape;237;p6"/>
          <p:cNvSpPr txBox="1"/>
          <p:nvPr/>
        </p:nvSpPr>
        <p:spPr>
          <a:xfrm>
            <a:off x="3842208" y="169066"/>
            <a:ext cx="3650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GB" sz="3300" u="none" cap="none" strike="noStrike">
                <a:solidFill>
                  <a:schemeClr val="dk1"/>
                </a:solidFill>
                <a:latin typeface="Poppins"/>
                <a:ea typeface="Poppins"/>
                <a:cs typeface="Poppins"/>
                <a:sym typeface="Poppins"/>
              </a:rPr>
              <a:t>USER PERSONA 2</a:t>
            </a:r>
            <a:endParaRPr b="0" i="0" sz="700" u="none" cap="none" strike="noStrike">
              <a:solidFill>
                <a:srgbClr val="000000"/>
              </a:solidFill>
              <a:latin typeface="Arial"/>
              <a:ea typeface="Arial"/>
              <a:cs typeface="Arial"/>
              <a:sym typeface="Arial"/>
            </a:endParaRPr>
          </a:p>
        </p:txBody>
      </p:sp>
      <p:pic>
        <p:nvPicPr>
          <p:cNvPr id="238" name="Google Shape;238;p6" title="Witch Hunt finalized logo-modified.png"/>
          <p:cNvPicPr preferRelativeResize="0"/>
          <p:nvPr/>
        </p:nvPicPr>
        <p:blipFill rotWithShape="1">
          <a:blip r:embed="rId4">
            <a:alphaModFix/>
          </a:blip>
          <a:srcRect b="0" l="0" r="0" t="0"/>
          <a:stretch/>
        </p:blipFill>
        <p:spPr>
          <a:xfrm>
            <a:off x="129475" y="110938"/>
            <a:ext cx="680849" cy="680849"/>
          </a:xfrm>
          <a:prstGeom prst="rect">
            <a:avLst/>
          </a:prstGeom>
          <a:noFill/>
          <a:ln>
            <a:noFill/>
          </a:ln>
        </p:spPr>
      </p:pic>
      <p:sp>
        <p:nvSpPr>
          <p:cNvPr id="239" name="Google Shape;239;p6"/>
          <p:cNvSpPr txBox="1"/>
          <p:nvPr/>
        </p:nvSpPr>
        <p:spPr>
          <a:xfrm rot="-1716536">
            <a:off x="1218300" y="2828207"/>
            <a:ext cx="6263410" cy="430943"/>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your project details</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7"/>
          <p:cNvSpPr/>
          <p:nvPr/>
        </p:nvSpPr>
        <p:spPr>
          <a:xfrm>
            <a:off x="0" y="-187228"/>
            <a:ext cx="1999895" cy="5514029"/>
          </a:xfrm>
          <a:custGeom>
            <a:rect b="b" l="l" r="r" t="t"/>
            <a:pathLst>
              <a:path extrusionOk="0" h="7035574" w="2551747">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45" name="Google Shape;245;p7"/>
          <p:cNvSpPr txBox="1"/>
          <p:nvPr/>
        </p:nvSpPr>
        <p:spPr>
          <a:xfrm>
            <a:off x="251591" y="3483557"/>
            <a:ext cx="1496700" cy="890700"/>
          </a:xfrm>
          <a:prstGeom prst="rect">
            <a:avLst/>
          </a:prstGeom>
          <a:noFill/>
          <a:ln>
            <a:noFill/>
          </a:ln>
        </p:spPr>
        <p:txBody>
          <a:bodyPr anchorCtr="0" anchor="t" bIns="0" lIns="0" spcFirstLastPara="1" rIns="0" wrap="square" tIns="0">
            <a:spAutoFit/>
          </a:bodyPr>
          <a:lstStyle/>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28 years old</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Salguerro</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Designer</a:t>
            </a:r>
            <a:endParaRPr b="0" i="0" sz="700" u="none" cap="none" strike="noStrike">
              <a:solidFill>
                <a:srgbClr val="000000"/>
              </a:solidFill>
              <a:latin typeface="Arial"/>
              <a:ea typeface="Arial"/>
              <a:cs typeface="Arial"/>
              <a:sym typeface="Arial"/>
            </a:endParaRPr>
          </a:p>
          <a:p>
            <a:pPr indent="-120650" lvl="1" marL="241300" marR="0" rtl="0" algn="l">
              <a:lnSpc>
                <a:spcPct val="142019"/>
              </a:lnSpc>
              <a:spcBef>
                <a:spcPts val="0"/>
              </a:spcBef>
              <a:spcAft>
                <a:spcPts val="0"/>
              </a:spcAft>
              <a:buClr>
                <a:srgbClr val="FFFFFF"/>
              </a:buClr>
              <a:buSzPts val="1100"/>
              <a:buFont typeface="Arial"/>
              <a:buChar char="•"/>
            </a:pPr>
            <a:r>
              <a:rPr b="0" i="0" lang="en-GB" sz="1100" u="none" cap="none" strike="noStrike">
                <a:solidFill>
                  <a:srgbClr val="FFFFFF"/>
                </a:solidFill>
                <a:latin typeface="Arial"/>
                <a:ea typeface="Arial"/>
                <a:cs typeface="Arial"/>
                <a:sym typeface="Arial"/>
              </a:rPr>
              <a:t>$45,000 - $139,999</a:t>
            </a:r>
            <a:endParaRPr b="0" i="0" sz="700" u="none" cap="none" strike="noStrike">
              <a:solidFill>
                <a:srgbClr val="000000"/>
              </a:solidFill>
              <a:latin typeface="Arial"/>
              <a:ea typeface="Arial"/>
              <a:cs typeface="Arial"/>
              <a:sym typeface="Arial"/>
            </a:endParaRPr>
          </a:p>
        </p:txBody>
      </p:sp>
      <p:sp>
        <p:nvSpPr>
          <p:cNvPr id="246" name="Google Shape;246;p7"/>
          <p:cNvSpPr txBox="1"/>
          <p:nvPr/>
        </p:nvSpPr>
        <p:spPr>
          <a:xfrm>
            <a:off x="2532398" y="1220027"/>
            <a:ext cx="3508200" cy="1028100"/>
          </a:xfrm>
          <a:prstGeom prst="rect">
            <a:avLst/>
          </a:prstGeom>
          <a:noFill/>
          <a:ln>
            <a:noFill/>
          </a:ln>
        </p:spPr>
        <p:txBody>
          <a:bodyPr anchorCtr="0" anchor="t" bIns="0" lIns="0" spcFirstLastPara="1" rIns="0" wrap="square" tIns="0">
            <a:spAutoFit/>
          </a:bodyPr>
          <a:lstStyle/>
          <a:p>
            <a:pPr indent="0" lvl="0" marL="0" marR="0" rtl="0" algn="l">
              <a:lnSpc>
                <a:spcPct val="142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Derek is a confident graphic designer who runs his own freelance business. He works with writers, photographers, and other creative professionals to deliver captivating designs to clients. Derek dreams of growing his solopreneur venture into a design agency.</a:t>
            </a:r>
            <a:endParaRPr b="0" i="0" sz="700" u="none" cap="none" strike="noStrike">
              <a:solidFill>
                <a:srgbClr val="000000"/>
              </a:solidFill>
              <a:latin typeface="Arial"/>
              <a:ea typeface="Arial"/>
              <a:cs typeface="Arial"/>
              <a:sym typeface="Arial"/>
            </a:endParaRPr>
          </a:p>
        </p:txBody>
      </p:sp>
      <p:grpSp>
        <p:nvGrpSpPr>
          <p:cNvPr id="247" name="Google Shape;247;p7"/>
          <p:cNvGrpSpPr/>
          <p:nvPr/>
        </p:nvGrpSpPr>
        <p:grpSpPr>
          <a:xfrm>
            <a:off x="2370660" y="848812"/>
            <a:ext cx="3831127" cy="309441"/>
            <a:chOff x="0" y="-28575"/>
            <a:chExt cx="5385335" cy="434975"/>
          </a:xfrm>
        </p:grpSpPr>
        <p:sp>
          <p:nvSpPr>
            <p:cNvPr id="248" name="Google Shape;248;p7"/>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49" name="Google Shape;249;p7"/>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0" name="Google Shape;250;p7"/>
          <p:cNvSpPr txBox="1"/>
          <p:nvPr/>
        </p:nvSpPr>
        <p:spPr>
          <a:xfrm>
            <a:off x="2532398" y="856548"/>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251" name="Google Shape;251;p7"/>
          <p:cNvSpPr txBox="1"/>
          <p:nvPr/>
        </p:nvSpPr>
        <p:spPr>
          <a:xfrm>
            <a:off x="6471926" y="1220027"/>
            <a:ext cx="1971300" cy="10281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Down-to-earth</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Easy-going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Reliable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Inspiring</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Problem solver</a:t>
            </a:r>
            <a:endParaRPr b="0" i="0" sz="700" u="none" cap="none" strike="noStrike">
              <a:solidFill>
                <a:srgbClr val="000000"/>
              </a:solidFill>
              <a:latin typeface="Arial"/>
              <a:ea typeface="Arial"/>
              <a:cs typeface="Arial"/>
              <a:sym typeface="Arial"/>
            </a:endParaRPr>
          </a:p>
        </p:txBody>
      </p:sp>
      <p:grpSp>
        <p:nvGrpSpPr>
          <p:cNvPr id="252" name="Google Shape;252;p7"/>
          <p:cNvGrpSpPr/>
          <p:nvPr/>
        </p:nvGrpSpPr>
        <p:grpSpPr>
          <a:xfrm>
            <a:off x="6386175" y="848812"/>
            <a:ext cx="2218070" cy="309441"/>
            <a:chOff x="0" y="-28575"/>
            <a:chExt cx="3117894" cy="434975"/>
          </a:xfrm>
        </p:grpSpPr>
        <p:sp>
          <p:nvSpPr>
            <p:cNvPr id="253" name="Google Shape;253;p7"/>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54" name="Google Shape;254;p7"/>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5" name="Google Shape;255;p7"/>
          <p:cNvSpPr txBox="1"/>
          <p:nvPr/>
        </p:nvSpPr>
        <p:spPr>
          <a:xfrm>
            <a:off x="6562129" y="856548"/>
            <a:ext cx="18810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ABOUT THE USER</a:t>
            </a:r>
            <a:endParaRPr b="0" i="0" sz="700" u="none" cap="none" strike="noStrike">
              <a:solidFill>
                <a:srgbClr val="000000"/>
              </a:solidFill>
              <a:latin typeface="Arial"/>
              <a:ea typeface="Arial"/>
              <a:cs typeface="Arial"/>
              <a:sym typeface="Arial"/>
            </a:endParaRPr>
          </a:p>
        </p:txBody>
      </p:sp>
      <p:sp>
        <p:nvSpPr>
          <p:cNvPr id="256" name="Google Shape;256;p7"/>
          <p:cNvSpPr txBox="1"/>
          <p:nvPr/>
        </p:nvSpPr>
        <p:spPr>
          <a:xfrm>
            <a:off x="2442195" y="2845988"/>
            <a:ext cx="35985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Presenting his work to a wider audience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Expressing his ideas in words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Keeping his designs and freelancing business relevant</a:t>
            </a:r>
            <a:endParaRPr b="0" i="0" sz="700" u="none" cap="none" strike="noStrike">
              <a:solidFill>
                <a:srgbClr val="000000"/>
              </a:solidFill>
              <a:latin typeface="Arial"/>
              <a:ea typeface="Arial"/>
              <a:cs typeface="Arial"/>
              <a:sym typeface="Arial"/>
            </a:endParaRPr>
          </a:p>
        </p:txBody>
      </p:sp>
      <p:grpSp>
        <p:nvGrpSpPr>
          <p:cNvPr id="257" name="Google Shape;257;p7"/>
          <p:cNvGrpSpPr/>
          <p:nvPr/>
        </p:nvGrpSpPr>
        <p:grpSpPr>
          <a:xfrm>
            <a:off x="2370660" y="2469129"/>
            <a:ext cx="3831127" cy="309441"/>
            <a:chOff x="0" y="-28575"/>
            <a:chExt cx="5385335" cy="434975"/>
          </a:xfrm>
        </p:grpSpPr>
        <p:sp>
          <p:nvSpPr>
            <p:cNvPr id="258" name="Google Shape;258;p7"/>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59" name="Google Shape;259;p7"/>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60" name="Google Shape;260;p7"/>
          <p:cNvGrpSpPr/>
          <p:nvPr/>
        </p:nvGrpSpPr>
        <p:grpSpPr>
          <a:xfrm>
            <a:off x="6386175" y="2469129"/>
            <a:ext cx="2218070" cy="309441"/>
            <a:chOff x="0" y="-28575"/>
            <a:chExt cx="3117894" cy="434975"/>
          </a:xfrm>
        </p:grpSpPr>
        <p:sp>
          <p:nvSpPr>
            <p:cNvPr id="261" name="Google Shape;261;p7"/>
            <p:cNvSpPr/>
            <p:nvPr/>
          </p:nvSpPr>
          <p:spPr>
            <a:xfrm>
              <a:off x="0" y="0"/>
              <a:ext cx="3117894" cy="406400"/>
            </a:xfrm>
            <a:custGeom>
              <a:rect b="b" l="l" r="r" t="t"/>
              <a:pathLst>
                <a:path extrusionOk="0" h="406400" w="3117894">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62" name="Google Shape;262;p7"/>
            <p:cNvSpPr txBox="1"/>
            <p:nvPr/>
          </p:nvSpPr>
          <p:spPr>
            <a:xfrm>
              <a:off x="0" y="-28575"/>
              <a:ext cx="311789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3" name="Google Shape;263;p7"/>
          <p:cNvSpPr txBox="1"/>
          <p:nvPr/>
        </p:nvSpPr>
        <p:spPr>
          <a:xfrm>
            <a:off x="2532398" y="2482509"/>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PROBLEMS</a:t>
            </a:r>
            <a:endParaRPr b="0" i="0" sz="700" u="none" cap="none" strike="noStrike">
              <a:solidFill>
                <a:srgbClr val="000000"/>
              </a:solidFill>
              <a:latin typeface="Arial"/>
              <a:ea typeface="Arial"/>
              <a:cs typeface="Arial"/>
              <a:sym typeface="Arial"/>
            </a:endParaRPr>
          </a:p>
        </p:txBody>
      </p:sp>
      <p:sp>
        <p:nvSpPr>
          <p:cNvPr id="264" name="Google Shape;264;p7"/>
          <p:cNvSpPr txBox="1"/>
          <p:nvPr/>
        </p:nvSpPr>
        <p:spPr>
          <a:xfrm>
            <a:off x="2512720" y="4107559"/>
            <a:ext cx="3599100" cy="5910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Following up with clients on feedback</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Billing clients on time</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Managing his notes, clippings, and resources</a:t>
            </a:r>
            <a:endParaRPr b="0" i="0" sz="700" u="none" cap="none" strike="noStrike">
              <a:solidFill>
                <a:srgbClr val="000000"/>
              </a:solidFill>
              <a:latin typeface="Arial"/>
              <a:ea typeface="Arial"/>
              <a:cs typeface="Arial"/>
              <a:sym typeface="Arial"/>
            </a:endParaRPr>
          </a:p>
        </p:txBody>
      </p:sp>
      <p:grpSp>
        <p:nvGrpSpPr>
          <p:cNvPr id="265" name="Google Shape;265;p7"/>
          <p:cNvGrpSpPr/>
          <p:nvPr/>
        </p:nvGrpSpPr>
        <p:grpSpPr>
          <a:xfrm>
            <a:off x="2442196" y="3736343"/>
            <a:ext cx="3831127" cy="309441"/>
            <a:chOff x="0" y="-28575"/>
            <a:chExt cx="5385335" cy="434975"/>
          </a:xfrm>
        </p:grpSpPr>
        <p:sp>
          <p:nvSpPr>
            <p:cNvPr id="266" name="Google Shape;266;p7"/>
            <p:cNvSpPr/>
            <p:nvPr/>
          </p:nvSpPr>
          <p:spPr>
            <a:xfrm>
              <a:off x="0" y="0"/>
              <a:ext cx="5385335" cy="406400"/>
            </a:xfrm>
            <a:custGeom>
              <a:rect b="b" l="l" r="r" t="t"/>
              <a:pathLst>
                <a:path extrusionOk="0" h="406400" w="5385335">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67" name="Google Shape;267;p7"/>
            <p:cNvSpPr txBox="1"/>
            <p:nvPr/>
          </p:nvSpPr>
          <p:spPr>
            <a:xfrm>
              <a:off x="0" y="-28575"/>
              <a:ext cx="5385335"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8" name="Google Shape;268;p7"/>
          <p:cNvSpPr txBox="1"/>
          <p:nvPr/>
        </p:nvSpPr>
        <p:spPr>
          <a:xfrm>
            <a:off x="2603597" y="3744080"/>
            <a:ext cx="35082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CHALLENGES</a:t>
            </a:r>
            <a:endParaRPr b="0" i="0" sz="700" u="none" cap="none" strike="noStrike">
              <a:solidFill>
                <a:srgbClr val="000000"/>
              </a:solidFill>
              <a:latin typeface="Arial"/>
              <a:ea typeface="Arial"/>
              <a:cs typeface="Arial"/>
              <a:sym typeface="Arial"/>
            </a:endParaRPr>
          </a:p>
        </p:txBody>
      </p:sp>
      <p:sp>
        <p:nvSpPr>
          <p:cNvPr id="269" name="Google Shape;269;p7"/>
          <p:cNvSpPr txBox="1"/>
          <p:nvPr/>
        </p:nvSpPr>
        <p:spPr>
          <a:xfrm>
            <a:off x="6525350" y="2845988"/>
            <a:ext cx="1864500" cy="1246800"/>
          </a:xfrm>
          <a:prstGeom prst="rect">
            <a:avLst/>
          </a:prstGeom>
          <a:noFill/>
          <a:ln>
            <a:noFill/>
          </a:ln>
        </p:spPr>
        <p:txBody>
          <a:bodyPr anchorCtr="0" anchor="t" bIns="0" lIns="0" spcFirstLastPara="1" rIns="0" wrap="square" tIns="0">
            <a:spAutoFit/>
          </a:bodyPr>
          <a:lstStyle/>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express his creativity and vision to others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develop a successful freelance business</a:t>
            </a:r>
            <a:endParaRPr b="0" i="0" sz="700" u="none" cap="none" strike="noStrike">
              <a:solidFill>
                <a:srgbClr val="000000"/>
              </a:solidFill>
              <a:latin typeface="Arial"/>
              <a:ea typeface="Arial"/>
              <a:cs typeface="Arial"/>
              <a:sym typeface="Arial"/>
            </a:endParaRPr>
          </a:p>
          <a:p>
            <a:pPr indent="-101600" lvl="1" marL="203200" marR="0" rtl="0" algn="l">
              <a:lnSpc>
                <a:spcPct val="142000"/>
              </a:lnSpc>
              <a:spcBef>
                <a:spcPts val="0"/>
              </a:spcBef>
              <a:spcAft>
                <a:spcPts val="0"/>
              </a:spcAft>
              <a:buClr>
                <a:srgbClr val="000000"/>
              </a:buClr>
              <a:buSzPts val="1000"/>
              <a:buFont typeface="Arial"/>
              <a:buChar char="•"/>
            </a:pPr>
            <a:r>
              <a:rPr b="0" i="0" lang="en-GB" sz="1000" u="none" cap="none" strike="noStrike">
                <a:solidFill>
                  <a:srgbClr val="000000"/>
                </a:solidFill>
                <a:latin typeface="Arial"/>
                <a:ea typeface="Arial"/>
                <a:cs typeface="Arial"/>
                <a:sym typeface="Arial"/>
              </a:rPr>
              <a:t>To find inspiration from the world around him</a:t>
            </a:r>
            <a:endParaRPr b="0" i="0" sz="700" u="none" cap="none" strike="noStrike">
              <a:solidFill>
                <a:srgbClr val="000000"/>
              </a:solidFill>
              <a:latin typeface="Arial"/>
              <a:ea typeface="Arial"/>
              <a:cs typeface="Arial"/>
              <a:sym typeface="Arial"/>
            </a:endParaRPr>
          </a:p>
        </p:txBody>
      </p:sp>
      <p:sp>
        <p:nvSpPr>
          <p:cNvPr id="270" name="Google Shape;270;p7"/>
          <p:cNvSpPr txBox="1"/>
          <p:nvPr/>
        </p:nvSpPr>
        <p:spPr>
          <a:xfrm>
            <a:off x="6562129" y="2487271"/>
            <a:ext cx="1864500" cy="2154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1400"/>
              <a:buFont typeface="Arial"/>
              <a:buNone/>
            </a:pPr>
            <a:r>
              <a:rPr b="1" i="0" lang="en-GB" sz="1400" u="none" cap="none" strike="noStrike">
                <a:solidFill>
                  <a:srgbClr val="BDFF72"/>
                </a:solidFill>
                <a:latin typeface="Arial"/>
                <a:ea typeface="Arial"/>
                <a:cs typeface="Arial"/>
                <a:sym typeface="Arial"/>
              </a:rPr>
              <a:t>GOALS AND NEEDS</a:t>
            </a:r>
            <a:endParaRPr b="0" i="0" sz="700" u="none" cap="none" strike="noStrike">
              <a:solidFill>
                <a:srgbClr val="000000"/>
              </a:solidFill>
              <a:latin typeface="Arial"/>
              <a:ea typeface="Arial"/>
              <a:cs typeface="Arial"/>
              <a:sym typeface="Arial"/>
            </a:endParaRPr>
          </a:p>
        </p:txBody>
      </p:sp>
      <p:grpSp>
        <p:nvGrpSpPr>
          <p:cNvPr id="271" name="Google Shape;271;p7"/>
          <p:cNvGrpSpPr/>
          <p:nvPr/>
        </p:nvGrpSpPr>
        <p:grpSpPr>
          <a:xfrm>
            <a:off x="261986" y="2905069"/>
            <a:ext cx="1486343" cy="472872"/>
            <a:chOff x="0" y="-82839"/>
            <a:chExt cx="3963580" cy="1260992"/>
          </a:xfrm>
        </p:grpSpPr>
        <p:grpSp>
          <p:nvGrpSpPr>
            <p:cNvPr id="272" name="Google Shape;272;p7"/>
            <p:cNvGrpSpPr/>
            <p:nvPr/>
          </p:nvGrpSpPr>
          <p:grpSpPr>
            <a:xfrm>
              <a:off x="0" y="-82839"/>
              <a:ext cx="3963580" cy="1260992"/>
              <a:chOff x="0" y="-28575"/>
              <a:chExt cx="1367224" cy="434975"/>
            </a:xfrm>
          </p:grpSpPr>
          <p:sp>
            <p:nvSpPr>
              <p:cNvPr id="273" name="Google Shape;273;p7"/>
              <p:cNvSpPr/>
              <p:nvPr/>
            </p:nvSpPr>
            <p:spPr>
              <a:xfrm>
                <a:off x="0" y="0"/>
                <a:ext cx="1367224" cy="406400"/>
              </a:xfrm>
              <a:custGeom>
                <a:rect b="b" l="l" r="r" t="t"/>
                <a:pathLst>
                  <a:path extrusionOk="0" h="406400" w="1367224">
                    <a:moveTo>
                      <a:pt x="1164024" y="0"/>
                    </a:moveTo>
                    <a:cubicBezTo>
                      <a:pt x="1276248" y="0"/>
                      <a:pt x="1367224" y="90976"/>
                      <a:pt x="1367224" y="203200"/>
                    </a:cubicBezTo>
                    <a:cubicBezTo>
                      <a:pt x="1367224" y="315424"/>
                      <a:pt x="1276248" y="406400"/>
                      <a:pt x="1164024" y="406400"/>
                    </a:cubicBezTo>
                    <a:lnTo>
                      <a:pt x="203200" y="406400"/>
                    </a:lnTo>
                    <a:cubicBezTo>
                      <a:pt x="90976" y="406400"/>
                      <a:pt x="0" y="315424"/>
                      <a:pt x="0" y="203200"/>
                    </a:cubicBezTo>
                    <a:cubicBezTo>
                      <a:pt x="0" y="90976"/>
                      <a:pt x="90976" y="0"/>
                      <a:pt x="203200" y="0"/>
                    </a:cubicBezTo>
                    <a:close/>
                  </a:path>
                </a:pathLst>
              </a:custGeom>
              <a:solidFill>
                <a:srgbClr val="BDFF72"/>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74" name="Google Shape;274;p7"/>
              <p:cNvSpPr txBox="1"/>
              <p:nvPr/>
            </p:nvSpPr>
            <p:spPr>
              <a:xfrm>
                <a:off x="0" y="-28575"/>
                <a:ext cx="1367224" cy="434975"/>
              </a:xfrm>
              <a:prstGeom prst="rect">
                <a:avLst/>
              </a:prstGeom>
              <a:noFill/>
              <a:ln>
                <a:noFill/>
              </a:ln>
            </p:spPr>
            <p:txBody>
              <a:bodyPr anchorCtr="0" anchor="ctr" bIns="25400" lIns="25400" spcFirstLastPara="1" rIns="25400" wrap="square" tIns="25400">
                <a:noAutofit/>
              </a:bodyPr>
              <a:lstStyle/>
              <a:p>
                <a:pPr indent="0" lvl="0" marL="0" marR="0" rtl="0" algn="ctr">
                  <a:lnSpc>
                    <a:spcPct val="1498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5" name="Google Shape;275;p7"/>
            <p:cNvSpPr txBox="1"/>
            <p:nvPr/>
          </p:nvSpPr>
          <p:spPr>
            <a:xfrm>
              <a:off x="346387" y="81113"/>
              <a:ext cx="3243000" cy="9030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2200"/>
                <a:buFont typeface="Arial"/>
                <a:buNone/>
              </a:pPr>
              <a:r>
                <a:rPr b="1" i="0" lang="en-GB" sz="2200" u="none" cap="none" strike="noStrike">
                  <a:solidFill>
                    <a:srgbClr val="012B1B"/>
                  </a:solidFill>
                  <a:latin typeface="Arial"/>
                  <a:ea typeface="Arial"/>
                  <a:cs typeface="Arial"/>
                  <a:sym typeface="Arial"/>
                </a:rPr>
                <a:t>DEREK</a:t>
              </a:r>
              <a:endParaRPr b="0" i="0" sz="700" u="none" cap="none" strike="noStrike">
                <a:solidFill>
                  <a:srgbClr val="000000"/>
                </a:solidFill>
                <a:latin typeface="Arial"/>
                <a:ea typeface="Arial"/>
                <a:cs typeface="Arial"/>
                <a:sym typeface="Arial"/>
              </a:endParaRPr>
            </a:p>
          </p:txBody>
        </p:sp>
      </p:grpSp>
      <p:pic>
        <p:nvPicPr>
          <p:cNvPr id="276" name="Google Shape;276;p7"/>
          <p:cNvPicPr preferRelativeResize="0"/>
          <p:nvPr/>
        </p:nvPicPr>
        <p:blipFill rotWithShape="1">
          <a:blip r:embed="rId3">
            <a:alphaModFix/>
          </a:blip>
          <a:srcRect b="40400" l="22973" r="17909" t="11713"/>
          <a:stretch/>
        </p:blipFill>
        <p:spPr>
          <a:xfrm>
            <a:off x="256786" y="992393"/>
            <a:ext cx="1486343" cy="1807080"/>
          </a:xfrm>
          <a:prstGeom prst="rect">
            <a:avLst/>
          </a:prstGeom>
          <a:noFill/>
          <a:ln>
            <a:noFill/>
          </a:ln>
        </p:spPr>
      </p:pic>
      <p:sp>
        <p:nvSpPr>
          <p:cNvPr id="277" name="Google Shape;277;p7"/>
          <p:cNvSpPr txBox="1"/>
          <p:nvPr/>
        </p:nvSpPr>
        <p:spPr>
          <a:xfrm>
            <a:off x="3905708" y="180241"/>
            <a:ext cx="36888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i="0" lang="en-GB" sz="3300" u="none" cap="none" strike="noStrike">
                <a:solidFill>
                  <a:schemeClr val="dk1"/>
                </a:solidFill>
                <a:latin typeface="Poppins"/>
                <a:ea typeface="Poppins"/>
                <a:cs typeface="Poppins"/>
                <a:sym typeface="Poppins"/>
              </a:rPr>
              <a:t>USER PERSONA 3</a:t>
            </a:r>
            <a:endParaRPr b="0" i="0" sz="700" u="none" cap="none" strike="noStrike">
              <a:solidFill>
                <a:srgbClr val="000000"/>
              </a:solidFill>
              <a:latin typeface="Arial"/>
              <a:ea typeface="Arial"/>
              <a:cs typeface="Arial"/>
              <a:sym typeface="Arial"/>
            </a:endParaRPr>
          </a:p>
        </p:txBody>
      </p:sp>
      <p:pic>
        <p:nvPicPr>
          <p:cNvPr id="278" name="Google Shape;278;p7" title="Witch Hunt finalized logo-modified.png"/>
          <p:cNvPicPr preferRelativeResize="0"/>
          <p:nvPr/>
        </p:nvPicPr>
        <p:blipFill rotWithShape="1">
          <a:blip r:embed="rId4">
            <a:alphaModFix/>
          </a:blip>
          <a:srcRect b="0" l="0" r="0" t="0"/>
          <a:stretch/>
        </p:blipFill>
        <p:spPr>
          <a:xfrm>
            <a:off x="129475" y="110938"/>
            <a:ext cx="680849" cy="680849"/>
          </a:xfrm>
          <a:prstGeom prst="rect">
            <a:avLst/>
          </a:prstGeom>
          <a:noFill/>
          <a:ln>
            <a:noFill/>
          </a:ln>
        </p:spPr>
      </p:pic>
      <p:sp>
        <p:nvSpPr>
          <p:cNvPr id="279" name="Google Shape;279;p7"/>
          <p:cNvSpPr txBox="1"/>
          <p:nvPr/>
        </p:nvSpPr>
        <p:spPr>
          <a:xfrm rot="-1716536">
            <a:off x="1218300" y="2828207"/>
            <a:ext cx="6263410" cy="430943"/>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your project details</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3" name="Shape 283"/>
        <p:cNvGrpSpPr/>
        <p:nvPr/>
      </p:nvGrpSpPr>
      <p:grpSpPr>
        <a:xfrm>
          <a:off x="0" y="0"/>
          <a:ext cx="0" cy="0"/>
          <a:chOff x="0" y="0"/>
          <a:chExt cx="0" cy="0"/>
        </a:xfrm>
      </p:grpSpPr>
      <p:sp>
        <p:nvSpPr>
          <p:cNvPr id="284" name="Google Shape;284;p8"/>
          <p:cNvSpPr txBox="1"/>
          <p:nvPr/>
        </p:nvSpPr>
        <p:spPr>
          <a:xfrm>
            <a:off x="139700" y="971550"/>
            <a:ext cx="3499800" cy="461700"/>
          </a:xfrm>
          <a:prstGeom prst="rect">
            <a:avLst/>
          </a:prstGeom>
          <a:noFill/>
          <a:ln>
            <a:noFill/>
          </a:ln>
        </p:spPr>
        <p:txBody>
          <a:bodyPr anchorCtr="0" anchor="t" bIns="0" lIns="0" spcFirstLastPara="1" rIns="0" wrap="square" tIns="0">
            <a:spAutoFit/>
          </a:bodyPr>
          <a:lstStyle/>
          <a:p>
            <a:pPr indent="0" lvl="0" marL="0" marR="0" rtl="0" algn="l">
              <a:lnSpc>
                <a:spcPct val="124666"/>
              </a:lnSpc>
              <a:spcBef>
                <a:spcPts val="0"/>
              </a:spcBef>
              <a:spcAft>
                <a:spcPts val="0"/>
              </a:spcAft>
              <a:buClr>
                <a:srgbClr val="000000"/>
              </a:buClr>
              <a:buSzPts val="3000"/>
              <a:buFont typeface="Arial"/>
              <a:buNone/>
            </a:pPr>
            <a:r>
              <a:rPr b="1" i="0" lang="en-GB" sz="3000" u="none" cap="none" strike="noStrike">
                <a:solidFill>
                  <a:srgbClr val="FBF9F1"/>
                </a:solidFill>
                <a:latin typeface="Poppins"/>
                <a:ea typeface="Poppins"/>
                <a:cs typeface="Poppins"/>
                <a:sym typeface="Poppins"/>
              </a:rPr>
              <a:t>Our Solution</a:t>
            </a:r>
            <a:endParaRPr b="0" i="0" sz="700" u="none" cap="none" strike="noStrike">
              <a:solidFill>
                <a:srgbClr val="000000"/>
              </a:solidFill>
              <a:latin typeface="Arial"/>
              <a:ea typeface="Arial"/>
              <a:cs typeface="Arial"/>
              <a:sym typeface="Arial"/>
            </a:endParaRPr>
          </a:p>
        </p:txBody>
      </p:sp>
      <p:sp>
        <p:nvSpPr>
          <p:cNvPr id="285" name="Google Shape;285;p8"/>
          <p:cNvSpPr txBox="1"/>
          <p:nvPr/>
        </p:nvSpPr>
        <p:spPr>
          <a:xfrm>
            <a:off x="162800" y="1526300"/>
            <a:ext cx="3878400" cy="44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00"/>
              <a:buFont typeface="Arial"/>
              <a:buNone/>
            </a:pPr>
            <a:r>
              <a:rPr b="1" i="0" lang="en-GB" sz="1200" u="none" cap="none" strike="noStrike">
                <a:solidFill>
                  <a:schemeClr val="lt1"/>
                </a:solidFill>
                <a:latin typeface="Poppins"/>
                <a:ea typeface="Poppins"/>
                <a:cs typeface="Poppins"/>
                <a:sym typeface="Poppins"/>
              </a:rPr>
              <a:t>For which Persona you are providing  the solution for  </a:t>
            </a:r>
            <a:endParaRPr b="1" i="0" sz="1200" u="none" cap="none" strike="noStrike">
              <a:solidFill>
                <a:schemeClr val="lt1"/>
              </a:solidFill>
              <a:latin typeface="Poppins"/>
              <a:ea typeface="Poppins"/>
              <a:cs typeface="Poppins"/>
              <a:sym typeface="Poppins"/>
            </a:endParaRPr>
          </a:p>
        </p:txBody>
      </p:sp>
      <p:sp>
        <p:nvSpPr>
          <p:cNvPr id="286" name="Google Shape;286;p8"/>
          <p:cNvSpPr/>
          <p:nvPr/>
        </p:nvSpPr>
        <p:spPr>
          <a:xfrm>
            <a:off x="149186" y="2114550"/>
            <a:ext cx="2298932" cy="2360018"/>
          </a:xfrm>
          <a:custGeom>
            <a:rect b="b" l="l" r="r" t="t"/>
            <a:pathLst>
              <a:path extrusionOk="0" h="4720037" w="4597864">
                <a:moveTo>
                  <a:pt x="0" y="0"/>
                </a:moveTo>
                <a:lnTo>
                  <a:pt x="4597864" y="0"/>
                </a:lnTo>
                <a:lnTo>
                  <a:pt x="4597864" y="4720037"/>
                </a:lnTo>
                <a:lnTo>
                  <a:pt x="0" y="4720037"/>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87" name="Google Shape;287;p8"/>
          <p:cNvSpPr/>
          <p:nvPr/>
        </p:nvSpPr>
        <p:spPr>
          <a:xfrm>
            <a:off x="4276844" y="565029"/>
            <a:ext cx="228600" cy="230327"/>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88" name="Google Shape;288;p8"/>
          <p:cNvSpPr/>
          <p:nvPr/>
        </p:nvSpPr>
        <p:spPr>
          <a:xfrm>
            <a:off x="4271144" y="1245839"/>
            <a:ext cx="228600" cy="230327"/>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289" name="Google Shape;289;p8"/>
          <p:cNvGrpSpPr/>
          <p:nvPr/>
        </p:nvGrpSpPr>
        <p:grpSpPr>
          <a:xfrm rot="5400000">
            <a:off x="2245079" y="2466777"/>
            <a:ext cx="4364465" cy="413136"/>
            <a:chOff x="0" y="-38100"/>
            <a:chExt cx="2299023" cy="217623"/>
          </a:xfrm>
        </p:grpSpPr>
        <p:sp>
          <p:nvSpPr>
            <p:cNvPr id="290" name="Google Shape;290;p8"/>
            <p:cNvSpPr/>
            <p:nvPr/>
          </p:nvSpPr>
          <p:spPr>
            <a:xfrm>
              <a:off x="0" y="0"/>
              <a:ext cx="2299023" cy="179523"/>
            </a:xfrm>
            <a:custGeom>
              <a:rect b="b" l="l" r="r" t="t"/>
              <a:pathLst>
                <a:path extrusionOk="0"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cap="rnd" cmpd="sng" w="38100">
              <a:solidFill>
                <a:srgbClr val="E5E1DA"/>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91" name="Google Shape;291;p8"/>
            <p:cNvSpPr txBox="1"/>
            <p:nvPr/>
          </p:nvSpPr>
          <p:spPr>
            <a:xfrm>
              <a:off x="0" y="-38100"/>
              <a:ext cx="2298900" cy="217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92" name="Google Shape;292;p8"/>
          <p:cNvSpPr/>
          <p:nvPr/>
        </p:nvSpPr>
        <p:spPr>
          <a:xfrm>
            <a:off x="4284905" y="3958973"/>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93" name="Google Shape;293;p8"/>
          <p:cNvSpPr/>
          <p:nvPr/>
        </p:nvSpPr>
        <p:spPr>
          <a:xfrm>
            <a:off x="4280353" y="2659988"/>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294" name="Google Shape;294;p8"/>
          <p:cNvGrpSpPr/>
          <p:nvPr/>
        </p:nvGrpSpPr>
        <p:grpSpPr>
          <a:xfrm>
            <a:off x="4813085" y="1033926"/>
            <a:ext cx="4223166" cy="2970470"/>
            <a:chOff x="10759755" y="2512195"/>
            <a:chExt cx="5216362" cy="3402600"/>
          </a:xfrm>
        </p:grpSpPr>
        <p:grpSp>
          <p:nvGrpSpPr>
            <p:cNvPr id="295" name="Google Shape;295;p8"/>
            <p:cNvGrpSpPr/>
            <p:nvPr/>
          </p:nvGrpSpPr>
          <p:grpSpPr>
            <a:xfrm>
              <a:off x="10759755" y="2874767"/>
              <a:ext cx="821253" cy="830877"/>
              <a:chOff x="0" y="-9525"/>
              <a:chExt cx="812800" cy="822325"/>
            </a:xfrm>
          </p:grpSpPr>
          <p:sp>
            <p:nvSpPr>
              <p:cNvPr id="296" name="Google Shape;296;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297" name="Google Shape;297;p8"/>
              <p:cNvSpPr txBox="1"/>
              <p:nvPr/>
            </p:nvSpPr>
            <p:spPr>
              <a:xfrm>
                <a:off x="76200" y="-9525"/>
                <a:ext cx="660300" cy="746100"/>
              </a:xfrm>
              <a:prstGeom prst="rect">
                <a:avLst/>
              </a:prstGeom>
              <a:noFill/>
              <a:ln>
                <a:noFill/>
              </a:ln>
            </p:spPr>
            <p:txBody>
              <a:bodyPr anchorCtr="0" anchor="ctr" bIns="32625" lIns="32625" spcFirstLastPara="1" rIns="32625" wrap="square" tIns="32625">
                <a:noAutofit/>
              </a:bodyPr>
              <a:lstStyle/>
              <a:p>
                <a:pPr indent="0" lvl="0" marL="0" marR="0" rtl="0" algn="ctr">
                  <a:lnSpc>
                    <a:spcPct val="124388"/>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grpSp>
        <p:sp>
          <p:nvSpPr>
            <p:cNvPr id="298" name="Google Shape;298;p8"/>
            <p:cNvSpPr/>
            <p:nvPr/>
          </p:nvSpPr>
          <p:spPr>
            <a:xfrm>
              <a:off x="11041601" y="3097331"/>
              <a:ext cx="213516" cy="263929"/>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299" name="Google Shape;299;p8"/>
            <p:cNvSpPr txBox="1"/>
            <p:nvPr/>
          </p:nvSpPr>
          <p:spPr>
            <a:xfrm>
              <a:off x="11694217" y="2512195"/>
              <a:ext cx="4281900" cy="3402600"/>
            </a:xfrm>
            <a:prstGeom prst="rect">
              <a:avLst/>
            </a:prstGeom>
            <a:noFill/>
            <a:ln>
              <a:noFill/>
            </a:ln>
          </p:spPr>
          <p:txBody>
            <a:bodyPr anchorCtr="0" anchor="t" bIns="0" lIns="0" spcFirstLastPara="1" rIns="0" wrap="square" tIns="0">
              <a:spAutoFit/>
            </a:bodyPr>
            <a:lstStyle/>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What do you plan to build ?</a:t>
              </a:r>
              <a:endParaRPr sz="1284">
                <a:solidFill>
                  <a:schemeClr val="lt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284">
                <a:solidFill>
                  <a:schemeClr val="lt1"/>
                </a:solidFill>
                <a:latin typeface="Poppins"/>
                <a:ea typeface="Poppins"/>
                <a:cs typeface="Poppins"/>
                <a:sym typeface="Poppins"/>
              </a:endParaRPr>
            </a:p>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Who it is for ?</a:t>
              </a:r>
              <a:endParaRPr sz="1284">
                <a:solidFill>
                  <a:schemeClr val="lt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284">
                <a:solidFill>
                  <a:schemeClr val="lt1"/>
                </a:solidFill>
                <a:latin typeface="Poppins"/>
                <a:ea typeface="Poppins"/>
                <a:cs typeface="Poppins"/>
                <a:sym typeface="Poppins"/>
              </a:endParaRPr>
            </a:p>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What problem does it addresses ?</a:t>
              </a:r>
              <a:endParaRPr sz="1284">
                <a:solidFill>
                  <a:schemeClr val="lt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284">
                <a:solidFill>
                  <a:schemeClr val="lt1"/>
                </a:solidFill>
                <a:latin typeface="Poppins"/>
                <a:ea typeface="Poppins"/>
                <a:cs typeface="Poppins"/>
                <a:sym typeface="Poppins"/>
              </a:endParaRPr>
            </a:p>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How it would work in the real world ?</a:t>
              </a:r>
              <a:endParaRPr sz="1284">
                <a:solidFill>
                  <a:schemeClr val="lt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284">
                <a:solidFill>
                  <a:schemeClr val="lt1"/>
                </a:solidFill>
                <a:latin typeface="Poppins"/>
                <a:ea typeface="Poppins"/>
                <a:cs typeface="Poppins"/>
                <a:sym typeface="Poppins"/>
              </a:endParaRPr>
            </a:p>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What impact would create ?</a:t>
              </a:r>
              <a:endParaRPr sz="1284">
                <a:solidFill>
                  <a:schemeClr val="lt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284">
                <a:solidFill>
                  <a:schemeClr val="lt1"/>
                </a:solidFill>
                <a:latin typeface="Poppins"/>
                <a:ea typeface="Poppins"/>
                <a:cs typeface="Poppins"/>
                <a:sym typeface="Poppins"/>
              </a:endParaRPr>
            </a:p>
            <a:p>
              <a:pPr indent="0" lvl="0" marL="0" rtl="0" algn="l">
                <a:lnSpc>
                  <a:spcPct val="138000"/>
                </a:lnSpc>
                <a:spcBef>
                  <a:spcPts val="0"/>
                </a:spcBef>
                <a:spcAft>
                  <a:spcPts val="0"/>
                </a:spcAft>
                <a:buClr>
                  <a:schemeClr val="dk1"/>
                </a:buClr>
                <a:buSzPts val="1100"/>
                <a:buFont typeface="Arial"/>
                <a:buNone/>
              </a:pPr>
              <a:r>
                <a:rPr lang="en-GB" sz="1284">
                  <a:solidFill>
                    <a:schemeClr val="lt1"/>
                  </a:solidFill>
                  <a:latin typeface="Poppins"/>
                  <a:ea typeface="Poppins"/>
                  <a:cs typeface="Poppins"/>
                  <a:sym typeface="Poppins"/>
                </a:rPr>
                <a:t>Why it is worth building ?</a:t>
              </a:r>
              <a:endParaRPr sz="1284">
                <a:solidFill>
                  <a:schemeClr val="lt1"/>
                </a:solidFill>
                <a:latin typeface="Poppins"/>
                <a:ea typeface="Poppins"/>
                <a:cs typeface="Poppins"/>
                <a:sym typeface="Poppins"/>
              </a:endParaRPr>
            </a:p>
            <a:p>
              <a:pPr indent="0" lvl="0" marL="0" marR="0" rtl="0" algn="l">
                <a:lnSpc>
                  <a:spcPct val="140000"/>
                </a:lnSpc>
                <a:spcBef>
                  <a:spcPts val="0"/>
                </a:spcBef>
                <a:spcAft>
                  <a:spcPts val="0"/>
                </a:spcAft>
                <a:buClr>
                  <a:srgbClr val="000000"/>
                </a:buClr>
                <a:buSzPts val="1284"/>
                <a:buFont typeface="Arial"/>
                <a:buNone/>
              </a:pPr>
              <a:r>
                <a:t/>
              </a:r>
              <a:endParaRPr sz="1284">
                <a:solidFill>
                  <a:schemeClr val="lt1"/>
                </a:solidFill>
                <a:latin typeface="Poppins"/>
                <a:ea typeface="Poppins"/>
                <a:cs typeface="Poppins"/>
                <a:sym typeface="Poppins"/>
              </a:endParaRPr>
            </a:p>
          </p:txBody>
        </p:sp>
      </p:grpSp>
      <p:sp>
        <p:nvSpPr>
          <p:cNvPr id="300" name="Google Shape;300;p8"/>
          <p:cNvSpPr/>
          <p:nvPr/>
        </p:nvSpPr>
        <p:spPr>
          <a:xfrm>
            <a:off x="5019202" y="1087238"/>
            <a:ext cx="229332" cy="230321"/>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01" name="Google Shape;301;p8"/>
          <p:cNvSpPr/>
          <p:nvPr/>
        </p:nvSpPr>
        <p:spPr>
          <a:xfrm>
            <a:off x="5019202" y="1969700"/>
            <a:ext cx="229332" cy="230320"/>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02" name="Google Shape;302;p8"/>
          <p:cNvSpPr/>
          <p:nvPr/>
        </p:nvSpPr>
        <p:spPr>
          <a:xfrm>
            <a:off x="5019202" y="2558188"/>
            <a:ext cx="229332" cy="230320"/>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03" name="Google Shape;303;p8"/>
          <p:cNvSpPr/>
          <p:nvPr/>
        </p:nvSpPr>
        <p:spPr>
          <a:xfrm>
            <a:off x="5019202" y="3040313"/>
            <a:ext cx="229332" cy="230320"/>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04" name="Google Shape;304;p8"/>
          <p:cNvSpPr/>
          <p:nvPr/>
        </p:nvSpPr>
        <p:spPr>
          <a:xfrm>
            <a:off x="5019202" y="3522438"/>
            <a:ext cx="229332" cy="230321"/>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5">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8" name="Shape 308"/>
        <p:cNvGrpSpPr/>
        <p:nvPr/>
      </p:nvGrpSpPr>
      <p:grpSpPr>
        <a:xfrm>
          <a:off x="0" y="0"/>
          <a:ext cx="0" cy="0"/>
          <a:chOff x="0" y="0"/>
          <a:chExt cx="0" cy="0"/>
        </a:xfrm>
      </p:grpSpPr>
      <p:sp>
        <p:nvSpPr>
          <p:cNvPr id="309" name="Google Shape;309;p9"/>
          <p:cNvSpPr txBox="1"/>
          <p:nvPr/>
        </p:nvSpPr>
        <p:spPr>
          <a:xfrm>
            <a:off x="76200" y="95250"/>
            <a:ext cx="4876800" cy="464038"/>
          </a:xfrm>
          <a:prstGeom prst="rect">
            <a:avLst/>
          </a:prstGeom>
          <a:noFill/>
          <a:ln>
            <a:noFill/>
          </a:ln>
        </p:spPr>
        <p:txBody>
          <a:bodyPr anchorCtr="0" anchor="t" bIns="0" lIns="0" spcFirstLastPara="1" rIns="0" wrap="square" tIns="0">
            <a:spAutoFit/>
          </a:bodyPr>
          <a:lstStyle/>
          <a:p>
            <a:pPr indent="0" lvl="0" marL="0" marR="0" rtl="0" algn="l">
              <a:lnSpc>
                <a:spcPct val="124666"/>
              </a:lnSpc>
              <a:spcBef>
                <a:spcPts val="0"/>
              </a:spcBef>
              <a:spcAft>
                <a:spcPts val="0"/>
              </a:spcAft>
              <a:buClr>
                <a:srgbClr val="000000"/>
              </a:buClr>
              <a:buSzPts val="3000"/>
              <a:buFont typeface="Arial"/>
              <a:buNone/>
            </a:pPr>
            <a:r>
              <a:rPr b="1" i="0" lang="en-GB" sz="3000" u="none" cap="none" strike="noStrike">
                <a:solidFill>
                  <a:schemeClr val="lt1"/>
                </a:solidFill>
                <a:latin typeface="Arial"/>
                <a:ea typeface="Arial"/>
                <a:cs typeface="Arial"/>
                <a:sym typeface="Arial"/>
              </a:rPr>
              <a:t>Our Solution Continue </a:t>
            </a:r>
            <a:endParaRPr b="0" i="0" sz="700" u="none" cap="none" strike="noStrike">
              <a:solidFill>
                <a:srgbClr val="000000"/>
              </a:solidFill>
              <a:latin typeface="Arial"/>
              <a:ea typeface="Arial"/>
              <a:cs typeface="Arial"/>
              <a:sym typeface="Arial"/>
            </a:endParaRPr>
          </a:p>
        </p:txBody>
      </p:sp>
      <p:sp>
        <p:nvSpPr>
          <p:cNvPr id="310" name="Google Shape;310;p9"/>
          <p:cNvSpPr/>
          <p:nvPr/>
        </p:nvSpPr>
        <p:spPr>
          <a:xfrm>
            <a:off x="85686" y="1238250"/>
            <a:ext cx="2298932" cy="2360018"/>
          </a:xfrm>
          <a:custGeom>
            <a:rect b="b" l="l" r="r" t="t"/>
            <a:pathLst>
              <a:path extrusionOk="0" h="4720037" w="4597864">
                <a:moveTo>
                  <a:pt x="0" y="0"/>
                </a:moveTo>
                <a:lnTo>
                  <a:pt x="4597864" y="0"/>
                </a:lnTo>
                <a:lnTo>
                  <a:pt x="4597864" y="4720037"/>
                </a:lnTo>
                <a:lnTo>
                  <a:pt x="0" y="4720037"/>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16" name="Google Shape;316;p10"/>
          <p:cNvGrpSpPr/>
          <p:nvPr/>
        </p:nvGrpSpPr>
        <p:grpSpPr>
          <a:xfrm>
            <a:off x="-673925" y="-53427"/>
            <a:ext cx="10491851" cy="5250355"/>
            <a:chOff x="0" y="0"/>
            <a:chExt cx="27978270" cy="14000945"/>
          </a:xfrm>
        </p:grpSpPr>
        <p:sp>
          <p:nvSpPr>
            <p:cNvPr id="317" name="Google Shape;317;p10"/>
            <p:cNvSpPr/>
            <p:nvPr/>
          </p:nvSpPr>
          <p:spPr>
            <a:xfrm>
              <a:off x="0" y="0"/>
              <a:ext cx="14000945" cy="14000945"/>
            </a:xfrm>
            <a:custGeom>
              <a:rect b="b" l="l" r="r" t="t"/>
              <a:pathLst>
                <a:path extrusionOk="0" h="14000945" w="14000945">
                  <a:moveTo>
                    <a:pt x="0" y="0"/>
                  </a:moveTo>
                  <a:lnTo>
                    <a:pt x="14000945" y="0"/>
                  </a:lnTo>
                  <a:lnTo>
                    <a:pt x="14000945" y="14000945"/>
                  </a:lnTo>
                  <a:lnTo>
                    <a:pt x="0" y="14000945"/>
                  </a:lnTo>
                  <a:lnTo>
                    <a:pt x="0" y="0"/>
                  </a:lnTo>
                  <a:close/>
                </a:path>
              </a:pathLst>
            </a:custGeom>
            <a:blipFill rotWithShape="1">
              <a:blip r:embed="rId4">
                <a:alphaModFix amt="15000"/>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18" name="Google Shape;318;p10"/>
            <p:cNvSpPr/>
            <p:nvPr/>
          </p:nvSpPr>
          <p:spPr>
            <a:xfrm>
              <a:off x="13977325" y="0"/>
              <a:ext cx="14000945" cy="14000945"/>
            </a:xfrm>
            <a:custGeom>
              <a:rect b="b" l="l" r="r" t="t"/>
              <a:pathLst>
                <a:path extrusionOk="0" h="14000945" w="14000945">
                  <a:moveTo>
                    <a:pt x="0" y="0"/>
                  </a:moveTo>
                  <a:lnTo>
                    <a:pt x="14000945" y="0"/>
                  </a:lnTo>
                  <a:lnTo>
                    <a:pt x="14000945" y="14000945"/>
                  </a:lnTo>
                  <a:lnTo>
                    <a:pt x="0" y="14000945"/>
                  </a:lnTo>
                  <a:lnTo>
                    <a:pt x="0" y="0"/>
                  </a:lnTo>
                  <a:close/>
                </a:path>
              </a:pathLst>
            </a:custGeom>
            <a:blipFill rotWithShape="1">
              <a:blip r:embed="rId4">
                <a:alphaModFix amt="15000"/>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9" name="Google Shape;319;p10"/>
          <p:cNvGrpSpPr/>
          <p:nvPr/>
        </p:nvGrpSpPr>
        <p:grpSpPr>
          <a:xfrm>
            <a:off x="4457052" y="955310"/>
            <a:ext cx="1787164" cy="459422"/>
            <a:chOff x="0" y="-38100"/>
            <a:chExt cx="1315425" cy="338154"/>
          </a:xfrm>
        </p:grpSpPr>
        <p:sp>
          <p:nvSpPr>
            <p:cNvPr id="320" name="Google Shape;320;p10"/>
            <p:cNvSpPr/>
            <p:nvPr/>
          </p:nvSpPr>
          <p:spPr>
            <a:xfrm>
              <a:off x="0" y="0"/>
              <a:ext cx="1315425" cy="300054"/>
            </a:xfrm>
            <a:custGeom>
              <a:rect b="b" l="l" r="r" t="t"/>
              <a:pathLst>
                <a:path extrusionOk="0" h="300054" w="1315425">
                  <a:moveTo>
                    <a:pt x="110465" y="0"/>
                  </a:moveTo>
                  <a:lnTo>
                    <a:pt x="1204960" y="0"/>
                  </a:lnTo>
                  <a:cubicBezTo>
                    <a:pt x="1234257" y="0"/>
                    <a:pt x="1262354" y="11638"/>
                    <a:pt x="1283070" y="32354"/>
                  </a:cubicBezTo>
                  <a:cubicBezTo>
                    <a:pt x="1303787" y="53071"/>
                    <a:pt x="1315425" y="81168"/>
                    <a:pt x="1315425" y="110465"/>
                  </a:cubicBezTo>
                  <a:lnTo>
                    <a:pt x="1315425" y="189589"/>
                  </a:lnTo>
                  <a:cubicBezTo>
                    <a:pt x="1315425" y="218886"/>
                    <a:pt x="1303787" y="246983"/>
                    <a:pt x="1283070" y="267699"/>
                  </a:cubicBezTo>
                  <a:cubicBezTo>
                    <a:pt x="1262354" y="288415"/>
                    <a:pt x="1234257" y="300054"/>
                    <a:pt x="1204960" y="300054"/>
                  </a:cubicBezTo>
                  <a:lnTo>
                    <a:pt x="110465" y="300054"/>
                  </a:lnTo>
                  <a:cubicBezTo>
                    <a:pt x="81168" y="300054"/>
                    <a:pt x="53071" y="288415"/>
                    <a:pt x="32354" y="267699"/>
                  </a:cubicBezTo>
                  <a:cubicBezTo>
                    <a:pt x="11638" y="246983"/>
                    <a:pt x="0" y="218886"/>
                    <a:pt x="0" y="189589"/>
                  </a:cubicBezTo>
                  <a:lnTo>
                    <a:pt x="0" y="110465"/>
                  </a:lnTo>
                  <a:cubicBezTo>
                    <a:pt x="0" y="81168"/>
                    <a:pt x="11638" y="53071"/>
                    <a:pt x="32354" y="32354"/>
                  </a:cubicBezTo>
                  <a:cubicBezTo>
                    <a:pt x="53071" y="11638"/>
                    <a:pt x="81168" y="0"/>
                    <a:pt x="110465"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1" name="Google Shape;321;p10"/>
            <p:cNvSpPr txBox="1"/>
            <p:nvPr/>
          </p:nvSpPr>
          <p:spPr>
            <a:xfrm>
              <a:off x="0" y="-38100"/>
              <a:ext cx="1315425" cy="338154"/>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22" name="Google Shape;322;p10"/>
          <p:cNvSpPr/>
          <p:nvPr/>
        </p:nvSpPr>
        <p:spPr>
          <a:xfrm>
            <a:off x="705212" y="840407"/>
            <a:ext cx="3281053" cy="3296020"/>
          </a:xfrm>
          <a:custGeom>
            <a:rect b="b" l="l" r="r" t="t"/>
            <a:pathLst>
              <a:path extrusionOk="0" h="1021280" w="1016642">
                <a:moveTo>
                  <a:pt x="0" y="0"/>
                </a:moveTo>
                <a:lnTo>
                  <a:pt x="1016642" y="0"/>
                </a:lnTo>
                <a:lnTo>
                  <a:pt x="1016642" y="1021280"/>
                </a:lnTo>
                <a:lnTo>
                  <a:pt x="0" y="1021280"/>
                </a:lnTo>
                <a:close/>
              </a:path>
            </a:pathLst>
          </a:custGeom>
          <a:blipFill rotWithShape="1">
            <a:blip r:embed="rId5">
              <a:alphaModFix/>
            </a:blip>
            <a:stretch>
              <a:fillRect b="-12212" l="0" r="0" t="-12213"/>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3" name="Google Shape;323;p10"/>
          <p:cNvSpPr txBox="1"/>
          <p:nvPr/>
        </p:nvSpPr>
        <p:spPr>
          <a:xfrm>
            <a:off x="4457053" y="1641917"/>
            <a:ext cx="4312796" cy="1511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800"/>
              <a:buFont typeface="Arial"/>
              <a:buNone/>
            </a:pPr>
            <a:r>
              <a:rPr b="1" i="0" lang="en-GB" sz="5800" u="none" cap="none" strike="noStrike">
                <a:solidFill>
                  <a:srgbClr val="FFFFFF"/>
                </a:solidFill>
                <a:latin typeface="DM Sans"/>
                <a:ea typeface="DM Sans"/>
                <a:cs typeface="DM Sans"/>
                <a:sym typeface="DM Sans"/>
              </a:rPr>
              <a:t>Artificial Intelligence</a:t>
            </a:r>
            <a:endParaRPr b="0" i="0" sz="700" u="none" cap="none" strike="noStrike">
              <a:solidFill>
                <a:srgbClr val="000000"/>
              </a:solidFill>
              <a:latin typeface="Arial"/>
              <a:ea typeface="Arial"/>
              <a:cs typeface="Arial"/>
              <a:sym typeface="Arial"/>
            </a:endParaRPr>
          </a:p>
        </p:txBody>
      </p:sp>
      <p:sp>
        <p:nvSpPr>
          <p:cNvPr id="324" name="Google Shape;324;p10"/>
          <p:cNvSpPr txBox="1"/>
          <p:nvPr/>
        </p:nvSpPr>
        <p:spPr>
          <a:xfrm>
            <a:off x="4457053" y="3463592"/>
            <a:ext cx="3574327" cy="67283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00"/>
              <a:buFont typeface="Arial"/>
              <a:buNone/>
            </a:pPr>
            <a:r>
              <a:rPr b="0" i="0" lang="en-GB" sz="1100" u="none" cap="none" strike="noStrike">
                <a:solidFill>
                  <a:srgbClr val="FFFFFF"/>
                </a:solidFill>
                <a:latin typeface="DM Sans"/>
                <a:ea typeface="DM Sans"/>
                <a:cs typeface="DM Sans"/>
                <a:sym typeface="DM Sans"/>
              </a:rPr>
              <a:t>AI can automate repetitive tasks, saving time and resources, AI reduces human error in data analysis and decision-making, AI drives innovation by enabling new technologies and applications.</a:t>
            </a:r>
            <a:endParaRPr b="0" i="0" sz="700" u="none" cap="none" strike="noStrike">
              <a:solidFill>
                <a:srgbClr val="000000"/>
              </a:solidFill>
              <a:latin typeface="Arial"/>
              <a:ea typeface="Arial"/>
              <a:cs typeface="Arial"/>
              <a:sym typeface="Arial"/>
            </a:endParaRPr>
          </a:p>
        </p:txBody>
      </p:sp>
      <p:sp>
        <p:nvSpPr>
          <p:cNvPr id="325" name="Google Shape;325;p10"/>
          <p:cNvSpPr txBox="1"/>
          <p:nvPr/>
        </p:nvSpPr>
        <p:spPr>
          <a:xfrm>
            <a:off x="4558196" y="1115154"/>
            <a:ext cx="1584877" cy="2295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FFFFFF"/>
                </a:solidFill>
                <a:latin typeface="DM Sans"/>
                <a:ea typeface="DM Sans"/>
                <a:cs typeface="DM Sans"/>
                <a:sym typeface="DM Sans"/>
              </a:rPr>
              <a:t>USE of</a:t>
            </a:r>
            <a:endParaRPr b="0" i="0" sz="700" u="none" cap="none" strike="noStrike">
              <a:solidFill>
                <a:srgbClr val="000000"/>
              </a:solidFill>
              <a:latin typeface="Arial"/>
              <a:ea typeface="Arial"/>
              <a:cs typeface="Arial"/>
              <a:sym typeface="Arial"/>
            </a:endParaRPr>
          </a:p>
        </p:txBody>
      </p:sp>
      <p:sp>
        <p:nvSpPr>
          <p:cNvPr id="326" name="Google Shape;326;p10"/>
          <p:cNvSpPr txBox="1"/>
          <p:nvPr/>
        </p:nvSpPr>
        <p:spPr>
          <a:xfrm rot="-1716536">
            <a:off x="1614350" y="2058896"/>
            <a:ext cx="6263410" cy="677288"/>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how your proposed solution leverages AI</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7" l="0" r="0" t="-9219"/>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32" name="Google Shape;332;p11"/>
          <p:cNvGrpSpPr/>
          <p:nvPr/>
        </p:nvGrpSpPr>
        <p:grpSpPr>
          <a:xfrm>
            <a:off x="-673925" y="-53427"/>
            <a:ext cx="10491851" cy="5250355"/>
            <a:chOff x="0" y="0"/>
            <a:chExt cx="27978270" cy="14000945"/>
          </a:xfrm>
        </p:grpSpPr>
        <p:sp>
          <p:nvSpPr>
            <p:cNvPr id="333" name="Google Shape;333;p11"/>
            <p:cNvSpPr/>
            <p:nvPr/>
          </p:nvSpPr>
          <p:spPr>
            <a:xfrm>
              <a:off x="0" y="0"/>
              <a:ext cx="14000945" cy="14000945"/>
            </a:xfrm>
            <a:custGeom>
              <a:rect b="b" l="l" r="r" t="t"/>
              <a:pathLst>
                <a:path extrusionOk="0" h="14000945" w="14000945">
                  <a:moveTo>
                    <a:pt x="0" y="0"/>
                  </a:moveTo>
                  <a:lnTo>
                    <a:pt x="14000945" y="0"/>
                  </a:lnTo>
                  <a:lnTo>
                    <a:pt x="14000945" y="14000945"/>
                  </a:lnTo>
                  <a:lnTo>
                    <a:pt x="0" y="14000945"/>
                  </a:lnTo>
                  <a:lnTo>
                    <a:pt x="0" y="0"/>
                  </a:lnTo>
                  <a:close/>
                </a:path>
              </a:pathLst>
            </a:custGeom>
            <a:blipFill rotWithShape="1">
              <a:blip r:embed="rId4">
                <a:alphaModFix amt="15000"/>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34" name="Google Shape;334;p11"/>
            <p:cNvSpPr/>
            <p:nvPr/>
          </p:nvSpPr>
          <p:spPr>
            <a:xfrm>
              <a:off x="13977325" y="0"/>
              <a:ext cx="14000945" cy="14000945"/>
            </a:xfrm>
            <a:custGeom>
              <a:rect b="b" l="l" r="r" t="t"/>
              <a:pathLst>
                <a:path extrusionOk="0" h="14000945" w="14000945">
                  <a:moveTo>
                    <a:pt x="0" y="0"/>
                  </a:moveTo>
                  <a:lnTo>
                    <a:pt x="14000945" y="0"/>
                  </a:lnTo>
                  <a:lnTo>
                    <a:pt x="14000945" y="14000945"/>
                  </a:lnTo>
                  <a:lnTo>
                    <a:pt x="0" y="14000945"/>
                  </a:lnTo>
                  <a:lnTo>
                    <a:pt x="0" y="0"/>
                  </a:lnTo>
                  <a:close/>
                </a:path>
              </a:pathLst>
            </a:custGeom>
            <a:blipFill rotWithShape="1">
              <a:blip r:embed="rId4">
                <a:alphaModFix amt="15000"/>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35" name="Google Shape;335;p11"/>
          <p:cNvSpPr txBox="1"/>
          <p:nvPr/>
        </p:nvSpPr>
        <p:spPr>
          <a:xfrm>
            <a:off x="514350" y="3191388"/>
            <a:ext cx="4312797" cy="1511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800"/>
              <a:buFont typeface="Arial"/>
              <a:buNone/>
            </a:pPr>
            <a:r>
              <a:rPr b="1" i="0" lang="en-GB" sz="5800" u="none" cap="none" strike="noStrike">
                <a:solidFill>
                  <a:srgbClr val="FFFFFF"/>
                </a:solidFill>
                <a:latin typeface="DM Sans"/>
                <a:ea typeface="DM Sans"/>
                <a:cs typeface="DM Sans"/>
                <a:sym typeface="DM Sans"/>
              </a:rPr>
              <a:t>Challenges and Risks</a:t>
            </a:r>
            <a:endParaRPr b="0" i="0" sz="700" u="none" cap="none" strike="noStrike">
              <a:solidFill>
                <a:srgbClr val="000000"/>
              </a:solidFill>
              <a:latin typeface="Arial"/>
              <a:ea typeface="Arial"/>
              <a:cs typeface="Arial"/>
              <a:sym typeface="Arial"/>
            </a:endParaRPr>
          </a:p>
        </p:txBody>
      </p:sp>
      <p:sp>
        <p:nvSpPr>
          <p:cNvPr id="336" name="Google Shape;336;p11"/>
          <p:cNvSpPr txBox="1"/>
          <p:nvPr/>
        </p:nvSpPr>
        <p:spPr>
          <a:xfrm>
            <a:off x="5254152" y="2937287"/>
            <a:ext cx="3657600" cy="215400"/>
          </a:xfrm>
          <a:prstGeom prst="rect">
            <a:avLst/>
          </a:prstGeom>
          <a:noFill/>
          <a:ln>
            <a:noFill/>
          </a:ln>
        </p:spPr>
        <p:txBody>
          <a:bodyPr anchorCtr="0" anchor="t" bIns="0" lIns="0" spcFirstLastPara="1" rIns="0" wrap="square" tIns="0">
            <a:spAutoFit/>
          </a:bodyPr>
          <a:lstStyle/>
          <a:p>
            <a:pPr indent="-152400" lvl="1" marL="304800" marR="0" rtl="0" algn="l">
              <a:lnSpc>
                <a:spcPct val="119985"/>
              </a:lnSpc>
              <a:spcBef>
                <a:spcPts val="0"/>
              </a:spcBef>
              <a:spcAft>
                <a:spcPts val="0"/>
              </a:spcAft>
              <a:buClr>
                <a:srgbClr val="FFFFFF"/>
              </a:buClr>
              <a:buSzPts val="1400"/>
              <a:buFont typeface="Arial"/>
              <a:buChar char="•"/>
            </a:pPr>
            <a:r>
              <a:rPr b="0" i="0" lang="en-GB" sz="1400" u="none" cap="none" strike="noStrike">
                <a:solidFill>
                  <a:srgbClr val="FFFFFF"/>
                </a:solidFill>
                <a:latin typeface="DM Sans"/>
                <a:ea typeface="DM Sans"/>
                <a:cs typeface="DM Sans"/>
                <a:sym typeface="DM Sans"/>
              </a:rPr>
              <a:t>Challenge/risk 1.</a:t>
            </a:r>
            <a:endParaRPr b="0" i="0" sz="700" u="none" cap="none" strike="noStrike">
              <a:solidFill>
                <a:srgbClr val="000000"/>
              </a:solidFill>
              <a:latin typeface="Arial"/>
              <a:ea typeface="Arial"/>
              <a:cs typeface="Arial"/>
              <a:sym typeface="Arial"/>
            </a:endParaRPr>
          </a:p>
        </p:txBody>
      </p:sp>
      <p:sp>
        <p:nvSpPr>
          <p:cNvPr id="337" name="Google Shape;337;p11"/>
          <p:cNvSpPr txBox="1"/>
          <p:nvPr/>
        </p:nvSpPr>
        <p:spPr>
          <a:xfrm>
            <a:off x="5254152" y="3577111"/>
            <a:ext cx="3657600" cy="215400"/>
          </a:xfrm>
          <a:prstGeom prst="rect">
            <a:avLst/>
          </a:prstGeom>
          <a:noFill/>
          <a:ln>
            <a:noFill/>
          </a:ln>
        </p:spPr>
        <p:txBody>
          <a:bodyPr anchorCtr="0" anchor="t" bIns="0" lIns="0" spcFirstLastPara="1" rIns="0" wrap="square" tIns="0">
            <a:spAutoFit/>
          </a:bodyPr>
          <a:lstStyle/>
          <a:p>
            <a:pPr indent="-152400" lvl="1" marL="304800" marR="0" rtl="0" algn="l">
              <a:lnSpc>
                <a:spcPct val="119985"/>
              </a:lnSpc>
              <a:spcBef>
                <a:spcPts val="0"/>
              </a:spcBef>
              <a:spcAft>
                <a:spcPts val="0"/>
              </a:spcAft>
              <a:buClr>
                <a:srgbClr val="FFFFFF"/>
              </a:buClr>
              <a:buSzPts val="1400"/>
              <a:buFont typeface="Arial"/>
              <a:buChar char="•"/>
            </a:pPr>
            <a:r>
              <a:rPr b="0" i="0" lang="en-GB" sz="1400" u="none" cap="none" strike="noStrike">
                <a:solidFill>
                  <a:srgbClr val="FFFFFF"/>
                </a:solidFill>
                <a:latin typeface="DM Sans"/>
                <a:ea typeface="DM Sans"/>
                <a:cs typeface="DM Sans"/>
                <a:sym typeface="DM Sans"/>
              </a:rPr>
              <a:t>Challenge/Risk 2.</a:t>
            </a:r>
            <a:endParaRPr b="0" i="0" sz="700" u="none" cap="none" strike="noStrike">
              <a:solidFill>
                <a:srgbClr val="000000"/>
              </a:solidFill>
              <a:latin typeface="Arial"/>
              <a:ea typeface="Arial"/>
              <a:cs typeface="Arial"/>
              <a:sym typeface="Arial"/>
            </a:endParaRPr>
          </a:p>
        </p:txBody>
      </p:sp>
      <p:sp>
        <p:nvSpPr>
          <p:cNvPr id="338" name="Google Shape;338;p11"/>
          <p:cNvSpPr txBox="1"/>
          <p:nvPr/>
        </p:nvSpPr>
        <p:spPr>
          <a:xfrm>
            <a:off x="5254152" y="4215244"/>
            <a:ext cx="3657600" cy="474000"/>
          </a:xfrm>
          <a:prstGeom prst="rect">
            <a:avLst/>
          </a:prstGeom>
          <a:noFill/>
          <a:ln>
            <a:noFill/>
          </a:ln>
        </p:spPr>
        <p:txBody>
          <a:bodyPr anchorCtr="0" anchor="t" bIns="0" lIns="0" spcFirstLastPara="1" rIns="0" wrap="square" tIns="0">
            <a:spAutoFit/>
          </a:bodyPr>
          <a:lstStyle/>
          <a:p>
            <a:pPr indent="-152400" lvl="1" marL="304800" marR="0" rtl="0" algn="l">
              <a:lnSpc>
                <a:spcPct val="119985"/>
              </a:lnSpc>
              <a:spcBef>
                <a:spcPts val="0"/>
              </a:spcBef>
              <a:spcAft>
                <a:spcPts val="0"/>
              </a:spcAft>
              <a:buClr>
                <a:srgbClr val="FFFFFF"/>
              </a:buClr>
              <a:buSzPts val="1400"/>
              <a:buFont typeface="Arial"/>
              <a:buChar char="•"/>
            </a:pPr>
            <a:r>
              <a:rPr b="0" i="0" lang="en-GB" sz="1400" u="none" cap="none" strike="noStrike">
                <a:solidFill>
                  <a:srgbClr val="FFFFFF"/>
                </a:solidFill>
                <a:latin typeface="DM Sans"/>
                <a:ea typeface="DM Sans"/>
                <a:cs typeface="DM Sans"/>
                <a:sym typeface="DM Sans"/>
              </a:rPr>
              <a:t>Challenge / Risk 3         and so on</a:t>
            </a:r>
            <a:br>
              <a:rPr b="0" i="0" lang="en-GB" sz="1400" u="none" cap="none" strike="noStrike">
                <a:solidFill>
                  <a:srgbClr val="FFFFFF"/>
                </a:solidFill>
                <a:latin typeface="DM Sans"/>
                <a:ea typeface="DM Sans"/>
                <a:cs typeface="DM Sans"/>
                <a:sym typeface="DM Sans"/>
              </a:rPr>
            </a:br>
            <a:r>
              <a:rPr b="0" i="0" lang="en-GB" sz="1400" u="none" cap="none" strike="noStrike">
                <a:solidFill>
                  <a:srgbClr val="FFFFFF"/>
                </a:solidFill>
                <a:latin typeface="DM Sans"/>
                <a:ea typeface="DM Sans"/>
                <a:cs typeface="DM Sans"/>
                <a:sym typeface="DM Sans"/>
              </a:rPr>
              <a:t>Add more as required.</a:t>
            </a:r>
            <a:endParaRPr b="0" i="0" sz="700" u="none" cap="none" strike="noStrike">
              <a:solidFill>
                <a:srgbClr val="000000"/>
              </a:solidFill>
              <a:latin typeface="Arial"/>
              <a:ea typeface="Arial"/>
              <a:cs typeface="Arial"/>
              <a:sym typeface="Arial"/>
            </a:endParaRPr>
          </a:p>
        </p:txBody>
      </p:sp>
      <p:sp>
        <p:nvSpPr>
          <p:cNvPr id="339" name="Google Shape;339;p11"/>
          <p:cNvSpPr/>
          <p:nvPr/>
        </p:nvSpPr>
        <p:spPr>
          <a:xfrm>
            <a:off x="5348598" y="514350"/>
            <a:ext cx="3281053" cy="1942494"/>
          </a:xfrm>
          <a:custGeom>
            <a:rect b="b" l="l" r="r" t="t"/>
            <a:pathLst>
              <a:path extrusionOk="0" h="601886" w="1016642">
                <a:moveTo>
                  <a:pt x="0" y="0"/>
                </a:moveTo>
                <a:lnTo>
                  <a:pt x="1016642" y="0"/>
                </a:lnTo>
                <a:lnTo>
                  <a:pt x="1016642" y="601886"/>
                </a:lnTo>
                <a:lnTo>
                  <a:pt x="0" y="601886"/>
                </a:lnTo>
                <a:close/>
              </a:path>
            </a:pathLst>
          </a:custGeom>
          <a:blipFill rotWithShape="1">
            <a:blip r:embed="rId5">
              <a:alphaModFix/>
            </a:blip>
            <a:stretch>
              <a:fillRect b="-6369" l="0" r="0" t="-637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40" name="Google Shape;340;p11"/>
          <p:cNvSpPr/>
          <p:nvPr/>
        </p:nvSpPr>
        <p:spPr>
          <a:xfrm>
            <a:off x="514350" y="514350"/>
            <a:ext cx="4739802" cy="1942494"/>
          </a:xfrm>
          <a:custGeom>
            <a:rect b="b" l="l" r="r" t="t"/>
            <a:pathLst>
              <a:path extrusionOk="0" h="601886" w="1468639">
                <a:moveTo>
                  <a:pt x="0" y="0"/>
                </a:moveTo>
                <a:lnTo>
                  <a:pt x="1468639" y="0"/>
                </a:lnTo>
                <a:lnTo>
                  <a:pt x="1468639" y="601886"/>
                </a:lnTo>
                <a:lnTo>
                  <a:pt x="0" y="601886"/>
                </a:lnTo>
                <a:close/>
              </a:path>
            </a:pathLst>
          </a:custGeom>
          <a:blipFill rotWithShape="1">
            <a:blip r:embed="rId6">
              <a:alphaModFix/>
            </a:blip>
            <a:stretch>
              <a:fillRect b="-31279" l="0" r="0" t="-31277"/>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41" name="Google Shape;341;p11"/>
          <p:cNvSpPr txBox="1"/>
          <p:nvPr/>
        </p:nvSpPr>
        <p:spPr>
          <a:xfrm rot="-1716536">
            <a:off x="1490300" y="2110657"/>
            <a:ext cx="6263410" cy="430943"/>
          </a:xfrm>
          <a:prstGeom prst="rect">
            <a:avLst/>
          </a:prstGeom>
          <a:solidFill>
            <a:srgbClr val="F2F2F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Calibri"/>
                <a:ea typeface="Calibri"/>
                <a:cs typeface="Calibri"/>
                <a:sym typeface="Calibri"/>
              </a:rPr>
              <a:t>SAMPLE for reference, please replace with your project details</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5" name="Shape 345"/>
        <p:cNvGrpSpPr/>
        <p:nvPr/>
      </p:nvGrpSpPr>
      <p:grpSpPr>
        <a:xfrm>
          <a:off x="0" y="0"/>
          <a:ext cx="0" cy="0"/>
          <a:chOff x="0" y="0"/>
          <a:chExt cx="0" cy="0"/>
        </a:xfrm>
      </p:grpSpPr>
      <p:sp>
        <p:nvSpPr>
          <p:cNvPr id="346" name="Google Shape;346;p12"/>
          <p:cNvSpPr txBox="1"/>
          <p:nvPr/>
        </p:nvSpPr>
        <p:spPr>
          <a:xfrm>
            <a:off x="76200" y="95250"/>
            <a:ext cx="7505700" cy="463652"/>
          </a:xfrm>
          <a:prstGeom prst="rect">
            <a:avLst/>
          </a:prstGeom>
          <a:noFill/>
          <a:ln>
            <a:noFill/>
          </a:ln>
        </p:spPr>
        <p:txBody>
          <a:bodyPr anchorCtr="0" anchor="t" bIns="0" lIns="0" spcFirstLastPara="1" rIns="0" wrap="square" tIns="0">
            <a:spAutoFit/>
          </a:bodyPr>
          <a:lstStyle/>
          <a:p>
            <a:pPr indent="0" lvl="0" marL="0" marR="0" rtl="0" algn="l">
              <a:lnSpc>
                <a:spcPct val="124666"/>
              </a:lnSpc>
              <a:spcBef>
                <a:spcPts val="0"/>
              </a:spcBef>
              <a:spcAft>
                <a:spcPts val="0"/>
              </a:spcAft>
              <a:buClr>
                <a:srgbClr val="000000"/>
              </a:buClr>
              <a:buSzPts val="3000"/>
              <a:buFont typeface="Arial"/>
              <a:buNone/>
            </a:pPr>
            <a:r>
              <a:rPr b="0" i="0" lang="en-GB" sz="3000" u="none" cap="none" strike="noStrike">
                <a:solidFill>
                  <a:schemeClr val="lt1"/>
                </a:solidFill>
                <a:latin typeface="Calibri"/>
                <a:ea typeface="Calibri"/>
                <a:cs typeface="Calibri"/>
                <a:sym typeface="Calibri"/>
              </a:rPr>
              <a:t>Technical Request for Facilitated Datasets</a:t>
            </a:r>
            <a:endParaRPr b="1" i="0" sz="3000" u="none" cap="none" strike="noStrike">
              <a:solidFill>
                <a:schemeClr val="lt1"/>
              </a:solidFill>
              <a:latin typeface="Arial"/>
              <a:ea typeface="Arial"/>
              <a:cs typeface="Arial"/>
              <a:sym typeface="Arial"/>
            </a:endParaRPr>
          </a:p>
        </p:txBody>
      </p:sp>
      <p:sp>
        <p:nvSpPr>
          <p:cNvPr id="347" name="Google Shape;347;p12"/>
          <p:cNvSpPr txBox="1"/>
          <p:nvPr/>
        </p:nvSpPr>
        <p:spPr>
          <a:xfrm>
            <a:off x="76200" y="999674"/>
            <a:ext cx="3848100" cy="292388"/>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Specification of Required Data</a:t>
            </a:r>
            <a:endParaRPr b="0" i="0" sz="700" u="none" cap="none" strike="noStrike">
              <a:solidFill>
                <a:srgbClr val="000000"/>
              </a:solidFill>
              <a:latin typeface="Arial"/>
              <a:ea typeface="Arial"/>
              <a:cs typeface="Arial"/>
              <a:sym typeface="Arial"/>
            </a:endParaRPr>
          </a:p>
        </p:txBody>
      </p:sp>
      <p:sp>
        <p:nvSpPr>
          <p:cNvPr id="348" name="Google Shape;348;p12"/>
          <p:cNvSpPr txBox="1"/>
          <p:nvPr/>
        </p:nvSpPr>
        <p:spPr>
          <a:xfrm>
            <a:off x="76200" y="1353718"/>
            <a:ext cx="4495800" cy="1271181"/>
          </a:xfrm>
          <a:prstGeom prst="rect">
            <a:avLst/>
          </a:prstGeom>
          <a:noFill/>
          <a:ln>
            <a:noFill/>
          </a:ln>
        </p:spPr>
        <p:txBody>
          <a:bodyPr anchorCtr="0" anchor="t" bIns="22850" lIns="45725" spcFirstLastPara="1" rIns="45725" wrap="square" tIns="22850">
            <a:spAutoFit/>
          </a:bodyPr>
          <a:lstStyle/>
          <a:p>
            <a:pPr indent="0" lvl="0" marL="0" marR="0" rtl="0" algn="l">
              <a:lnSpc>
                <a:spcPct val="150000"/>
              </a:lnSpc>
              <a:spcBef>
                <a:spcPts val="0"/>
              </a:spcBef>
              <a:spcAft>
                <a:spcPts val="0"/>
              </a:spcAft>
              <a:buClr>
                <a:srgbClr val="000000"/>
              </a:buClr>
              <a:buSzPts val="900"/>
              <a:buFont typeface="Arial"/>
              <a:buNone/>
            </a:pPr>
            <a:r>
              <a:rPr b="1" i="0" lang="en-GB" sz="900" u="none" cap="none" strike="noStrike">
                <a:solidFill>
                  <a:schemeClr val="lt1"/>
                </a:solidFill>
                <a:latin typeface="Calibri"/>
                <a:ea typeface="Calibri"/>
                <a:cs typeface="Calibri"/>
                <a:sym typeface="Calibri"/>
              </a:rPr>
              <a:t>Data Type:</a:t>
            </a:r>
            <a:r>
              <a:rPr b="0" i="0" lang="en-GB" sz="900" u="none" cap="none" strike="noStrike">
                <a:solidFill>
                  <a:schemeClr val="lt1"/>
                </a:solidFill>
                <a:latin typeface="Calibri"/>
                <a:ea typeface="Calibri"/>
                <a:cs typeface="Calibri"/>
                <a:sym typeface="Calibri"/>
              </a:rPr>
              <a:t> (e.g., Anonymized clinical imagery, Indic-language speech samples, high-res geospatial layers, or structured IoT sensor logs).</a:t>
            </a:r>
            <a:endParaRPr b="0" i="0" sz="7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900"/>
              <a:buFont typeface="Arial"/>
              <a:buNone/>
            </a:pPr>
            <a:r>
              <a:rPr b="1" i="0" lang="en-GB" sz="900" u="none" cap="none" strike="noStrike">
                <a:solidFill>
                  <a:schemeClr val="lt1"/>
                </a:solidFill>
                <a:latin typeface="Calibri"/>
                <a:ea typeface="Calibri"/>
                <a:cs typeface="Calibri"/>
                <a:sym typeface="Calibri"/>
              </a:rPr>
              <a:t>Volume &amp; Depth:</a:t>
            </a:r>
            <a:r>
              <a:rPr b="0" i="0" lang="en-GB" sz="900" u="none" cap="none" strike="noStrike">
                <a:solidFill>
                  <a:schemeClr val="lt1"/>
                </a:solidFill>
                <a:latin typeface="Calibri"/>
                <a:ea typeface="Calibri"/>
                <a:cs typeface="Calibri"/>
                <a:sym typeface="Calibri"/>
              </a:rPr>
              <a:t> The minimum required rows, file count, or historical duration (e.g., "5 years of crop yield data across 10 districts").</a:t>
            </a:r>
            <a:endParaRPr b="0" i="0" sz="7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900"/>
              <a:buFont typeface="Arial"/>
              <a:buNone/>
            </a:pPr>
            <a:r>
              <a:rPr b="1" i="0" lang="en-GB" sz="900" u="none" cap="none" strike="noStrike">
                <a:solidFill>
                  <a:schemeClr val="lt1"/>
                </a:solidFill>
                <a:latin typeface="Calibri"/>
                <a:ea typeface="Calibri"/>
                <a:cs typeface="Calibri"/>
                <a:sym typeface="Calibri"/>
              </a:rPr>
              <a:t>Granularity:</a:t>
            </a:r>
            <a:r>
              <a:rPr b="0" i="0" lang="en-GB" sz="900" u="none" cap="none" strike="noStrike">
                <a:solidFill>
                  <a:schemeClr val="lt1"/>
                </a:solidFill>
                <a:latin typeface="Calibri"/>
                <a:ea typeface="Calibri"/>
                <a:cs typeface="Calibri"/>
                <a:sym typeface="Calibri"/>
              </a:rPr>
              <a:t> The level of detail needed (e.g., "District-level vs. Village-level" or "Daily vs. Monthly" updates).</a:t>
            </a:r>
            <a:endParaRPr b="0" i="0" sz="700" u="none" cap="none" strike="noStrike">
              <a:solidFill>
                <a:srgbClr val="000000"/>
              </a:solidFill>
              <a:latin typeface="Arial"/>
              <a:ea typeface="Arial"/>
              <a:cs typeface="Arial"/>
              <a:sym typeface="Arial"/>
            </a:endParaRPr>
          </a:p>
        </p:txBody>
      </p:sp>
      <p:sp>
        <p:nvSpPr>
          <p:cNvPr id="349" name="Google Shape;349;p12"/>
          <p:cNvSpPr txBox="1"/>
          <p:nvPr/>
        </p:nvSpPr>
        <p:spPr>
          <a:xfrm>
            <a:off x="76200" y="2971441"/>
            <a:ext cx="4000500" cy="292388"/>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The "Ask" vs. "Leveraged" Mapping</a:t>
            </a:r>
            <a:endParaRPr b="1" i="0" sz="1600" u="none" cap="none" strike="noStrike">
              <a:solidFill>
                <a:schemeClr val="lt1"/>
              </a:solidFill>
              <a:latin typeface="Calibri"/>
              <a:ea typeface="Calibri"/>
              <a:cs typeface="Calibri"/>
              <a:sym typeface="Calibri"/>
            </a:endParaRPr>
          </a:p>
        </p:txBody>
      </p:sp>
      <p:sp>
        <p:nvSpPr>
          <p:cNvPr id="350" name="Google Shape;350;p12"/>
          <p:cNvSpPr txBox="1"/>
          <p:nvPr/>
        </p:nvSpPr>
        <p:spPr>
          <a:xfrm>
            <a:off x="57151" y="3410786"/>
            <a:ext cx="4514850" cy="738664"/>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What you have</a:t>
            </a:r>
            <a:r>
              <a:rPr b="0" i="0" lang="en-GB" sz="900" u="none" cap="none" strike="noStrike">
                <a:solidFill>
                  <a:schemeClr val="lt1"/>
                </a:solidFill>
                <a:latin typeface="Arial"/>
                <a:ea typeface="Arial"/>
                <a:cs typeface="Arial"/>
                <a:sym typeface="Arial"/>
              </a:rPr>
              <a:t>: List the open-source data (Bhashini, OGD, etc.) you have already successfully integrated.</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What you need: </a:t>
            </a:r>
            <a:r>
              <a:rPr b="0" i="0" lang="en-GB" sz="900" u="none" cap="none" strike="noStrike">
                <a:solidFill>
                  <a:schemeClr val="lt1"/>
                </a:solidFill>
                <a:latin typeface="Arial"/>
                <a:ea typeface="Arial"/>
                <a:cs typeface="Arial"/>
                <a:sym typeface="Arial"/>
              </a:rPr>
              <a:t>Identify the specific "Facilitated Dataset" from AI4India that acts as the missing piece for model accuracy or localized impact.</a:t>
            </a:r>
            <a:endParaRPr b="0" i="0" sz="700" u="none" cap="none" strike="noStrike">
              <a:solidFill>
                <a:srgbClr val="000000"/>
              </a:solidFill>
              <a:latin typeface="Arial"/>
              <a:ea typeface="Arial"/>
              <a:cs typeface="Arial"/>
              <a:sym typeface="Arial"/>
            </a:endParaRPr>
          </a:p>
        </p:txBody>
      </p:sp>
      <p:sp>
        <p:nvSpPr>
          <p:cNvPr id="351" name="Google Shape;351;p12"/>
          <p:cNvSpPr txBox="1"/>
          <p:nvPr/>
        </p:nvSpPr>
        <p:spPr>
          <a:xfrm>
            <a:off x="4587240" y="999674"/>
            <a:ext cx="4423409" cy="292388"/>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Technical Justification</a:t>
            </a:r>
            <a:endParaRPr b="1" i="0" sz="1600" u="none" cap="none" strike="noStrike">
              <a:solidFill>
                <a:schemeClr val="lt1"/>
              </a:solidFill>
              <a:latin typeface="Calibri"/>
              <a:ea typeface="Calibri"/>
              <a:cs typeface="Calibri"/>
              <a:sym typeface="Calibri"/>
            </a:endParaRPr>
          </a:p>
        </p:txBody>
      </p:sp>
      <p:sp>
        <p:nvSpPr>
          <p:cNvPr id="352" name="Google Shape;352;p12"/>
          <p:cNvSpPr txBox="1"/>
          <p:nvPr/>
        </p:nvSpPr>
        <p:spPr>
          <a:xfrm>
            <a:off x="4613910" y="1353718"/>
            <a:ext cx="4514850" cy="1431161"/>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chemeClr val="lt1"/>
                </a:solidFill>
                <a:latin typeface="Arial"/>
                <a:ea typeface="Arial"/>
                <a:cs typeface="Arial"/>
                <a:sym typeface="Arial"/>
              </a:rPr>
              <a:t>Provide a clear rationale for how this facilitated data will improve the prototype:</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Accuracy/Validation</a:t>
            </a:r>
            <a:r>
              <a:rPr b="0" i="0" lang="en-GB" sz="900" u="none" cap="none" strike="noStrike">
                <a:solidFill>
                  <a:schemeClr val="lt1"/>
                </a:solidFill>
                <a:latin typeface="Arial"/>
                <a:ea typeface="Arial"/>
                <a:cs typeface="Arial"/>
                <a:sym typeface="Arial"/>
              </a:rPr>
              <a:t>: "We need the AI4India health records to validate our model trained on synthetic data."</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Feature Engineering</a:t>
            </a:r>
            <a:r>
              <a:rPr b="0" i="0" lang="en-GB" sz="900" u="none" cap="none" strike="noStrike">
                <a:solidFill>
                  <a:schemeClr val="lt1"/>
                </a:solidFill>
                <a:latin typeface="Arial"/>
                <a:ea typeface="Arial"/>
                <a:cs typeface="Arial"/>
                <a:sym typeface="Arial"/>
              </a:rPr>
              <a:t>: "Real-time traffic feed is required to move from static route optimization to dynamic smart-city scaling."</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Edge-Case Handling</a:t>
            </a:r>
            <a:r>
              <a:rPr b="0" i="0" lang="en-GB" sz="900" u="none" cap="none" strike="noStrike">
                <a:solidFill>
                  <a:schemeClr val="lt1"/>
                </a:solidFill>
                <a:latin typeface="Arial"/>
                <a:ea typeface="Arial"/>
                <a:cs typeface="Arial"/>
                <a:sym typeface="Arial"/>
              </a:rPr>
              <a:t>: "Specific regional dialect data is needed to ensure the educational bot works for the underserved unserved populations."</a:t>
            </a:r>
            <a:endParaRPr b="0" i="0" sz="700" u="none" cap="none" strike="noStrike">
              <a:solidFill>
                <a:srgbClr val="000000"/>
              </a:solidFill>
              <a:latin typeface="Arial"/>
              <a:ea typeface="Arial"/>
              <a:cs typeface="Arial"/>
              <a:sym typeface="Arial"/>
            </a:endParaRPr>
          </a:p>
        </p:txBody>
      </p:sp>
      <p:cxnSp>
        <p:nvCxnSpPr>
          <p:cNvPr id="353" name="Google Shape;353;p12"/>
          <p:cNvCxnSpPr/>
          <p:nvPr/>
        </p:nvCxnSpPr>
        <p:spPr>
          <a:xfrm>
            <a:off x="4533900" y="852716"/>
            <a:ext cx="0" cy="4195534"/>
          </a:xfrm>
          <a:prstGeom prst="straightConnector1">
            <a:avLst/>
          </a:prstGeom>
          <a:noFill/>
          <a:ln cap="flat" cmpd="sng" w="38100">
            <a:solidFill>
              <a:srgbClr val="F2F2F2"/>
            </a:solidFill>
            <a:prstDash val="solid"/>
            <a:round/>
            <a:headEnd len="med" w="med" type="triangle"/>
            <a:tailEnd len="med" w="med" type="triangle"/>
          </a:ln>
          <a:effectLst>
            <a:outerShdw blurRad="40000" rotWithShape="0" dir="5400000" dist="23000">
              <a:srgbClr val="000000">
                <a:alpha val="34509"/>
              </a:srgbClr>
            </a:outerShdw>
          </a:effectLst>
        </p:spPr>
      </p:cxnSp>
      <p:sp>
        <p:nvSpPr>
          <p:cNvPr id="354" name="Google Shape;354;p12"/>
          <p:cNvSpPr txBox="1"/>
          <p:nvPr/>
        </p:nvSpPr>
        <p:spPr>
          <a:xfrm>
            <a:off x="4610100" y="2971441"/>
            <a:ext cx="4423410" cy="292388"/>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lt1"/>
                </a:solidFill>
                <a:latin typeface="Calibri"/>
                <a:ea typeface="Calibri"/>
                <a:cs typeface="Calibri"/>
                <a:sym typeface="Calibri"/>
              </a:rPr>
              <a:t>Environment &amp; Security Requirements</a:t>
            </a:r>
            <a:endParaRPr b="1" i="0" sz="1600" u="none" cap="none" strike="noStrike">
              <a:solidFill>
                <a:schemeClr val="lt1"/>
              </a:solidFill>
              <a:latin typeface="Calibri"/>
              <a:ea typeface="Calibri"/>
              <a:cs typeface="Calibri"/>
              <a:sym typeface="Calibri"/>
            </a:endParaRPr>
          </a:p>
        </p:txBody>
      </p:sp>
      <p:sp>
        <p:nvSpPr>
          <p:cNvPr id="355" name="Google Shape;355;p12"/>
          <p:cNvSpPr txBox="1"/>
          <p:nvPr/>
        </p:nvSpPr>
        <p:spPr>
          <a:xfrm>
            <a:off x="4629150" y="3352441"/>
            <a:ext cx="4514850" cy="738664"/>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Access Method</a:t>
            </a:r>
            <a:r>
              <a:rPr b="0" i="0" lang="en-GB" sz="900" u="none" cap="none" strike="noStrike">
                <a:solidFill>
                  <a:schemeClr val="lt1"/>
                </a:solidFill>
                <a:latin typeface="Arial"/>
                <a:ea typeface="Arial"/>
                <a:cs typeface="Arial"/>
                <a:sym typeface="Arial"/>
              </a:rPr>
              <a:t>: Request preference for data delivery (e.g., Secure API, direct download, or sandbox environment access on AIKosh).</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Arial"/>
                <a:ea typeface="Arial"/>
                <a:cs typeface="Arial"/>
                <a:sym typeface="Arial"/>
              </a:rPr>
              <a:t>Security Compliance</a:t>
            </a:r>
            <a:r>
              <a:rPr b="0" i="0" lang="en-GB" sz="900" u="none" cap="none" strike="noStrike">
                <a:solidFill>
                  <a:schemeClr val="lt1"/>
                </a:solidFill>
                <a:latin typeface="Arial"/>
                <a:ea typeface="Arial"/>
                <a:cs typeface="Arial"/>
                <a:sym typeface="Arial"/>
              </a:rPr>
              <a:t>: Confirm that your team has an environment ready to handle sensitive/facilitated data according to DPDP (Data Protection) standards.</a:t>
            </a:r>
            <a:endParaRPr b="0" i="0" sz="700" u="none" cap="none" strike="noStrike">
              <a:solidFill>
                <a:srgbClr val="000000"/>
              </a:solidFill>
              <a:latin typeface="Arial"/>
              <a:ea typeface="Arial"/>
              <a:cs typeface="Arial"/>
              <a:sym typeface="Arial"/>
            </a:endParaRPr>
          </a:p>
        </p:txBody>
      </p:sp>
      <p:sp>
        <p:nvSpPr>
          <p:cNvPr id="356" name="Google Shape;356;p12"/>
          <p:cNvSpPr/>
          <p:nvPr/>
        </p:nvSpPr>
        <p:spPr>
          <a:xfrm flipH="1" rot="894255">
            <a:off x="3872574" y="3977291"/>
            <a:ext cx="1322652" cy="879138"/>
          </a:xfrm>
          <a:custGeom>
            <a:rect b="b" l="l" r="r" t="t"/>
            <a:pathLst>
              <a:path extrusionOk="0" h="8781453" w="8310061">
                <a:moveTo>
                  <a:pt x="8310061" y="0"/>
                </a:moveTo>
                <a:lnTo>
                  <a:pt x="0" y="0"/>
                </a:lnTo>
                <a:lnTo>
                  <a:pt x="0" y="8781453"/>
                </a:lnTo>
                <a:lnTo>
                  <a:pt x="8310061" y="8781453"/>
                </a:lnTo>
                <a:lnTo>
                  <a:pt x="8310061" y="0"/>
                </a:lnTo>
                <a:close/>
              </a:path>
            </a:pathLst>
          </a:custGeom>
          <a:blipFill rotWithShape="1">
            <a:blip r:embed="rId3">
              <a:alphaModFix/>
            </a:blip>
            <a:stretch>
              <a:fillRect b="-1865" l="0" r="-378"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57" name="Google Shape;357;p12"/>
          <p:cNvSpPr txBox="1"/>
          <p:nvPr/>
        </p:nvSpPr>
        <p:spPr>
          <a:xfrm>
            <a:off x="868680" y="475369"/>
            <a:ext cx="6103620" cy="377347"/>
          </a:xfrm>
          <a:prstGeom prst="rect">
            <a:avLst/>
          </a:prstGeom>
          <a:noFill/>
          <a:ln>
            <a:noFill/>
          </a:ln>
        </p:spPr>
        <p:txBody>
          <a:bodyPr anchorCtr="0" anchor="t" bIns="22850" lIns="45725" spcFirstLastPara="1" rIns="45725" wrap="square" tIns="22850">
            <a:sp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rgbClr val="E36C09"/>
                </a:solidFill>
                <a:latin typeface="Calibri"/>
                <a:ea typeface="Calibri"/>
                <a:cs typeface="Calibri"/>
                <a:sym typeface="Calibri"/>
              </a:rPr>
              <a:t>Finalists should categorize their request using the following parameters: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1" name="Shape 361"/>
        <p:cNvGrpSpPr/>
        <p:nvPr/>
      </p:nvGrpSpPr>
      <p:grpSpPr>
        <a:xfrm>
          <a:off x="0" y="0"/>
          <a:ext cx="0" cy="0"/>
          <a:chOff x="0" y="0"/>
          <a:chExt cx="0" cy="0"/>
        </a:xfrm>
      </p:grpSpPr>
      <p:sp>
        <p:nvSpPr>
          <p:cNvPr id="362" name="Google Shape;362;p13"/>
          <p:cNvSpPr txBox="1"/>
          <p:nvPr/>
        </p:nvSpPr>
        <p:spPr>
          <a:xfrm>
            <a:off x="2046525" y="221225"/>
            <a:ext cx="4947900" cy="461700"/>
          </a:xfrm>
          <a:prstGeom prst="rect">
            <a:avLst/>
          </a:prstGeom>
          <a:noFill/>
          <a:ln>
            <a:noFill/>
          </a:ln>
        </p:spPr>
        <p:txBody>
          <a:bodyPr anchorCtr="0" anchor="t" bIns="0" lIns="0" spcFirstLastPara="1" rIns="0" wrap="square" tIns="0">
            <a:spAutoFit/>
          </a:bodyPr>
          <a:lstStyle/>
          <a:p>
            <a:pPr indent="0" lvl="0" marL="0" marR="0" rtl="0" algn="ctr">
              <a:lnSpc>
                <a:spcPct val="124666"/>
              </a:lnSpc>
              <a:spcBef>
                <a:spcPts val="0"/>
              </a:spcBef>
              <a:spcAft>
                <a:spcPts val="0"/>
              </a:spcAft>
              <a:buClr>
                <a:srgbClr val="000000"/>
              </a:buClr>
              <a:buSzPts val="3000"/>
              <a:buFont typeface="Arial"/>
              <a:buNone/>
            </a:pPr>
            <a:r>
              <a:rPr b="1" i="0" lang="en-GB" sz="3000" u="none" cap="none" strike="noStrike">
                <a:solidFill>
                  <a:srgbClr val="FBF9F1"/>
                </a:solidFill>
                <a:latin typeface="Poppins"/>
                <a:ea typeface="Poppins"/>
                <a:cs typeface="Poppins"/>
                <a:sym typeface="Poppins"/>
              </a:rPr>
              <a:t>Anticipated Results</a:t>
            </a:r>
            <a:endParaRPr b="0" i="0" sz="700" u="none" cap="none" strike="noStrike">
              <a:solidFill>
                <a:srgbClr val="000000"/>
              </a:solidFill>
              <a:latin typeface="Arial"/>
              <a:ea typeface="Arial"/>
              <a:cs typeface="Arial"/>
              <a:sym typeface="Arial"/>
            </a:endParaRPr>
          </a:p>
        </p:txBody>
      </p:sp>
      <p:sp>
        <p:nvSpPr>
          <p:cNvPr id="363" name="Google Shape;363;p13"/>
          <p:cNvSpPr txBox="1"/>
          <p:nvPr/>
        </p:nvSpPr>
        <p:spPr>
          <a:xfrm>
            <a:off x="162800" y="1526300"/>
            <a:ext cx="2525400" cy="59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GB" sz="1600" u="none" cap="none" strike="noStrike">
                <a:solidFill>
                  <a:schemeClr val="lt1"/>
                </a:solidFill>
                <a:latin typeface="Poppins"/>
                <a:ea typeface="Poppins"/>
                <a:cs typeface="Poppins"/>
                <a:sym typeface="Poppins"/>
              </a:rPr>
              <a:t>Absolutely the last set of information to add!</a:t>
            </a:r>
            <a:endParaRPr b="0" i="0" sz="1600" u="none" cap="none" strike="noStrike">
              <a:solidFill>
                <a:schemeClr val="lt1"/>
              </a:solidFill>
              <a:latin typeface="Poppins"/>
              <a:ea typeface="Poppins"/>
              <a:cs typeface="Poppins"/>
              <a:sym typeface="Poppins"/>
            </a:endParaRPr>
          </a:p>
        </p:txBody>
      </p:sp>
      <p:sp>
        <p:nvSpPr>
          <p:cNvPr id="364" name="Google Shape;364;p13"/>
          <p:cNvSpPr/>
          <p:nvPr/>
        </p:nvSpPr>
        <p:spPr>
          <a:xfrm>
            <a:off x="149186" y="2114550"/>
            <a:ext cx="2298932" cy="2360018"/>
          </a:xfrm>
          <a:custGeom>
            <a:rect b="b" l="l" r="r" t="t"/>
            <a:pathLst>
              <a:path extrusionOk="0" h="4720037" w="4597864">
                <a:moveTo>
                  <a:pt x="0" y="0"/>
                </a:moveTo>
                <a:lnTo>
                  <a:pt x="4597864" y="0"/>
                </a:lnTo>
                <a:lnTo>
                  <a:pt x="4597864" y="4720037"/>
                </a:lnTo>
                <a:lnTo>
                  <a:pt x="0" y="4720037"/>
                </a:lnTo>
                <a:lnTo>
                  <a:pt x="0" y="0"/>
                </a:lnTo>
                <a:close/>
              </a:path>
            </a:pathLst>
          </a:custGeom>
          <a:blipFill rotWithShape="1">
            <a:blip r:embed="rId3">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65" name="Google Shape;365;p13"/>
          <p:cNvSpPr txBox="1"/>
          <p:nvPr/>
        </p:nvSpPr>
        <p:spPr>
          <a:xfrm>
            <a:off x="3901853" y="1526300"/>
            <a:ext cx="2421600" cy="23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41"/>
              <a:buFont typeface="Arial"/>
              <a:buNone/>
            </a:pPr>
            <a:r>
              <a:rPr b="1" i="0" lang="en-GB" sz="1541" u="none" cap="none" strike="noStrike">
                <a:solidFill>
                  <a:schemeClr val="lt1"/>
                </a:solidFill>
                <a:latin typeface="Poppins"/>
                <a:ea typeface="Poppins"/>
                <a:cs typeface="Poppins"/>
                <a:sym typeface="Poppins"/>
              </a:rPr>
              <a:t>Really Great Company</a:t>
            </a:r>
            <a:endParaRPr b="0" i="0" sz="899" u="none" cap="none" strike="noStrike">
              <a:solidFill>
                <a:srgbClr val="000000"/>
              </a:solidFill>
              <a:latin typeface="Arial"/>
              <a:ea typeface="Arial"/>
              <a:cs typeface="Arial"/>
              <a:sym typeface="Arial"/>
            </a:endParaRPr>
          </a:p>
        </p:txBody>
      </p:sp>
      <p:grpSp>
        <p:nvGrpSpPr>
          <p:cNvPr id="366" name="Google Shape;366;p13"/>
          <p:cNvGrpSpPr/>
          <p:nvPr/>
        </p:nvGrpSpPr>
        <p:grpSpPr>
          <a:xfrm>
            <a:off x="3736876" y="2066662"/>
            <a:ext cx="4956617" cy="1895065"/>
            <a:chOff x="10759755" y="2874767"/>
            <a:chExt cx="6658540" cy="2669858"/>
          </a:xfrm>
        </p:grpSpPr>
        <p:grpSp>
          <p:nvGrpSpPr>
            <p:cNvPr id="367" name="Google Shape;367;p13"/>
            <p:cNvGrpSpPr/>
            <p:nvPr/>
          </p:nvGrpSpPr>
          <p:grpSpPr>
            <a:xfrm>
              <a:off x="10759755" y="2874767"/>
              <a:ext cx="821253" cy="830877"/>
              <a:chOff x="0" y="-9525"/>
              <a:chExt cx="812800" cy="822325"/>
            </a:xfrm>
          </p:grpSpPr>
          <p:sp>
            <p:nvSpPr>
              <p:cNvPr id="368" name="Google Shape;368;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69" name="Google Shape;369;p13"/>
              <p:cNvSpPr txBox="1"/>
              <p:nvPr/>
            </p:nvSpPr>
            <p:spPr>
              <a:xfrm>
                <a:off x="76200" y="-9525"/>
                <a:ext cx="660300" cy="746100"/>
              </a:xfrm>
              <a:prstGeom prst="rect">
                <a:avLst/>
              </a:prstGeom>
              <a:noFill/>
              <a:ln>
                <a:noFill/>
              </a:ln>
            </p:spPr>
            <p:txBody>
              <a:bodyPr anchorCtr="0" anchor="ctr" bIns="32625" lIns="32625" spcFirstLastPara="1" rIns="32625" wrap="square" tIns="32625">
                <a:noAutofit/>
              </a:bodyPr>
              <a:lstStyle/>
              <a:p>
                <a:pPr indent="0" lvl="0" marL="0" marR="0" rtl="0" algn="ctr">
                  <a:lnSpc>
                    <a:spcPct val="124388"/>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grpSp>
        <p:sp>
          <p:nvSpPr>
            <p:cNvPr id="370" name="Google Shape;370;p13"/>
            <p:cNvSpPr/>
            <p:nvPr/>
          </p:nvSpPr>
          <p:spPr>
            <a:xfrm>
              <a:off x="10972697" y="3097332"/>
              <a:ext cx="395400" cy="395400"/>
            </a:xfrm>
            <a:custGeom>
              <a:rect b="b" l="l" r="r" t="t"/>
              <a:pathLst>
                <a:path extrusionOk="0" h="395400" w="395400">
                  <a:moveTo>
                    <a:pt x="0" y="0"/>
                  </a:moveTo>
                  <a:lnTo>
                    <a:pt x="395399" y="0"/>
                  </a:lnTo>
                  <a:lnTo>
                    <a:pt x="395399" y="395400"/>
                  </a:lnTo>
                  <a:lnTo>
                    <a:pt x="0" y="395400"/>
                  </a:lnTo>
                  <a:lnTo>
                    <a:pt x="0" y="0"/>
                  </a:lnTo>
                  <a:close/>
                </a:path>
              </a:pathLst>
            </a:custGeom>
            <a:blipFill rotWithShape="1">
              <a:blip r:embed="rId4">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71" name="Google Shape;371;p13"/>
            <p:cNvSpPr/>
            <p:nvPr/>
          </p:nvSpPr>
          <p:spPr>
            <a:xfrm>
              <a:off x="10982453" y="4025774"/>
              <a:ext cx="395400" cy="395400"/>
            </a:xfrm>
            <a:custGeom>
              <a:rect b="b" l="l" r="r" t="t"/>
              <a:pathLst>
                <a:path extrusionOk="0" h="395400" w="395400">
                  <a:moveTo>
                    <a:pt x="0" y="0"/>
                  </a:moveTo>
                  <a:lnTo>
                    <a:pt x="395400" y="0"/>
                  </a:lnTo>
                  <a:lnTo>
                    <a:pt x="395400" y="395400"/>
                  </a:lnTo>
                  <a:lnTo>
                    <a:pt x="0" y="395400"/>
                  </a:lnTo>
                  <a:lnTo>
                    <a:pt x="0" y="0"/>
                  </a:lnTo>
                  <a:close/>
                </a:path>
              </a:pathLst>
            </a:custGeom>
            <a:blipFill rotWithShape="1">
              <a:blip r:embed="rId4">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72" name="Google Shape;372;p13"/>
            <p:cNvSpPr/>
            <p:nvPr/>
          </p:nvSpPr>
          <p:spPr>
            <a:xfrm>
              <a:off x="10982453" y="4936323"/>
              <a:ext cx="395400" cy="395400"/>
            </a:xfrm>
            <a:custGeom>
              <a:rect b="b" l="l" r="r" t="t"/>
              <a:pathLst>
                <a:path extrusionOk="0" h="395400" w="395400">
                  <a:moveTo>
                    <a:pt x="0" y="0"/>
                  </a:moveTo>
                  <a:lnTo>
                    <a:pt x="395400" y="0"/>
                  </a:lnTo>
                  <a:lnTo>
                    <a:pt x="395400" y="395400"/>
                  </a:lnTo>
                  <a:lnTo>
                    <a:pt x="0" y="395400"/>
                  </a:lnTo>
                  <a:lnTo>
                    <a:pt x="0" y="0"/>
                  </a:lnTo>
                  <a:close/>
                </a:path>
              </a:pathLst>
            </a:custGeom>
            <a:blipFill rotWithShape="1">
              <a:blip r:embed="rId4">
                <a:alphaModFix/>
              </a:blip>
              <a:stretch>
                <a:fillRect b="0" l="0" r="0" t="0"/>
              </a:stretch>
            </a:blipFill>
            <a:ln>
              <a:noFill/>
            </a:ln>
          </p:spPr>
          <p:txBody>
            <a:bodyPr anchorCtr="0" anchor="t"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56"/>
                <a:buFont typeface="Arial"/>
                <a:buNone/>
              </a:pPr>
              <a:r>
                <a:t/>
              </a:r>
              <a:endParaRPr b="0" i="0" sz="1156" u="none" cap="none" strike="noStrike">
                <a:solidFill>
                  <a:schemeClr val="dk1"/>
                </a:solidFill>
                <a:latin typeface="Calibri"/>
                <a:ea typeface="Calibri"/>
                <a:cs typeface="Calibri"/>
                <a:sym typeface="Calibri"/>
              </a:endParaRPr>
            </a:p>
          </p:txBody>
        </p:sp>
        <p:sp>
          <p:nvSpPr>
            <p:cNvPr id="373" name="Google Shape;373;p13"/>
            <p:cNvSpPr txBox="1"/>
            <p:nvPr/>
          </p:nvSpPr>
          <p:spPr>
            <a:xfrm>
              <a:off x="11948094" y="2902328"/>
              <a:ext cx="5470200" cy="66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84"/>
                <a:buFont typeface="Arial"/>
                <a:buNone/>
              </a:pPr>
              <a:r>
                <a:rPr b="0" i="0" lang="en-GB" sz="1284" u="none" cap="none" strike="noStrike">
                  <a:solidFill>
                    <a:schemeClr val="lt1"/>
                  </a:solidFill>
                  <a:latin typeface="Poppins"/>
                  <a:ea typeface="Poppins"/>
                  <a:cs typeface="Poppins"/>
                  <a:sym typeface="Poppins"/>
                </a:rPr>
                <a:t>Which Persona benefits the most and estimated advantage (quantified)</a:t>
              </a:r>
              <a:endParaRPr b="0" i="0" sz="899" u="none" cap="none" strike="noStrike">
                <a:solidFill>
                  <a:srgbClr val="000000"/>
                </a:solidFill>
                <a:latin typeface="Arial"/>
                <a:ea typeface="Arial"/>
                <a:cs typeface="Arial"/>
                <a:sym typeface="Arial"/>
              </a:endParaRPr>
            </a:p>
          </p:txBody>
        </p:sp>
        <p:sp>
          <p:nvSpPr>
            <p:cNvPr id="374" name="Google Shape;374;p13"/>
            <p:cNvSpPr txBox="1"/>
            <p:nvPr/>
          </p:nvSpPr>
          <p:spPr>
            <a:xfrm>
              <a:off x="11948092" y="3889280"/>
              <a:ext cx="5470200" cy="66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84"/>
                <a:buFont typeface="Arial"/>
                <a:buNone/>
              </a:pPr>
              <a:r>
                <a:rPr b="0" i="0" lang="en-GB" sz="1284" u="none" cap="none" strike="noStrike">
                  <a:solidFill>
                    <a:schemeClr val="lt1"/>
                  </a:solidFill>
                  <a:latin typeface="Poppins"/>
                  <a:ea typeface="Poppins"/>
                  <a:cs typeface="Poppins"/>
                  <a:sym typeface="Poppins"/>
                </a:rPr>
                <a:t>Work increases for which persona and estimated increase </a:t>
              </a:r>
              <a:endParaRPr b="0" i="0" sz="899" u="none" cap="none" strike="noStrike">
                <a:solidFill>
                  <a:srgbClr val="000000"/>
                </a:solidFill>
                <a:latin typeface="Arial"/>
                <a:ea typeface="Arial"/>
                <a:cs typeface="Arial"/>
                <a:sym typeface="Arial"/>
              </a:endParaRPr>
            </a:p>
          </p:txBody>
        </p:sp>
        <p:sp>
          <p:nvSpPr>
            <p:cNvPr id="375" name="Google Shape;375;p13"/>
            <p:cNvSpPr txBox="1"/>
            <p:nvPr/>
          </p:nvSpPr>
          <p:spPr>
            <a:xfrm>
              <a:off x="11948095" y="4876225"/>
              <a:ext cx="5470200" cy="66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284"/>
                <a:buFont typeface="Arial"/>
                <a:buNone/>
              </a:pPr>
              <a:r>
                <a:rPr b="0" i="0" lang="en-GB" sz="1284" u="none" cap="none" strike="noStrike">
                  <a:solidFill>
                    <a:schemeClr val="lt1"/>
                  </a:solidFill>
                  <a:latin typeface="Poppins"/>
                  <a:ea typeface="Poppins"/>
                  <a:cs typeface="Poppins"/>
                  <a:sym typeface="Poppins"/>
                </a:rPr>
                <a:t>Solution scalability - operationally and technically</a:t>
              </a:r>
              <a:endParaRPr b="0" i="0" sz="899" u="none" cap="none" strike="noStrike">
                <a:solidFill>
                  <a:srgbClr val="000000"/>
                </a:solidFill>
                <a:latin typeface="Arial"/>
                <a:ea typeface="Arial"/>
                <a:cs typeface="Arial"/>
                <a:sym typeface="Arial"/>
              </a:endParaRPr>
            </a:p>
          </p:txBody>
        </p:sp>
      </p:grpSp>
      <p:grpSp>
        <p:nvGrpSpPr>
          <p:cNvPr id="376" name="Google Shape;376;p13"/>
          <p:cNvGrpSpPr/>
          <p:nvPr/>
        </p:nvGrpSpPr>
        <p:grpSpPr>
          <a:xfrm rot="5400000">
            <a:off x="1339577" y="2636568"/>
            <a:ext cx="4022371" cy="413136"/>
            <a:chOff x="0" y="-38100"/>
            <a:chExt cx="2299023" cy="217623"/>
          </a:xfrm>
        </p:grpSpPr>
        <p:sp>
          <p:nvSpPr>
            <p:cNvPr id="377" name="Google Shape;377;p13"/>
            <p:cNvSpPr/>
            <p:nvPr/>
          </p:nvSpPr>
          <p:spPr>
            <a:xfrm>
              <a:off x="0" y="0"/>
              <a:ext cx="2299023" cy="179523"/>
            </a:xfrm>
            <a:custGeom>
              <a:rect b="b" l="l" r="r" t="t"/>
              <a:pathLst>
                <a:path extrusionOk="0"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cap="rnd" cmpd="sng" w="38100">
              <a:solidFill>
                <a:srgbClr val="E5E1DA"/>
              </a:solidFill>
              <a:prstDash val="solid"/>
              <a:round/>
              <a:headEnd len="sm" w="sm" type="none"/>
              <a:tailEnd len="sm" w="sm" type="none"/>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78" name="Google Shape;378;p13"/>
            <p:cNvSpPr txBox="1"/>
            <p:nvPr/>
          </p:nvSpPr>
          <p:spPr>
            <a:xfrm>
              <a:off x="0" y="-38100"/>
              <a:ext cx="2298900" cy="2175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79" name="Google Shape;379;p13"/>
          <p:cNvSpPr/>
          <p:nvPr/>
        </p:nvSpPr>
        <p:spPr>
          <a:xfrm>
            <a:off x="3194597" y="1202929"/>
            <a:ext cx="228600" cy="230327"/>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5">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0" name="Google Shape;380;p13"/>
          <p:cNvSpPr/>
          <p:nvPr/>
        </p:nvSpPr>
        <p:spPr>
          <a:xfrm>
            <a:off x="3203797" y="2021176"/>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5">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1" name="Google Shape;381;p13"/>
          <p:cNvSpPr/>
          <p:nvPr/>
        </p:nvSpPr>
        <p:spPr>
          <a:xfrm>
            <a:off x="3208358" y="3958973"/>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5">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2" name="Google Shape;382;p13"/>
          <p:cNvSpPr/>
          <p:nvPr/>
        </p:nvSpPr>
        <p:spPr>
          <a:xfrm>
            <a:off x="3203806" y="3051459"/>
            <a:ext cx="228600" cy="230328"/>
          </a:xfrm>
          <a:custGeom>
            <a:rect b="b" l="l" r="r" t="t"/>
            <a:pathLst>
              <a:path extrusionOk="0" h="460655" w="457200">
                <a:moveTo>
                  <a:pt x="0" y="0"/>
                </a:moveTo>
                <a:lnTo>
                  <a:pt x="457200" y="0"/>
                </a:lnTo>
                <a:lnTo>
                  <a:pt x="457200" y="460655"/>
                </a:lnTo>
                <a:lnTo>
                  <a:pt x="0" y="460655"/>
                </a:lnTo>
                <a:lnTo>
                  <a:pt x="0" y="0"/>
                </a:lnTo>
                <a:close/>
              </a:path>
            </a:pathLst>
          </a:custGeom>
          <a:blipFill rotWithShape="1">
            <a:blip r:embed="rId5">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6" name="Shape 386"/>
        <p:cNvGrpSpPr/>
        <p:nvPr/>
      </p:nvGrpSpPr>
      <p:grpSpPr>
        <a:xfrm>
          <a:off x="0" y="0"/>
          <a:ext cx="0" cy="0"/>
          <a:chOff x="0" y="0"/>
          <a:chExt cx="0" cy="0"/>
        </a:xfrm>
      </p:grpSpPr>
      <p:sp>
        <p:nvSpPr>
          <p:cNvPr id="387" name="Google Shape;387;p14"/>
          <p:cNvSpPr/>
          <p:nvPr/>
        </p:nvSpPr>
        <p:spPr>
          <a:xfrm flipH="1" rot="2100837">
            <a:off x="4491336" y="214059"/>
            <a:ext cx="4155031" cy="4390727"/>
          </a:xfrm>
          <a:custGeom>
            <a:rect b="b" l="l" r="r" t="t"/>
            <a:pathLst>
              <a:path extrusionOk="0" h="8781453" w="8310061">
                <a:moveTo>
                  <a:pt x="8310061" y="0"/>
                </a:moveTo>
                <a:lnTo>
                  <a:pt x="0" y="0"/>
                </a:lnTo>
                <a:lnTo>
                  <a:pt x="0" y="8781453"/>
                </a:lnTo>
                <a:lnTo>
                  <a:pt x="8310061" y="8781453"/>
                </a:lnTo>
                <a:lnTo>
                  <a:pt x="8310061" y="0"/>
                </a:lnTo>
                <a:close/>
              </a:path>
            </a:pathLst>
          </a:custGeom>
          <a:blipFill rotWithShape="1">
            <a:blip r:embed="rId3">
              <a:alphaModFix/>
            </a:blip>
            <a:stretch>
              <a:fillRect b="-1865" l="0" r="-378"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8" name="Google Shape;388;p14"/>
          <p:cNvSpPr txBox="1"/>
          <p:nvPr/>
        </p:nvSpPr>
        <p:spPr>
          <a:xfrm>
            <a:off x="464333" y="1606763"/>
            <a:ext cx="5705739" cy="110178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7300"/>
              <a:buFont typeface="Arial"/>
              <a:buNone/>
            </a:pPr>
            <a:r>
              <a:rPr b="1" i="0" lang="en-GB" sz="7300" u="none" cap="none" strike="noStrike">
                <a:solidFill>
                  <a:srgbClr val="FBF9F1"/>
                </a:solidFill>
                <a:latin typeface="Poppins"/>
                <a:ea typeface="Poppins"/>
                <a:cs typeface="Poppins"/>
                <a:sym typeface="Poppins"/>
              </a:rPr>
              <a:t>THANK YOU </a:t>
            </a:r>
            <a:endParaRPr b="0" i="0" sz="700" u="none" cap="none" strike="noStrike">
              <a:solidFill>
                <a:srgbClr val="000000"/>
              </a:solidFill>
              <a:latin typeface="Arial"/>
              <a:ea typeface="Arial"/>
              <a:cs typeface="Arial"/>
              <a:sym typeface="Arial"/>
            </a:endParaRPr>
          </a:p>
        </p:txBody>
      </p:sp>
      <p:sp>
        <p:nvSpPr>
          <p:cNvPr id="389" name="Google Shape;389;p14"/>
          <p:cNvSpPr txBox="1"/>
          <p:nvPr/>
        </p:nvSpPr>
        <p:spPr>
          <a:xfrm>
            <a:off x="464333" y="2708543"/>
            <a:ext cx="5705739" cy="41592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800"/>
              <a:buFont typeface="Arial"/>
              <a:buNone/>
            </a:pPr>
            <a:r>
              <a:rPr b="0" i="0" lang="en-GB" sz="2800" u="none" cap="none" strike="noStrike">
                <a:solidFill>
                  <a:srgbClr val="FBF9F1"/>
                </a:solidFill>
                <a:latin typeface="Poppins"/>
                <a:ea typeface="Poppins"/>
                <a:cs typeface="Poppins"/>
                <a:sym typeface="Poppins"/>
              </a:rPr>
              <a:t>for your time and attention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